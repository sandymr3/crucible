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2141C"/>
                </a:solidFill>
                <a:latin typeface="Calibri"/>
              </a:defRPr>
            </a:pPr>
            <a:r>
              <a:rPr sz="1100" b="0" i="0" u="none" strike="noStrike">
                <a:solidFill>
                  <a:srgbClr val="12141C"/>
                </a:solidFill>
                <a:latin typeface="Calibri"/>
              </a:rPr>
              <a:t>Evaluation latency by model — seconds, three warm runs</a:t>
            </a:r>
          </a:p>
        </c:rich>
      </c:tx>
      <c:layout/>
      <c:overlay val="0"/>
    </c:title>
    <c:autoTitleDeleted val="0"/>
    <c:plotArea>
      <c:layout/>
      <c:barChart>
        <c:barDir val="col"/>
        <c:grouping val="clustered"/>
        <c:varyColors val="0"/>
        <c:ser>
          <c:idx val="0"/>
          <c:order val="0"/>
          <c:tx>
            <c:strRef>
              <c:f>Sheet1!$B$1</c:f>
              <c:strCache>
                <c:ptCount val="1"/>
                <c:pt idx="0">
                  <c:v>gemini-3.5-flash</c:v>
                </c:pt>
              </c:strCache>
            </c:strRef>
          </c:tx>
          <c:spPr>
            <a:solidFill>
              <a:srgbClr val="B9BCC7"/>
            </a:solidFill>
            <a:effectLst/>
          </c:spPr>
          <c:invertIfNegative val="0"/>
          <c:dLbls>
            <c:numFmt formatCode="0.0&quot;s&quot;" sourceLinked="0"/>
            <c:txPr>
              <a:bodyPr/>
              <a:lstStyle/>
              <a:p>
                <a:pPr>
                  <a:defRPr b="0" i="0" strike="noStrike" sz="900" u="none">
                    <a:solidFill>
                      <a:srgbClr val="3A3D4D"/>
                    </a:solidFill>
                    <a:latin typeface="Consolas"/>
                  </a:defRPr>
                </a:pPr>
              </a:p>
            </c:txPr>
            <c:showLegendKey val="0"/>
            <c:showVal val="1"/>
            <c:showCatName val="0"/>
            <c:showSerName val="0"/>
            <c:showPercent val="0"/>
            <c:showBubbleSize val="0"/>
            <c:showLeaderLines val="0"/>
          </c:dLbls>
          <c:cat>
            <c:multiLvlStrRef>
              <c:f>Sheet1!$A$2:$A$4</c:f>
              <c:multiLvlStrCache>
                <c:ptCount val="3"/>
                <c:lvl>
                  <c:pt idx="0">
                    <c:v>Run 1</c:v>
                  </c:pt>
                  <c:pt idx="1">
                    <c:v>Run 2</c:v>
                  </c:pt>
                  <c:pt idx="2">
                    <c:v>Run 3</c:v>
                  </c:pt>
                </c:lvl>
              </c:multiLvlStrCache>
            </c:multiLvlStrRef>
          </c:cat>
          <c:val>
            <c:numRef>
              <c:f>Sheet1!$B$2:$B$4</c:f>
              <c:numCache>
                <c:formatCode>General</c:formatCode>
                <c:ptCount val="3"/>
                <c:pt idx="0">
                  <c:v>55</c:v>
                </c:pt>
                <c:pt idx="1">
                  <c:v>7</c:v>
                </c:pt>
                <c:pt idx="2">
                  <c:v>24</c:v>
                </c:pt>
              </c:numCache>
            </c:numRef>
          </c:val>
        </c:ser>
        <c:ser>
          <c:idx val="1"/>
          <c:order val="1"/>
          <c:tx>
            <c:strRef>
              <c:f>Sheet1!$C$1</c:f>
              <c:strCache>
                <c:ptCount val="1"/>
                <c:pt idx="0">
                  <c:v>gemini-3.6-flash</c:v>
                </c:pt>
              </c:strCache>
            </c:strRef>
          </c:tx>
          <c:spPr>
            <a:solidFill>
              <a:srgbClr val="FF6A3D"/>
            </a:solidFill>
            <a:effectLst/>
          </c:spPr>
          <c:invertIfNegative val="0"/>
          <c:dLbls>
            <c:numFmt formatCode="0.0&quot;s&quot;" sourceLinked="0"/>
            <c:txPr>
              <a:bodyPr/>
              <a:lstStyle/>
              <a:p>
                <a:pPr>
                  <a:defRPr b="0" i="0" strike="noStrike" sz="900" u="none">
                    <a:solidFill>
                      <a:srgbClr val="3A3D4D"/>
                    </a:solidFill>
                    <a:latin typeface="Consolas"/>
                  </a:defRPr>
                </a:pPr>
              </a:p>
            </c:txPr>
            <c:showLegendKey val="0"/>
            <c:showVal val="1"/>
            <c:showCatName val="0"/>
            <c:showSerName val="0"/>
            <c:showPercent val="0"/>
            <c:showBubbleSize val="0"/>
            <c:showLeaderLines val="0"/>
          </c:dLbls>
          <c:cat>
            <c:multiLvlStrRef>
              <c:f>Sheet1!$A$2:$A$4</c:f>
              <c:multiLvlStrCache>
                <c:ptCount val="3"/>
                <c:lvl>
                  <c:pt idx="0">
                    <c:v>Run 1</c:v>
                  </c:pt>
                  <c:pt idx="1">
                    <c:v>Run 2</c:v>
                  </c:pt>
                  <c:pt idx="2">
                    <c:v>Run 3</c:v>
                  </c:pt>
                </c:lvl>
              </c:multiLvlStrCache>
            </c:multiLvlStrRef>
          </c:cat>
          <c:val>
            <c:numRef>
              <c:f>Sheet1!$C$2:$C$4</c:f>
              <c:numCache>
                <c:formatCode>General</c:formatCode>
                <c:ptCount val="3"/>
                <c:pt idx="0">
                  <c:v>4.6</c:v>
                </c:pt>
                <c:pt idx="1">
                  <c:v>4.6</c:v>
                </c:pt>
                <c:pt idx="2">
                  <c:v>4.1</c:v>
                </c:pt>
              </c:numCache>
            </c:numRef>
          </c:val>
        </c:ser>
        <c:dLbls>
          <c:numFmt formatCode="0.0&quot;s&quot;" sourceLinked="0"/>
          <c:txPr>
            <a:bodyPr/>
            <a:lstStyle/>
            <a:p>
              <a:pPr>
                <a:defRPr b="0" i="0" strike="noStrike" sz="900" u="none">
                  <a:solidFill>
                    <a:srgbClr val="3A3D4D"/>
                  </a:solidFill>
                  <a:latin typeface="Consolas"/>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E7285"/>
                </a:solidFill>
                <a:latin typeface="Consolas"/>
              </a:defRPr>
            </a:pPr>
            <a:endParaRPr lang="en-US"/>
          </a:p>
        </c:txPr>
        <c:crossAx val="2094734552"/>
        <c:crosses val="autoZero"/>
        <c:auto val="1"/>
        <c:lblAlgn val="ctr"/>
        <c:noMultiLvlLbl val="1"/>
      </c:catAx>
      <c:valAx>
        <c:axId val="2094734552"/>
        <c:scaling>
          <c:orientation val="minMax"/>
          <c:max val="60"/>
        </c:scaling>
        <c:delete val="0"/>
        <c:axPos val="l"/>
        <c:majorGridlines>
          <c:spPr>
            <a:ln w="12700" cap="flat">
              <a:solidFill>
                <a:srgbClr val="E6E3D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E7285"/>
                </a:solidFill>
                <a:latin typeface="Consolas"/>
              </a:defRPr>
            </a:pPr>
            <a:endParaRPr lang="en-US"/>
          </a:p>
        </c:txPr>
        <c:crossAx val="2094734554"/>
        <c:crosses val="autoZero"/>
        <c:crossBetween val="between"/>
      </c:valAx>
      <c:spPr>
        <a:solidFill>
          <a:srgbClr val="FFFFFF"/>
        </a:solidFill>
        <a:ln w="12700" cap="flat">
          <a:solidFill>
            <a:srgbClr val="FFFFFF"/>
          </a:solidFill>
        </a:ln>
        <a:effectLst/>
      </c:spPr>
    </c:plotArea>
    <c:legend>
      <c:legendPos val="b"/>
      <c:overlay val="0"/>
      <c:txPr>
        <a:bodyPr/>
        <a:lstStyle/>
        <a:p>
          <a:pPr>
            <a:defRPr sz="900">
              <a:solidFill>
                <a:srgbClr val="3A3D4D"/>
              </a:solidFill>
              <a:latin typeface="Consolas"/>
              <a:cs typeface="Consolas"/>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Crucible. Team Pull Request.
Hook: most interview prep is a quiz with a chat window bolted on. Ours is a live spoken conversation that gets harder when you're good.
That waveform is not decoration — it's the real amplitude envelope of a 27-second recorded session from our replay fixture. The backend is deployed and answering right now at the URL bottom-right.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failures, one root cause.
Static banks can't follow up. Text boxes can't hear delivery. And a numeric score doesn't tell you WHERE you were weak.
The insight: this isn't a prompting problem, it's a systems problem — you need the answer to arrive as speech, in real time, inside a session that's still open. That's why almost nothing does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steps. Upload, choose, talk, light up, improve.
The four verdicts matter: 'unsupported' is separate from 'incorrect' on purpose. An unbacked claim is not the same as a false one, and conflating them is how a coaching tool loses trust.
Bottom row is measured, not aspirational — same résumé through three personas produced three genuinely different opening questions. Tech Lead goes at the failure mode, Architect at structure, PM opens warmly and asks about outcome.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judges through the live screen: transcript builds as you speak, then the spans light up in the four verdict colours a few seconds after you finish.
The report gives a radar across the role's domains plus a band sparkline. The roadmap is day-by-day in prerequisite order — and every link was fetched over HTTP before it was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Go binary on Cloud Run doing three jobs: REST, the WebSocket relay, and the grading worker pool.
Two things a technical judge should take away.
First, the relay is structurally mandatory. Vertex wants an OAuth2 bearer token from a service account — you cannot put that in frontend code, so every audio frame goes through us.
Second, the amber arrow. The grade for turn N is injected back into the SAME open live session before turn N+1 is asked. That is the adaptive difficulty, and it's why it's audible rather than a number on a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genuinely hard problems.
Card 2 is the one I'd highlight if asked. We shipped a 3.5-second injection deadline straight from the design doc. It looked fine. But real grading takes 5-8 seconds, so the fallback won every single race and the grader's sharp follow-up question never reached the conversation. The feature was inert and nothing was failing. We caught it by noticing the injected question length was constant instead of varying.
Card 3: an unfair red is the most damaging thing this product can do, so it's gated in Go, not hoped for in a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Honest SWOT. The weaknesses come straight out of our own checkpoint docs.
If a judge asks 'what's broken' — reconnect. A dropped socket ends the session. The session-resumption handles are already being emitted by the server, nothing consumes them yet. That's the top of the backlog.
Biggest opportunity: the Live model ships 24 languages. Regional-language interview prep in India is a large, genuinely underserved market and it's a config change, not a rebuild.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evidence.
Ten concurrent sessions with zero gaps and zero drops. Seventeen chaos checks — every failure mode degrades toward 'the interview keeps working' rather than erroring out. 125 tests. Zero false reds.
The chart is my favourite slide in the deck. We planned to use 3.5-flash because shipping a four-day-old model into a demo is a bad idea. Then we measured: 55 seconds, 7 seconds, 24 seconds. Unusable. 3.6-flash was 4.6, 4.6, 4.1. The data overrode our own plan, and we wrote that down rather than quietly changing the recommendation.
And we can quote unit economics per session, because every Vertex call is metered into a ledger.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slideLayout" Target="../slideLayouts/slideLayout1.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75488"/>
            <a:ext cx="11094415" cy="256032"/>
          </a:xfrm>
          <a:prstGeom prst="rect">
            <a:avLst/>
          </a:prstGeom>
          <a:noFill/>
          <a:ln/>
        </p:spPr>
        <p:txBody>
          <a:bodyPr wrap="square" lIns="0" tIns="0" rIns="0" bIns="0" rtlCol="0" anchor="ctr"/>
          <a:lstStyle/>
          <a:p>
            <a:pPr indent="0" marL="0">
              <a:buNone/>
            </a:pPr>
            <a:r>
              <a:rPr lang="en-US" sz="1100" b="1" spc="220" kern="0" dirty="0">
                <a:solidFill>
                  <a:srgbClr val="FF6A3D"/>
                </a:solidFill>
                <a:latin typeface="Consolas" pitchFamily="34" charset="0"/>
                <a:ea typeface="Consolas" pitchFamily="34" charset="-122"/>
                <a:cs typeface="Consolas" pitchFamily="34" charset="-120"/>
              </a:rPr>
              <a:t>INNOVAHACK  ·  GEN AI PROBLEM STATEMENT 2</a:t>
            </a:r>
            <a:endParaRPr lang="en-US" sz="1100" dirty="0"/>
          </a:p>
        </p:txBody>
      </p:sp>
      <p:sp>
        <p:nvSpPr>
          <p:cNvPr id="3" name="Text 1"/>
          <p:cNvSpPr/>
          <p:nvPr/>
        </p:nvSpPr>
        <p:spPr>
          <a:xfrm>
            <a:off x="548640" y="960120"/>
            <a:ext cx="11094415" cy="1051560"/>
          </a:xfrm>
          <a:prstGeom prst="rect">
            <a:avLst/>
          </a:prstGeom>
          <a:noFill/>
          <a:ln/>
        </p:spPr>
        <p:txBody>
          <a:bodyPr wrap="square" lIns="0" tIns="0" rIns="0" bIns="0" rtlCol="0" anchor="ctr"/>
          <a:lstStyle/>
          <a:p>
            <a:pPr indent="0" marL="0">
              <a:buNone/>
            </a:pPr>
            <a:r>
              <a:rPr lang="en-US" sz="6800" b="1" spc="-150" kern="0" dirty="0">
                <a:solidFill>
                  <a:srgbClr val="12141C"/>
                </a:solidFill>
                <a:latin typeface="Arial" pitchFamily="34" charset="0"/>
                <a:ea typeface="Arial" pitchFamily="34" charset="-122"/>
                <a:cs typeface="Arial" pitchFamily="34" charset="-120"/>
              </a:rPr>
              <a:t>CRUCIBLE</a:t>
            </a:r>
            <a:endParaRPr lang="en-US" sz="6800" dirty="0"/>
          </a:p>
        </p:txBody>
      </p:sp>
      <p:sp>
        <p:nvSpPr>
          <p:cNvPr id="4" name="Text 2"/>
          <p:cNvSpPr/>
          <p:nvPr/>
        </p:nvSpPr>
        <p:spPr>
          <a:xfrm>
            <a:off x="548640" y="2048256"/>
            <a:ext cx="9509760" cy="365760"/>
          </a:xfrm>
          <a:prstGeom prst="rect">
            <a:avLst/>
          </a:prstGeom>
          <a:noFill/>
          <a:ln/>
        </p:spPr>
        <p:txBody>
          <a:bodyPr wrap="square" lIns="0" tIns="0" rIns="0" bIns="0" rtlCol="0" anchor="ctr"/>
          <a:lstStyle/>
          <a:p>
            <a:pPr indent="0" marL="0">
              <a:buNone/>
            </a:pPr>
            <a:r>
              <a:rPr lang="en-US" sz="1700" dirty="0">
                <a:solidFill>
                  <a:srgbClr val="3A3D4D"/>
                </a:solidFill>
                <a:latin typeface="Calibri" pitchFamily="34" charset="0"/>
                <a:ea typeface="Calibri" pitchFamily="34" charset="-122"/>
                <a:cs typeface="Calibri" pitchFamily="34" charset="-120"/>
              </a:rPr>
              <a:t>An adaptive, voice-native AI interview coach — built entirely on Vertex AI.</a:t>
            </a:r>
            <a:endParaRPr lang="en-US" sz="1700" dirty="0"/>
          </a:p>
        </p:txBody>
      </p:sp>
      <p:sp>
        <p:nvSpPr>
          <p:cNvPr id="5" name="Text 3"/>
          <p:cNvSpPr/>
          <p:nvPr/>
        </p:nvSpPr>
        <p:spPr>
          <a:xfrm>
            <a:off x="548640" y="2697480"/>
            <a:ext cx="8778240" cy="868680"/>
          </a:xfrm>
          <a:prstGeom prst="rect">
            <a:avLst/>
          </a:prstGeom>
          <a:noFill/>
          <a:ln/>
        </p:spPr>
        <p:txBody>
          <a:bodyPr wrap="square" lIns="0" tIns="0" rIns="0" bIns="0" rtlCol="0" anchor="ctr"/>
          <a:lstStyle/>
          <a:p>
            <a:pPr indent="0" marL="0">
              <a:lnSpc>
                <a:spcPct val="118000"/>
              </a:lnSpc>
              <a:buNone/>
            </a:pPr>
            <a:r>
              <a:rPr lang="en-US" sz="1900" b="1" i="1" spc="-30" kern="0" dirty="0">
                <a:solidFill>
                  <a:srgbClr val="6E7285"/>
                </a:solidFill>
                <a:latin typeface="Arial" pitchFamily="34" charset="0"/>
                <a:ea typeface="Arial" pitchFamily="34" charset="-122"/>
                <a:cs typeface="Arial" pitchFamily="34" charset="-120"/>
              </a:rPr>
              <a:t>Most interview prep is a quiz with a chat window bolted on.
</a:t>
            </a:r>
            <a:pPr indent="0" marL="0">
              <a:lnSpc>
                <a:spcPct val="118000"/>
              </a:lnSpc>
              <a:buNone/>
            </a:pPr>
            <a:r>
              <a:rPr lang="en-US" sz="1900" b="1" i="1" spc="-30" kern="0" dirty="0">
                <a:solidFill>
                  <a:srgbClr val="FF6A3D"/>
                </a:solidFill>
                <a:latin typeface="Arial" pitchFamily="34" charset="0"/>
                <a:ea typeface="Arial" pitchFamily="34" charset="-122"/>
                <a:cs typeface="Arial" pitchFamily="34" charset="-120"/>
              </a:rPr>
              <a:t>Crucible is a conversation that gets harder when you're good.</a:t>
            </a:r>
            <a:endParaRPr lang="en-US" sz="1900" dirty="0"/>
          </a:p>
        </p:txBody>
      </p:sp>
      <p:sp>
        <p:nvSpPr>
          <p:cNvPr id="6" name="Shape 4"/>
          <p:cNvSpPr/>
          <p:nvPr/>
        </p:nvSpPr>
        <p:spPr>
          <a:xfrm>
            <a:off x="580999" y="4597786"/>
            <a:ext cx="89372" cy="906902"/>
          </a:xfrm>
          <a:prstGeom prst="roundRect">
            <a:avLst>
              <a:gd name="adj" fmla="val 20463"/>
            </a:avLst>
          </a:prstGeom>
          <a:solidFill>
            <a:srgbClr val="E85A2A"/>
          </a:solidFill>
          <a:ln/>
        </p:spPr>
      </p:sp>
      <p:sp>
        <p:nvSpPr>
          <p:cNvPr id="7" name="Shape 5"/>
          <p:cNvSpPr/>
          <p:nvPr/>
        </p:nvSpPr>
        <p:spPr>
          <a:xfrm>
            <a:off x="735088" y="5024719"/>
            <a:ext cx="89372" cy="479969"/>
          </a:xfrm>
          <a:prstGeom prst="roundRect">
            <a:avLst>
              <a:gd name="adj" fmla="val 20463"/>
            </a:avLst>
          </a:prstGeom>
          <a:solidFill>
            <a:srgbClr val="E85B2B"/>
          </a:solidFill>
          <a:ln/>
        </p:spPr>
      </p:sp>
      <p:sp>
        <p:nvSpPr>
          <p:cNvPr id="8" name="Shape 6"/>
          <p:cNvSpPr/>
          <p:nvPr/>
        </p:nvSpPr>
        <p:spPr>
          <a:xfrm>
            <a:off x="889177" y="4791365"/>
            <a:ext cx="89372" cy="713323"/>
          </a:xfrm>
          <a:prstGeom prst="roundRect">
            <a:avLst>
              <a:gd name="adj" fmla="val 20463"/>
            </a:avLst>
          </a:prstGeom>
          <a:solidFill>
            <a:srgbClr val="E95C2C"/>
          </a:solidFill>
          <a:ln/>
        </p:spPr>
      </p:sp>
      <p:sp>
        <p:nvSpPr>
          <p:cNvPr id="9" name="Shape 7"/>
          <p:cNvSpPr/>
          <p:nvPr/>
        </p:nvSpPr>
        <p:spPr>
          <a:xfrm>
            <a:off x="1043266" y="4499671"/>
            <a:ext cx="89372" cy="1005017"/>
          </a:xfrm>
          <a:prstGeom prst="roundRect">
            <a:avLst>
              <a:gd name="adj" fmla="val 20463"/>
            </a:avLst>
          </a:prstGeom>
          <a:solidFill>
            <a:srgbClr val="E95D2D"/>
          </a:solidFill>
          <a:ln/>
        </p:spPr>
      </p:sp>
      <p:sp>
        <p:nvSpPr>
          <p:cNvPr id="10" name="Shape 8"/>
          <p:cNvSpPr/>
          <p:nvPr/>
        </p:nvSpPr>
        <p:spPr>
          <a:xfrm>
            <a:off x="1197355" y="5027371"/>
            <a:ext cx="89372" cy="477317"/>
          </a:xfrm>
          <a:prstGeom prst="roundRect">
            <a:avLst>
              <a:gd name="adj" fmla="val 20463"/>
            </a:avLst>
          </a:prstGeom>
          <a:solidFill>
            <a:srgbClr val="E95E2D"/>
          </a:solidFill>
          <a:ln/>
        </p:spPr>
      </p:sp>
      <p:sp>
        <p:nvSpPr>
          <p:cNvPr id="11" name="Shape 9"/>
          <p:cNvSpPr/>
          <p:nvPr/>
        </p:nvSpPr>
        <p:spPr>
          <a:xfrm>
            <a:off x="1351444" y="4988921"/>
            <a:ext cx="89372" cy="515767"/>
          </a:xfrm>
          <a:prstGeom prst="roundRect">
            <a:avLst>
              <a:gd name="adj" fmla="val 20463"/>
            </a:avLst>
          </a:prstGeom>
          <a:solidFill>
            <a:srgbClr val="EA5F2E"/>
          </a:solidFill>
          <a:ln/>
        </p:spPr>
      </p:sp>
      <p:sp>
        <p:nvSpPr>
          <p:cNvPr id="12" name="Shape 10"/>
          <p:cNvSpPr/>
          <p:nvPr/>
        </p:nvSpPr>
        <p:spPr>
          <a:xfrm>
            <a:off x="1505533" y="5007483"/>
            <a:ext cx="89372" cy="497205"/>
          </a:xfrm>
          <a:prstGeom prst="roundRect">
            <a:avLst>
              <a:gd name="adj" fmla="val 20463"/>
            </a:avLst>
          </a:prstGeom>
          <a:solidFill>
            <a:srgbClr val="EA612F"/>
          </a:solidFill>
          <a:ln/>
        </p:spPr>
      </p:sp>
      <p:sp>
        <p:nvSpPr>
          <p:cNvPr id="13" name="Shape 11"/>
          <p:cNvSpPr/>
          <p:nvPr/>
        </p:nvSpPr>
        <p:spPr>
          <a:xfrm>
            <a:off x="1659622" y="4967707"/>
            <a:ext cx="89372" cy="536981"/>
          </a:xfrm>
          <a:prstGeom prst="roundRect">
            <a:avLst>
              <a:gd name="adj" fmla="val 20463"/>
            </a:avLst>
          </a:prstGeom>
          <a:solidFill>
            <a:srgbClr val="EA6230"/>
          </a:solidFill>
          <a:ln/>
        </p:spPr>
      </p:sp>
      <p:sp>
        <p:nvSpPr>
          <p:cNvPr id="14" name="Shape 12"/>
          <p:cNvSpPr/>
          <p:nvPr/>
        </p:nvSpPr>
        <p:spPr>
          <a:xfrm>
            <a:off x="1813712" y="4933234"/>
            <a:ext cx="89372" cy="571454"/>
          </a:xfrm>
          <a:prstGeom prst="roundRect">
            <a:avLst>
              <a:gd name="adj" fmla="val 20463"/>
            </a:avLst>
          </a:prstGeom>
          <a:solidFill>
            <a:srgbClr val="EB6331"/>
          </a:solidFill>
          <a:ln/>
        </p:spPr>
      </p:sp>
      <p:sp>
        <p:nvSpPr>
          <p:cNvPr id="15" name="Shape 13"/>
          <p:cNvSpPr/>
          <p:nvPr/>
        </p:nvSpPr>
        <p:spPr>
          <a:xfrm>
            <a:off x="1967801" y="5108250"/>
            <a:ext cx="89372" cy="396438"/>
          </a:xfrm>
          <a:prstGeom prst="roundRect">
            <a:avLst>
              <a:gd name="adj" fmla="val 20463"/>
            </a:avLst>
          </a:prstGeom>
          <a:solidFill>
            <a:srgbClr val="EB6432"/>
          </a:solidFill>
          <a:ln/>
        </p:spPr>
      </p:sp>
      <p:sp>
        <p:nvSpPr>
          <p:cNvPr id="16" name="Shape 14"/>
          <p:cNvSpPr/>
          <p:nvPr/>
        </p:nvSpPr>
        <p:spPr>
          <a:xfrm>
            <a:off x="2121890" y="5065822"/>
            <a:ext cx="89372" cy="438866"/>
          </a:xfrm>
          <a:prstGeom prst="roundRect">
            <a:avLst>
              <a:gd name="adj" fmla="val 20463"/>
            </a:avLst>
          </a:prstGeom>
          <a:solidFill>
            <a:srgbClr val="EB6533"/>
          </a:solidFill>
          <a:ln/>
        </p:spPr>
      </p:sp>
      <p:sp>
        <p:nvSpPr>
          <p:cNvPr id="17" name="Shape 15"/>
          <p:cNvSpPr/>
          <p:nvPr/>
        </p:nvSpPr>
        <p:spPr>
          <a:xfrm>
            <a:off x="2275979" y="5052563"/>
            <a:ext cx="89372" cy="452125"/>
          </a:xfrm>
          <a:prstGeom prst="roundRect">
            <a:avLst>
              <a:gd name="adj" fmla="val 20463"/>
            </a:avLst>
          </a:prstGeom>
          <a:solidFill>
            <a:srgbClr val="EC6633"/>
          </a:solidFill>
          <a:ln/>
        </p:spPr>
      </p:sp>
      <p:sp>
        <p:nvSpPr>
          <p:cNvPr id="18" name="Shape 16"/>
          <p:cNvSpPr/>
          <p:nvPr/>
        </p:nvSpPr>
        <p:spPr>
          <a:xfrm>
            <a:off x="2430068" y="5449001"/>
            <a:ext cx="89372" cy="55687"/>
          </a:xfrm>
          <a:prstGeom prst="roundRect">
            <a:avLst>
              <a:gd name="adj" fmla="val 32841"/>
            </a:avLst>
          </a:prstGeom>
          <a:solidFill>
            <a:srgbClr val="EC6734"/>
          </a:solidFill>
          <a:ln/>
        </p:spPr>
      </p:sp>
      <p:sp>
        <p:nvSpPr>
          <p:cNvPr id="19" name="Shape 17"/>
          <p:cNvSpPr/>
          <p:nvPr/>
        </p:nvSpPr>
        <p:spPr>
          <a:xfrm>
            <a:off x="2584157" y="5068473"/>
            <a:ext cx="89372" cy="436215"/>
          </a:xfrm>
          <a:prstGeom prst="roundRect">
            <a:avLst>
              <a:gd name="adj" fmla="val 20463"/>
            </a:avLst>
          </a:prstGeom>
          <a:solidFill>
            <a:srgbClr val="EC6835"/>
          </a:solidFill>
          <a:ln/>
        </p:spPr>
      </p:sp>
      <p:sp>
        <p:nvSpPr>
          <p:cNvPr id="20" name="Shape 18"/>
          <p:cNvSpPr/>
          <p:nvPr/>
        </p:nvSpPr>
        <p:spPr>
          <a:xfrm>
            <a:off x="2738246" y="4934560"/>
            <a:ext cx="89372" cy="570128"/>
          </a:xfrm>
          <a:prstGeom prst="roundRect">
            <a:avLst>
              <a:gd name="adj" fmla="val 20463"/>
            </a:avLst>
          </a:prstGeom>
          <a:solidFill>
            <a:srgbClr val="ED6936"/>
          </a:solidFill>
          <a:ln/>
        </p:spPr>
      </p:sp>
      <p:sp>
        <p:nvSpPr>
          <p:cNvPr id="21" name="Shape 19"/>
          <p:cNvSpPr/>
          <p:nvPr/>
        </p:nvSpPr>
        <p:spPr>
          <a:xfrm>
            <a:off x="2892335" y="4987595"/>
            <a:ext cx="89372" cy="517093"/>
          </a:xfrm>
          <a:prstGeom prst="roundRect">
            <a:avLst>
              <a:gd name="adj" fmla="val 20463"/>
            </a:avLst>
          </a:prstGeom>
          <a:solidFill>
            <a:srgbClr val="ED6A37"/>
          </a:solidFill>
          <a:ln/>
        </p:spPr>
      </p:sp>
      <p:sp>
        <p:nvSpPr>
          <p:cNvPr id="22" name="Shape 20"/>
          <p:cNvSpPr/>
          <p:nvPr/>
        </p:nvSpPr>
        <p:spPr>
          <a:xfrm>
            <a:off x="3046424" y="5112228"/>
            <a:ext cx="89372" cy="392460"/>
          </a:xfrm>
          <a:prstGeom prst="roundRect">
            <a:avLst>
              <a:gd name="adj" fmla="val 20463"/>
            </a:avLst>
          </a:prstGeom>
          <a:solidFill>
            <a:srgbClr val="ED6C38"/>
          </a:solidFill>
          <a:ln/>
        </p:spPr>
      </p:sp>
      <p:sp>
        <p:nvSpPr>
          <p:cNvPr id="23" name="Shape 21"/>
          <p:cNvSpPr/>
          <p:nvPr/>
        </p:nvSpPr>
        <p:spPr>
          <a:xfrm>
            <a:off x="3200513" y="5106924"/>
            <a:ext cx="89372" cy="397764"/>
          </a:xfrm>
          <a:prstGeom prst="roundRect">
            <a:avLst>
              <a:gd name="adj" fmla="val 20463"/>
            </a:avLst>
          </a:prstGeom>
          <a:solidFill>
            <a:srgbClr val="EE6D39"/>
          </a:solidFill>
          <a:ln/>
        </p:spPr>
      </p:sp>
      <p:sp>
        <p:nvSpPr>
          <p:cNvPr id="24" name="Shape 22"/>
          <p:cNvSpPr/>
          <p:nvPr/>
        </p:nvSpPr>
        <p:spPr>
          <a:xfrm>
            <a:off x="3354603" y="5043282"/>
            <a:ext cx="89372" cy="461406"/>
          </a:xfrm>
          <a:prstGeom prst="roundRect">
            <a:avLst>
              <a:gd name="adj" fmla="val 20463"/>
            </a:avLst>
          </a:prstGeom>
          <a:solidFill>
            <a:srgbClr val="EE6E39"/>
          </a:solidFill>
          <a:ln/>
        </p:spPr>
      </p:sp>
      <p:sp>
        <p:nvSpPr>
          <p:cNvPr id="25" name="Shape 23"/>
          <p:cNvSpPr/>
          <p:nvPr/>
        </p:nvSpPr>
        <p:spPr>
          <a:xfrm>
            <a:off x="3508692" y="5158633"/>
            <a:ext cx="89372" cy="346055"/>
          </a:xfrm>
          <a:prstGeom prst="roundRect">
            <a:avLst>
              <a:gd name="adj" fmla="val 20463"/>
            </a:avLst>
          </a:prstGeom>
          <a:solidFill>
            <a:srgbClr val="EE6F3A"/>
          </a:solidFill>
          <a:ln/>
        </p:spPr>
      </p:sp>
      <p:sp>
        <p:nvSpPr>
          <p:cNvPr id="26" name="Shape 24"/>
          <p:cNvSpPr/>
          <p:nvPr/>
        </p:nvSpPr>
        <p:spPr>
          <a:xfrm>
            <a:off x="3662781" y="5152004"/>
            <a:ext cx="89372" cy="352684"/>
          </a:xfrm>
          <a:prstGeom prst="roundRect">
            <a:avLst>
              <a:gd name="adj" fmla="val 20463"/>
            </a:avLst>
          </a:prstGeom>
          <a:solidFill>
            <a:srgbClr val="EE703B"/>
          </a:solidFill>
          <a:ln/>
        </p:spPr>
      </p:sp>
      <p:sp>
        <p:nvSpPr>
          <p:cNvPr id="27" name="Shape 25"/>
          <p:cNvSpPr/>
          <p:nvPr/>
        </p:nvSpPr>
        <p:spPr>
          <a:xfrm>
            <a:off x="3816870" y="5399943"/>
            <a:ext cx="89372" cy="104745"/>
          </a:xfrm>
          <a:prstGeom prst="roundRect">
            <a:avLst>
              <a:gd name="adj" fmla="val 20463"/>
            </a:avLst>
          </a:prstGeom>
          <a:solidFill>
            <a:srgbClr val="EF713C"/>
          </a:solidFill>
          <a:ln/>
        </p:spPr>
      </p:sp>
      <p:sp>
        <p:nvSpPr>
          <p:cNvPr id="28" name="Shape 26"/>
          <p:cNvSpPr/>
          <p:nvPr/>
        </p:nvSpPr>
        <p:spPr>
          <a:xfrm>
            <a:off x="3970959" y="5255423"/>
            <a:ext cx="89372" cy="249265"/>
          </a:xfrm>
          <a:prstGeom prst="roundRect">
            <a:avLst>
              <a:gd name="adj" fmla="val 20463"/>
            </a:avLst>
          </a:prstGeom>
          <a:solidFill>
            <a:srgbClr val="EF723D"/>
          </a:solidFill>
          <a:ln/>
        </p:spPr>
      </p:sp>
      <p:sp>
        <p:nvSpPr>
          <p:cNvPr id="29" name="Shape 27"/>
          <p:cNvSpPr/>
          <p:nvPr/>
        </p:nvSpPr>
        <p:spPr>
          <a:xfrm>
            <a:off x="4125048" y="4560661"/>
            <a:ext cx="89372" cy="944027"/>
          </a:xfrm>
          <a:prstGeom prst="roundRect">
            <a:avLst>
              <a:gd name="adj" fmla="val 20463"/>
            </a:avLst>
          </a:prstGeom>
          <a:solidFill>
            <a:srgbClr val="EF733E"/>
          </a:solidFill>
          <a:ln/>
        </p:spPr>
      </p:sp>
      <p:sp>
        <p:nvSpPr>
          <p:cNvPr id="30" name="Shape 28"/>
          <p:cNvSpPr/>
          <p:nvPr/>
        </p:nvSpPr>
        <p:spPr>
          <a:xfrm>
            <a:off x="4279137" y="5150678"/>
            <a:ext cx="89372" cy="354010"/>
          </a:xfrm>
          <a:prstGeom prst="roundRect">
            <a:avLst>
              <a:gd name="adj" fmla="val 20463"/>
            </a:avLst>
          </a:prstGeom>
          <a:solidFill>
            <a:srgbClr val="F0743F"/>
          </a:solidFill>
          <a:ln/>
        </p:spPr>
      </p:sp>
      <p:sp>
        <p:nvSpPr>
          <p:cNvPr id="31" name="Shape 29"/>
          <p:cNvSpPr/>
          <p:nvPr/>
        </p:nvSpPr>
        <p:spPr>
          <a:xfrm>
            <a:off x="4433226" y="4828489"/>
            <a:ext cx="89372" cy="676199"/>
          </a:xfrm>
          <a:prstGeom prst="roundRect">
            <a:avLst>
              <a:gd name="adj" fmla="val 20463"/>
            </a:avLst>
          </a:prstGeom>
          <a:solidFill>
            <a:srgbClr val="F0753F"/>
          </a:solidFill>
          <a:ln/>
        </p:spPr>
      </p:sp>
      <p:sp>
        <p:nvSpPr>
          <p:cNvPr id="32" name="Shape 30"/>
          <p:cNvSpPr/>
          <p:nvPr/>
        </p:nvSpPr>
        <p:spPr>
          <a:xfrm>
            <a:off x="4587315" y="4178808"/>
            <a:ext cx="89372" cy="1325880"/>
          </a:xfrm>
          <a:prstGeom prst="roundRect">
            <a:avLst>
              <a:gd name="adj" fmla="val 20463"/>
            </a:avLst>
          </a:prstGeom>
          <a:solidFill>
            <a:srgbClr val="F07740"/>
          </a:solidFill>
          <a:ln/>
        </p:spPr>
      </p:sp>
      <p:sp>
        <p:nvSpPr>
          <p:cNvPr id="33" name="Shape 31"/>
          <p:cNvSpPr/>
          <p:nvPr/>
        </p:nvSpPr>
        <p:spPr>
          <a:xfrm>
            <a:off x="4741404" y="4727722"/>
            <a:ext cx="89372" cy="776966"/>
          </a:xfrm>
          <a:prstGeom prst="roundRect">
            <a:avLst>
              <a:gd name="adj" fmla="val 20463"/>
            </a:avLst>
          </a:prstGeom>
          <a:solidFill>
            <a:srgbClr val="F17841"/>
          </a:solidFill>
          <a:ln/>
        </p:spPr>
      </p:sp>
      <p:sp>
        <p:nvSpPr>
          <p:cNvPr id="34" name="Shape 32"/>
          <p:cNvSpPr/>
          <p:nvPr/>
        </p:nvSpPr>
        <p:spPr>
          <a:xfrm>
            <a:off x="4895494" y="4514256"/>
            <a:ext cx="89372" cy="990432"/>
          </a:xfrm>
          <a:prstGeom prst="roundRect">
            <a:avLst>
              <a:gd name="adj" fmla="val 20463"/>
            </a:avLst>
          </a:prstGeom>
          <a:solidFill>
            <a:srgbClr val="F17942"/>
          </a:solidFill>
          <a:ln/>
        </p:spPr>
      </p:sp>
      <p:sp>
        <p:nvSpPr>
          <p:cNvPr id="35" name="Shape 33"/>
          <p:cNvSpPr/>
          <p:nvPr/>
        </p:nvSpPr>
        <p:spPr>
          <a:xfrm>
            <a:off x="5049583" y="4734352"/>
            <a:ext cx="89372" cy="770336"/>
          </a:xfrm>
          <a:prstGeom prst="roundRect">
            <a:avLst>
              <a:gd name="adj" fmla="val 20463"/>
            </a:avLst>
          </a:prstGeom>
          <a:solidFill>
            <a:srgbClr val="F17A43"/>
          </a:solidFill>
          <a:ln/>
        </p:spPr>
      </p:sp>
      <p:sp>
        <p:nvSpPr>
          <p:cNvPr id="36" name="Shape 34"/>
          <p:cNvSpPr/>
          <p:nvPr/>
        </p:nvSpPr>
        <p:spPr>
          <a:xfrm>
            <a:off x="5203672" y="4881524"/>
            <a:ext cx="89372" cy="623164"/>
          </a:xfrm>
          <a:prstGeom prst="roundRect">
            <a:avLst>
              <a:gd name="adj" fmla="val 20463"/>
            </a:avLst>
          </a:prstGeom>
          <a:solidFill>
            <a:srgbClr val="F27B44"/>
          </a:solidFill>
          <a:ln/>
        </p:spPr>
      </p:sp>
      <p:sp>
        <p:nvSpPr>
          <p:cNvPr id="37" name="Shape 35"/>
          <p:cNvSpPr/>
          <p:nvPr/>
        </p:nvSpPr>
        <p:spPr>
          <a:xfrm>
            <a:off x="5357761" y="4535470"/>
            <a:ext cx="89372" cy="969218"/>
          </a:xfrm>
          <a:prstGeom prst="roundRect">
            <a:avLst>
              <a:gd name="adj" fmla="val 20463"/>
            </a:avLst>
          </a:prstGeom>
          <a:solidFill>
            <a:srgbClr val="F27C45"/>
          </a:solidFill>
          <a:ln/>
        </p:spPr>
      </p:sp>
      <p:sp>
        <p:nvSpPr>
          <p:cNvPr id="38" name="Shape 36"/>
          <p:cNvSpPr/>
          <p:nvPr/>
        </p:nvSpPr>
        <p:spPr>
          <a:xfrm>
            <a:off x="5511850" y="4824512"/>
            <a:ext cx="89372" cy="680176"/>
          </a:xfrm>
          <a:prstGeom prst="roundRect">
            <a:avLst>
              <a:gd name="adj" fmla="val 20463"/>
            </a:avLst>
          </a:prstGeom>
          <a:solidFill>
            <a:srgbClr val="F27D45"/>
          </a:solidFill>
          <a:ln/>
        </p:spPr>
      </p:sp>
      <p:sp>
        <p:nvSpPr>
          <p:cNvPr id="39" name="Shape 37"/>
          <p:cNvSpPr/>
          <p:nvPr/>
        </p:nvSpPr>
        <p:spPr>
          <a:xfrm>
            <a:off x="5665939" y="4782083"/>
            <a:ext cx="89372" cy="722605"/>
          </a:xfrm>
          <a:prstGeom prst="roundRect">
            <a:avLst>
              <a:gd name="adj" fmla="val 20463"/>
            </a:avLst>
          </a:prstGeom>
          <a:solidFill>
            <a:srgbClr val="F37E46"/>
          </a:solidFill>
          <a:ln/>
        </p:spPr>
      </p:sp>
      <p:sp>
        <p:nvSpPr>
          <p:cNvPr id="40" name="Shape 38"/>
          <p:cNvSpPr/>
          <p:nvPr/>
        </p:nvSpPr>
        <p:spPr>
          <a:xfrm>
            <a:off x="5820028" y="4874895"/>
            <a:ext cx="89372" cy="629793"/>
          </a:xfrm>
          <a:prstGeom prst="roundRect">
            <a:avLst>
              <a:gd name="adj" fmla="val 20463"/>
            </a:avLst>
          </a:prstGeom>
          <a:solidFill>
            <a:srgbClr val="F37F47"/>
          </a:solidFill>
          <a:ln/>
        </p:spPr>
      </p:sp>
      <p:sp>
        <p:nvSpPr>
          <p:cNvPr id="41" name="Shape 39"/>
          <p:cNvSpPr/>
          <p:nvPr/>
        </p:nvSpPr>
        <p:spPr>
          <a:xfrm>
            <a:off x="5974117" y="4701205"/>
            <a:ext cx="89372" cy="803483"/>
          </a:xfrm>
          <a:prstGeom prst="roundRect">
            <a:avLst>
              <a:gd name="adj" fmla="val 20463"/>
            </a:avLst>
          </a:prstGeom>
          <a:solidFill>
            <a:srgbClr val="F38048"/>
          </a:solidFill>
          <a:ln/>
        </p:spPr>
      </p:sp>
      <p:sp>
        <p:nvSpPr>
          <p:cNvPr id="42" name="Shape 40"/>
          <p:cNvSpPr/>
          <p:nvPr/>
        </p:nvSpPr>
        <p:spPr>
          <a:xfrm>
            <a:off x="6128206" y="4983617"/>
            <a:ext cx="89372" cy="521071"/>
          </a:xfrm>
          <a:prstGeom prst="roundRect">
            <a:avLst>
              <a:gd name="adj" fmla="val 20463"/>
            </a:avLst>
          </a:prstGeom>
          <a:solidFill>
            <a:srgbClr val="F48249"/>
          </a:solidFill>
          <a:ln/>
        </p:spPr>
      </p:sp>
      <p:sp>
        <p:nvSpPr>
          <p:cNvPr id="43" name="Shape 41"/>
          <p:cNvSpPr/>
          <p:nvPr/>
        </p:nvSpPr>
        <p:spPr>
          <a:xfrm>
            <a:off x="6282295" y="5068473"/>
            <a:ext cx="89372" cy="436215"/>
          </a:xfrm>
          <a:prstGeom prst="roundRect">
            <a:avLst>
              <a:gd name="adj" fmla="val 20463"/>
            </a:avLst>
          </a:prstGeom>
          <a:solidFill>
            <a:srgbClr val="F4834A"/>
          </a:solidFill>
          <a:ln/>
        </p:spPr>
      </p:sp>
      <p:sp>
        <p:nvSpPr>
          <p:cNvPr id="44" name="Shape 42"/>
          <p:cNvSpPr/>
          <p:nvPr/>
        </p:nvSpPr>
        <p:spPr>
          <a:xfrm>
            <a:off x="6436385" y="5463540"/>
            <a:ext cx="89372" cy="41148"/>
          </a:xfrm>
          <a:prstGeom prst="roundRect">
            <a:avLst>
              <a:gd name="adj" fmla="val 44444"/>
            </a:avLst>
          </a:prstGeom>
          <a:solidFill>
            <a:srgbClr val="F4844B"/>
          </a:solidFill>
          <a:ln/>
        </p:spPr>
      </p:sp>
      <p:sp>
        <p:nvSpPr>
          <p:cNvPr id="45" name="Shape 43"/>
          <p:cNvSpPr/>
          <p:nvPr/>
        </p:nvSpPr>
        <p:spPr>
          <a:xfrm>
            <a:off x="6590474" y="4727722"/>
            <a:ext cx="89372" cy="776966"/>
          </a:xfrm>
          <a:prstGeom prst="roundRect">
            <a:avLst>
              <a:gd name="adj" fmla="val 20463"/>
            </a:avLst>
          </a:prstGeom>
          <a:solidFill>
            <a:srgbClr val="F5854C"/>
          </a:solidFill>
          <a:ln/>
        </p:spPr>
      </p:sp>
      <p:sp>
        <p:nvSpPr>
          <p:cNvPr id="46" name="Shape 44"/>
          <p:cNvSpPr/>
          <p:nvPr/>
        </p:nvSpPr>
        <p:spPr>
          <a:xfrm>
            <a:off x="6744563" y="4821860"/>
            <a:ext cx="89372" cy="682828"/>
          </a:xfrm>
          <a:prstGeom prst="roundRect">
            <a:avLst>
              <a:gd name="adj" fmla="val 20463"/>
            </a:avLst>
          </a:prstGeom>
          <a:solidFill>
            <a:srgbClr val="F5864C"/>
          </a:solidFill>
          <a:ln/>
        </p:spPr>
      </p:sp>
      <p:sp>
        <p:nvSpPr>
          <p:cNvPr id="47" name="Shape 45"/>
          <p:cNvSpPr/>
          <p:nvPr/>
        </p:nvSpPr>
        <p:spPr>
          <a:xfrm>
            <a:off x="6898652" y="4752914"/>
            <a:ext cx="89372" cy="751774"/>
          </a:xfrm>
          <a:prstGeom prst="roundRect">
            <a:avLst>
              <a:gd name="adj" fmla="val 20463"/>
            </a:avLst>
          </a:prstGeom>
          <a:solidFill>
            <a:srgbClr val="F5874D"/>
          </a:solidFill>
          <a:ln/>
        </p:spPr>
      </p:sp>
      <p:sp>
        <p:nvSpPr>
          <p:cNvPr id="48" name="Shape 46"/>
          <p:cNvSpPr/>
          <p:nvPr/>
        </p:nvSpPr>
        <p:spPr>
          <a:xfrm>
            <a:off x="7052741" y="4831141"/>
            <a:ext cx="89372" cy="673547"/>
          </a:xfrm>
          <a:prstGeom prst="roundRect">
            <a:avLst>
              <a:gd name="adj" fmla="val 20463"/>
            </a:avLst>
          </a:prstGeom>
          <a:solidFill>
            <a:srgbClr val="F6884E"/>
          </a:solidFill>
          <a:ln/>
        </p:spPr>
      </p:sp>
      <p:sp>
        <p:nvSpPr>
          <p:cNvPr id="49" name="Shape 47"/>
          <p:cNvSpPr/>
          <p:nvPr/>
        </p:nvSpPr>
        <p:spPr>
          <a:xfrm>
            <a:off x="7206830" y="4894783"/>
            <a:ext cx="89372" cy="609905"/>
          </a:xfrm>
          <a:prstGeom prst="roundRect">
            <a:avLst>
              <a:gd name="adj" fmla="val 20463"/>
            </a:avLst>
          </a:prstGeom>
          <a:solidFill>
            <a:srgbClr val="F6894F"/>
          </a:solidFill>
          <a:ln/>
        </p:spPr>
      </p:sp>
      <p:sp>
        <p:nvSpPr>
          <p:cNvPr id="50" name="Shape 48"/>
          <p:cNvSpPr/>
          <p:nvPr/>
        </p:nvSpPr>
        <p:spPr>
          <a:xfrm>
            <a:off x="7360919" y="5020742"/>
            <a:ext cx="89372" cy="483946"/>
          </a:xfrm>
          <a:prstGeom prst="roundRect">
            <a:avLst>
              <a:gd name="adj" fmla="val 20463"/>
            </a:avLst>
          </a:prstGeom>
          <a:solidFill>
            <a:srgbClr val="F68A50"/>
          </a:solidFill>
          <a:ln/>
        </p:spPr>
      </p:sp>
      <p:sp>
        <p:nvSpPr>
          <p:cNvPr id="51" name="Shape 49"/>
          <p:cNvSpPr/>
          <p:nvPr/>
        </p:nvSpPr>
        <p:spPr>
          <a:xfrm>
            <a:off x="7515008" y="5055215"/>
            <a:ext cx="89372" cy="449473"/>
          </a:xfrm>
          <a:prstGeom prst="roundRect">
            <a:avLst>
              <a:gd name="adj" fmla="val 20463"/>
            </a:avLst>
          </a:prstGeom>
          <a:solidFill>
            <a:srgbClr val="F78B51"/>
          </a:solidFill>
          <a:ln/>
        </p:spPr>
      </p:sp>
      <p:sp>
        <p:nvSpPr>
          <p:cNvPr id="52" name="Shape 50"/>
          <p:cNvSpPr/>
          <p:nvPr/>
        </p:nvSpPr>
        <p:spPr>
          <a:xfrm>
            <a:off x="7669097" y="5157307"/>
            <a:ext cx="89372" cy="347381"/>
          </a:xfrm>
          <a:prstGeom prst="roundRect">
            <a:avLst>
              <a:gd name="adj" fmla="val 20463"/>
            </a:avLst>
          </a:prstGeom>
          <a:solidFill>
            <a:srgbClr val="F78D52"/>
          </a:solidFill>
          <a:ln/>
        </p:spPr>
      </p:sp>
      <p:sp>
        <p:nvSpPr>
          <p:cNvPr id="53" name="Shape 51"/>
          <p:cNvSpPr/>
          <p:nvPr/>
        </p:nvSpPr>
        <p:spPr>
          <a:xfrm>
            <a:off x="7823186" y="5447675"/>
            <a:ext cx="89372" cy="57013"/>
          </a:xfrm>
          <a:prstGeom prst="roundRect">
            <a:avLst>
              <a:gd name="adj" fmla="val 32077"/>
            </a:avLst>
          </a:prstGeom>
          <a:solidFill>
            <a:srgbClr val="F78E52"/>
          </a:solidFill>
          <a:ln/>
        </p:spPr>
      </p:sp>
      <p:sp>
        <p:nvSpPr>
          <p:cNvPr id="54" name="Shape 52"/>
          <p:cNvSpPr/>
          <p:nvPr/>
        </p:nvSpPr>
        <p:spPr>
          <a:xfrm>
            <a:off x="7977276" y="4743633"/>
            <a:ext cx="89372" cy="761055"/>
          </a:xfrm>
          <a:prstGeom prst="roundRect">
            <a:avLst>
              <a:gd name="adj" fmla="val 20463"/>
            </a:avLst>
          </a:prstGeom>
          <a:solidFill>
            <a:srgbClr val="F88F53"/>
          </a:solidFill>
          <a:ln/>
        </p:spPr>
      </p:sp>
      <p:sp>
        <p:nvSpPr>
          <p:cNvPr id="55" name="Shape 53"/>
          <p:cNvSpPr/>
          <p:nvPr/>
        </p:nvSpPr>
        <p:spPr>
          <a:xfrm>
            <a:off x="8131365" y="4223888"/>
            <a:ext cx="89372" cy="1280800"/>
          </a:xfrm>
          <a:prstGeom prst="roundRect">
            <a:avLst>
              <a:gd name="adj" fmla="val 20463"/>
            </a:avLst>
          </a:prstGeom>
          <a:solidFill>
            <a:srgbClr val="F89054"/>
          </a:solidFill>
          <a:ln/>
        </p:spPr>
      </p:sp>
      <p:sp>
        <p:nvSpPr>
          <p:cNvPr id="56" name="Shape 54"/>
          <p:cNvSpPr/>
          <p:nvPr/>
        </p:nvSpPr>
        <p:spPr>
          <a:xfrm>
            <a:off x="8285454" y="5026045"/>
            <a:ext cx="89372" cy="478643"/>
          </a:xfrm>
          <a:prstGeom prst="roundRect">
            <a:avLst>
              <a:gd name="adj" fmla="val 20463"/>
            </a:avLst>
          </a:prstGeom>
          <a:solidFill>
            <a:srgbClr val="F89155"/>
          </a:solidFill>
          <a:ln/>
        </p:spPr>
      </p:sp>
      <p:sp>
        <p:nvSpPr>
          <p:cNvPr id="57" name="Shape 55"/>
          <p:cNvSpPr/>
          <p:nvPr/>
        </p:nvSpPr>
        <p:spPr>
          <a:xfrm>
            <a:off x="8439543" y="4604415"/>
            <a:ext cx="89372" cy="900273"/>
          </a:xfrm>
          <a:prstGeom prst="roundRect">
            <a:avLst>
              <a:gd name="adj" fmla="val 20463"/>
            </a:avLst>
          </a:prstGeom>
          <a:solidFill>
            <a:srgbClr val="F99256"/>
          </a:solidFill>
          <a:ln/>
        </p:spPr>
      </p:sp>
      <p:sp>
        <p:nvSpPr>
          <p:cNvPr id="58" name="Shape 56"/>
          <p:cNvSpPr/>
          <p:nvPr/>
        </p:nvSpPr>
        <p:spPr>
          <a:xfrm>
            <a:off x="8593632" y="4825837"/>
            <a:ext cx="89372" cy="678851"/>
          </a:xfrm>
          <a:prstGeom prst="roundRect">
            <a:avLst>
              <a:gd name="adj" fmla="val 20463"/>
            </a:avLst>
          </a:prstGeom>
          <a:solidFill>
            <a:srgbClr val="F99357"/>
          </a:solidFill>
          <a:ln/>
        </p:spPr>
      </p:sp>
      <p:sp>
        <p:nvSpPr>
          <p:cNvPr id="59" name="Shape 57"/>
          <p:cNvSpPr/>
          <p:nvPr/>
        </p:nvSpPr>
        <p:spPr>
          <a:xfrm>
            <a:off x="8747721" y="4898761"/>
            <a:ext cx="89372" cy="605927"/>
          </a:xfrm>
          <a:prstGeom prst="roundRect">
            <a:avLst>
              <a:gd name="adj" fmla="val 20463"/>
            </a:avLst>
          </a:prstGeom>
          <a:solidFill>
            <a:srgbClr val="F99458"/>
          </a:solidFill>
          <a:ln/>
        </p:spPr>
      </p:sp>
      <p:sp>
        <p:nvSpPr>
          <p:cNvPr id="60" name="Shape 58"/>
          <p:cNvSpPr/>
          <p:nvPr/>
        </p:nvSpPr>
        <p:spPr>
          <a:xfrm>
            <a:off x="8901810" y="4827163"/>
            <a:ext cx="89372" cy="677525"/>
          </a:xfrm>
          <a:prstGeom prst="roundRect">
            <a:avLst>
              <a:gd name="adj" fmla="val 20463"/>
            </a:avLst>
          </a:prstGeom>
          <a:solidFill>
            <a:srgbClr val="F99558"/>
          </a:solidFill>
          <a:ln/>
        </p:spPr>
      </p:sp>
      <p:sp>
        <p:nvSpPr>
          <p:cNvPr id="61" name="Shape 59"/>
          <p:cNvSpPr/>
          <p:nvPr/>
        </p:nvSpPr>
        <p:spPr>
          <a:xfrm>
            <a:off x="9055899" y="4999528"/>
            <a:ext cx="89372" cy="505160"/>
          </a:xfrm>
          <a:prstGeom prst="roundRect">
            <a:avLst>
              <a:gd name="adj" fmla="val 20463"/>
            </a:avLst>
          </a:prstGeom>
          <a:solidFill>
            <a:srgbClr val="FA9659"/>
          </a:solidFill>
          <a:ln/>
        </p:spPr>
      </p:sp>
      <p:sp>
        <p:nvSpPr>
          <p:cNvPr id="62" name="Shape 60"/>
          <p:cNvSpPr/>
          <p:nvPr/>
        </p:nvSpPr>
        <p:spPr>
          <a:xfrm>
            <a:off x="9209988" y="4973010"/>
            <a:ext cx="89372" cy="531678"/>
          </a:xfrm>
          <a:prstGeom prst="roundRect">
            <a:avLst>
              <a:gd name="adj" fmla="val 20463"/>
            </a:avLst>
          </a:prstGeom>
          <a:solidFill>
            <a:srgbClr val="FA985A"/>
          </a:solidFill>
          <a:ln/>
        </p:spPr>
      </p:sp>
      <p:sp>
        <p:nvSpPr>
          <p:cNvPr id="63" name="Shape 61"/>
          <p:cNvSpPr/>
          <p:nvPr/>
        </p:nvSpPr>
        <p:spPr>
          <a:xfrm>
            <a:off x="9364077" y="5027371"/>
            <a:ext cx="89372" cy="477317"/>
          </a:xfrm>
          <a:prstGeom prst="roundRect">
            <a:avLst>
              <a:gd name="adj" fmla="val 20463"/>
            </a:avLst>
          </a:prstGeom>
          <a:solidFill>
            <a:srgbClr val="FA995B"/>
          </a:solidFill>
          <a:ln/>
        </p:spPr>
      </p:sp>
      <p:sp>
        <p:nvSpPr>
          <p:cNvPr id="64" name="Shape 62"/>
          <p:cNvSpPr/>
          <p:nvPr/>
        </p:nvSpPr>
        <p:spPr>
          <a:xfrm>
            <a:off x="9518167" y="4922627"/>
            <a:ext cx="89372" cy="582061"/>
          </a:xfrm>
          <a:prstGeom prst="roundRect">
            <a:avLst>
              <a:gd name="adj" fmla="val 20463"/>
            </a:avLst>
          </a:prstGeom>
          <a:solidFill>
            <a:srgbClr val="FB9A5C"/>
          </a:solidFill>
          <a:ln/>
        </p:spPr>
      </p:sp>
      <p:sp>
        <p:nvSpPr>
          <p:cNvPr id="65" name="Shape 63"/>
          <p:cNvSpPr/>
          <p:nvPr/>
        </p:nvSpPr>
        <p:spPr>
          <a:xfrm>
            <a:off x="9672256" y="4894783"/>
            <a:ext cx="89372" cy="609905"/>
          </a:xfrm>
          <a:prstGeom prst="roundRect">
            <a:avLst>
              <a:gd name="adj" fmla="val 20463"/>
            </a:avLst>
          </a:prstGeom>
          <a:solidFill>
            <a:srgbClr val="FB9B5D"/>
          </a:solidFill>
          <a:ln/>
        </p:spPr>
      </p:sp>
      <p:sp>
        <p:nvSpPr>
          <p:cNvPr id="66" name="Shape 64"/>
          <p:cNvSpPr/>
          <p:nvPr/>
        </p:nvSpPr>
        <p:spPr>
          <a:xfrm>
            <a:off x="9826345" y="5165263"/>
            <a:ext cx="89372" cy="339425"/>
          </a:xfrm>
          <a:prstGeom prst="roundRect">
            <a:avLst>
              <a:gd name="adj" fmla="val 20463"/>
            </a:avLst>
          </a:prstGeom>
          <a:solidFill>
            <a:srgbClr val="FB9C5E"/>
          </a:solidFill>
          <a:ln/>
        </p:spPr>
      </p:sp>
      <p:sp>
        <p:nvSpPr>
          <p:cNvPr id="67" name="Shape 65"/>
          <p:cNvSpPr/>
          <p:nvPr/>
        </p:nvSpPr>
        <p:spPr>
          <a:xfrm>
            <a:off x="9980434" y="5020742"/>
            <a:ext cx="89372" cy="483946"/>
          </a:xfrm>
          <a:prstGeom prst="roundRect">
            <a:avLst>
              <a:gd name="adj" fmla="val 20463"/>
            </a:avLst>
          </a:prstGeom>
          <a:solidFill>
            <a:srgbClr val="FC9D5E"/>
          </a:solidFill>
          <a:ln/>
        </p:spPr>
      </p:sp>
      <p:sp>
        <p:nvSpPr>
          <p:cNvPr id="68" name="Shape 66"/>
          <p:cNvSpPr/>
          <p:nvPr/>
        </p:nvSpPr>
        <p:spPr>
          <a:xfrm>
            <a:off x="10134523" y="5463540"/>
            <a:ext cx="89372" cy="41148"/>
          </a:xfrm>
          <a:prstGeom prst="roundRect">
            <a:avLst>
              <a:gd name="adj" fmla="val 44444"/>
            </a:avLst>
          </a:prstGeom>
          <a:solidFill>
            <a:srgbClr val="FC9E5F"/>
          </a:solidFill>
          <a:ln/>
        </p:spPr>
      </p:sp>
      <p:sp>
        <p:nvSpPr>
          <p:cNvPr id="69" name="Shape 67"/>
          <p:cNvSpPr/>
          <p:nvPr/>
        </p:nvSpPr>
        <p:spPr>
          <a:xfrm>
            <a:off x="10288612" y="5018090"/>
            <a:ext cx="89372" cy="486598"/>
          </a:xfrm>
          <a:prstGeom prst="roundRect">
            <a:avLst>
              <a:gd name="adj" fmla="val 20463"/>
            </a:avLst>
          </a:prstGeom>
          <a:solidFill>
            <a:srgbClr val="FC9F60"/>
          </a:solidFill>
          <a:ln/>
        </p:spPr>
      </p:sp>
      <p:sp>
        <p:nvSpPr>
          <p:cNvPr id="70" name="Shape 68"/>
          <p:cNvSpPr/>
          <p:nvPr/>
        </p:nvSpPr>
        <p:spPr>
          <a:xfrm>
            <a:off x="10442701" y="5035326"/>
            <a:ext cx="89372" cy="469362"/>
          </a:xfrm>
          <a:prstGeom prst="roundRect">
            <a:avLst>
              <a:gd name="adj" fmla="val 20463"/>
            </a:avLst>
          </a:prstGeom>
          <a:solidFill>
            <a:srgbClr val="FDA061"/>
          </a:solidFill>
          <a:ln/>
        </p:spPr>
      </p:sp>
      <p:sp>
        <p:nvSpPr>
          <p:cNvPr id="71" name="Shape 69"/>
          <p:cNvSpPr/>
          <p:nvPr/>
        </p:nvSpPr>
        <p:spPr>
          <a:xfrm>
            <a:off x="10596790" y="4888154"/>
            <a:ext cx="89372" cy="616534"/>
          </a:xfrm>
          <a:prstGeom prst="roundRect">
            <a:avLst>
              <a:gd name="adj" fmla="val 20463"/>
            </a:avLst>
          </a:prstGeom>
          <a:solidFill>
            <a:srgbClr val="FDA162"/>
          </a:solidFill>
          <a:ln/>
        </p:spPr>
      </p:sp>
      <p:sp>
        <p:nvSpPr>
          <p:cNvPr id="72" name="Shape 70"/>
          <p:cNvSpPr/>
          <p:nvPr/>
        </p:nvSpPr>
        <p:spPr>
          <a:xfrm>
            <a:off x="10750879" y="5198410"/>
            <a:ext cx="89372" cy="306278"/>
          </a:xfrm>
          <a:prstGeom prst="roundRect">
            <a:avLst>
              <a:gd name="adj" fmla="val 20463"/>
            </a:avLst>
          </a:prstGeom>
          <a:solidFill>
            <a:srgbClr val="FDA363"/>
          </a:solidFill>
          <a:ln/>
        </p:spPr>
      </p:sp>
      <p:sp>
        <p:nvSpPr>
          <p:cNvPr id="73" name="Shape 71"/>
          <p:cNvSpPr/>
          <p:nvPr/>
        </p:nvSpPr>
        <p:spPr>
          <a:xfrm>
            <a:off x="10904968" y="5087036"/>
            <a:ext cx="89372" cy="417652"/>
          </a:xfrm>
          <a:prstGeom prst="roundRect">
            <a:avLst>
              <a:gd name="adj" fmla="val 20463"/>
            </a:avLst>
          </a:prstGeom>
          <a:solidFill>
            <a:srgbClr val="FEA464"/>
          </a:solidFill>
          <a:ln/>
        </p:spPr>
      </p:sp>
      <p:sp>
        <p:nvSpPr>
          <p:cNvPr id="74" name="Shape 72"/>
          <p:cNvSpPr/>
          <p:nvPr/>
        </p:nvSpPr>
        <p:spPr>
          <a:xfrm>
            <a:off x="11059058" y="5136093"/>
            <a:ext cx="89372" cy="368595"/>
          </a:xfrm>
          <a:prstGeom prst="roundRect">
            <a:avLst>
              <a:gd name="adj" fmla="val 20463"/>
            </a:avLst>
          </a:prstGeom>
          <a:solidFill>
            <a:srgbClr val="FEA564"/>
          </a:solidFill>
          <a:ln/>
        </p:spPr>
      </p:sp>
      <p:sp>
        <p:nvSpPr>
          <p:cNvPr id="75" name="Shape 73"/>
          <p:cNvSpPr/>
          <p:nvPr/>
        </p:nvSpPr>
        <p:spPr>
          <a:xfrm>
            <a:off x="11213147" y="5174544"/>
            <a:ext cx="89372" cy="330144"/>
          </a:xfrm>
          <a:prstGeom prst="roundRect">
            <a:avLst>
              <a:gd name="adj" fmla="val 20463"/>
            </a:avLst>
          </a:prstGeom>
          <a:solidFill>
            <a:srgbClr val="FEA665"/>
          </a:solidFill>
          <a:ln/>
        </p:spPr>
      </p:sp>
      <p:sp>
        <p:nvSpPr>
          <p:cNvPr id="76" name="Shape 74"/>
          <p:cNvSpPr/>
          <p:nvPr/>
        </p:nvSpPr>
        <p:spPr>
          <a:xfrm>
            <a:off x="11367236" y="5262052"/>
            <a:ext cx="89372" cy="242636"/>
          </a:xfrm>
          <a:prstGeom prst="roundRect">
            <a:avLst>
              <a:gd name="adj" fmla="val 20463"/>
            </a:avLst>
          </a:prstGeom>
          <a:solidFill>
            <a:srgbClr val="FFA766"/>
          </a:solidFill>
          <a:ln/>
        </p:spPr>
      </p:sp>
      <p:sp>
        <p:nvSpPr>
          <p:cNvPr id="77" name="Shape 75"/>
          <p:cNvSpPr/>
          <p:nvPr/>
        </p:nvSpPr>
        <p:spPr>
          <a:xfrm>
            <a:off x="11521325" y="5435742"/>
            <a:ext cx="89372" cy="68946"/>
          </a:xfrm>
          <a:prstGeom prst="roundRect">
            <a:avLst>
              <a:gd name="adj" fmla="val 26525"/>
            </a:avLst>
          </a:prstGeom>
          <a:solidFill>
            <a:srgbClr val="FFA867"/>
          </a:solidFill>
          <a:ln/>
        </p:spPr>
      </p:sp>
      <p:sp>
        <p:nvSpPr>
          <p:cNvPr id="78" name="Text 76"/>
          <p:cNvSpPr/>
          <p:nvPr/>
        </p:nvSpPr>
        <p:spPr>
          <a:xfrm>
            <a:off x="548640" y="5614416"/>
            <a:ext cx="6766560" cy="237744"/>
          </a:xfrm>
          <a:prstGeom prst="rect">
            <a:avLst/>
          </a:prstGeom>
          <a:noFill/>
          <a:ln/>
        </p:spPr>
        <p:txBody>
          <a:bodyPr wrap="square" lIns="0" tIns="0" rIns="0" bIns="0" rtlCol="0" anchor="ctr"/>
          <a:lstStyle/>
          <a:p>
            <a:pPr indent="0" marL="0">
              <a:buNone/>
            </a:pPr>
            <a:r>
              <a:rPr lang="en-US" sz="850" dirty="0">
                <a:solidFill>
                  <a:srgbClr val="9A9EAE"/>
                </a:solidFill>
                <a:latin typeface="Consolas" pitchFamily="34" charset="0"/>
                <a:ea typeface="Consolas" pitchFamily="34" charset="-122"/>
                <a:cs typeface="Consolas" pitchFamily="34" charset="-120"/>
              </a:rPr>
              <a:t>27.3 s of a real recorded session — the interviewer speaking</a:t>
            </a:r>
            <a:endParaRPr lang="en-US" sz="850" dirty="0"/>
          </a:p>
        </p:txBody>
      </p:sp>
      <p:sp>
        <p:nvSpPr>
          <p:cNvPr id="79" name="Text 77"/>
          <p:cNvSpPr/>
          <p:nvPr/>
        </p:nvSpPr>
        <p:spPr>
          <a:xfrm>
            <a:off x="548640" y="6053328"/>
            <a:ext cx="6949440" cy="365760"/>
          </a:xfrm>
          <a:prstGeom prst="rect">
            <a:avLst/>
          </a:prstGeom>
          <a:noFill/>
          <a:ln/>
        </p:spPr>
        <p:txBody>
          <a:bodyPr wrap="square" lIns="0" tIns="0" rIns="0" bIns="0" rtlCol="0" anchor="ctr"/>
          <a:lstStyle/>
          <a:p>
            <a:pPr indent="0" marL="0">
              <a:buNone/>
            </a:pPr>
            <a:r>
              <a:rPr lang="en-US" sz="1500" b="1" dirty="0">
                <a:solidFill>
                  <a:srgbClr val="12141C"/>
                </a:solidFill>
                <a:latin typeface="Arial" pitchFamily="34" charset="0"/>
                <a:ea typeface="Arial" pitchFamily="34" charset="-122"/>
                <a:cs typeface="Arial" pitchFamily="34" charset="-120"/>
              </a:rPr>
              <a:t>PULL REQUEST</a:t>
            </a:r>
            <a:pPr indent="0" marL="0">
              <a:buNone/>
            </a:pPr>
            <a:r>
              <a:rPr lang="en-US" sz="1250" dirty="0">
                <a:solidFill>
                  <a:srgbClr val="6E7285"/>
                </a:solidFill>
                <a:latin typeface="Arial" pitchFamily="34" charset="0"/>
                <a:ea typeface="Arial" pitchFamily="34" charset="-122"/>
                <a:cs typeface="Arial" pitchFamily="34" charset="-120"/>
              </a:rPr>
              <a:t>   Santhosh P · Hrithik Sankar R</a:t>
            </a:r>
            <a:endParaRPr lang="en-US" sz="1500" dirty="0"/>
          </a:p>
        </p:txBody>
      </p:sp>
      <p:sp>
        <p:nvSpPr>
          <p:cNvPr id="80" name="Shape 78"/>
          <p:cNvSpPr/>
          <p:nvPr/>
        </p:nvSpPr>
        <p:spPr>
          <a:xfrm>
            <a:off x="7918704" y="6062472"/>
            <a:ext cx="3721608" cy="347472"/>
          </a:xfrm>
          <a:prstGeom prst="roundRect">
            <a:avLst>
              <a:gd name="adj" fmla="val 50000"/>
            </a:avLst>
          </a:prstGeom>
          <a:solidFill>
            <a:srgbClr val="EAF6F0"/>
          </a:solidFill>
          <a:ln w="12700">
            <a:solidFill>
              <a:srgbClr val="BFE3D2"/>
            </a:solidFill>
            <a:prstDash val="solid"/>
          </a:ln>
        </p:spPr>
      </p:sp>
      <p:sp>
        <p:nvSpPr>
          <p:cNvPr id="81" name="Shape 79"/>
          <p:cNvSpPr/>
          <p:nvPr/>
        </p:nvSpPr>
        <p:spPr>
          <a:xfrm>
            <a:off x="8101584" y="6176772"/>
            <a:ext cx="118872" cy="118872"/>
          </a:xfrm>
          <a:prstGeom prst="ellipse">
            <a:avLst/>
          </a:prstGeom>
          <a:solidFill>
            <a:srgbClr val="1B7A56"/>
          </a:solidFill>
          <a:ln/>
        </p:spPr>
      </p:sp>
      <p:sp>
        <p:nvSpPr>
          <p:cNvPr id="82" name="Text 80"/>
          <p:cNvSpPr/>
          <p:nvPr/>
        </p:nvSpPr>
        <p:spPr>
          <a:xfrm>
            <a:off x="8284464" y="6062472"/>
            <a:ext cx="3246120" cy="347472"/>
          </a:xfrm>
          <a:prstGeom prst="rect">
            <a:avLst/>
          </a:prstGeom>
          <a:noFill/>
          <a:ln/>
        </p:spPr>
        <p:txBody>
          <a:bodyPr wrap="square" lIns="0" tIns="0" rIns="0" bIns="0" rtlCol="0" anchor="ctr"/>
          <a:lstStyle/>
          <a:p>
            <a:pPr indent="0" marL="0">
              <a:buNone/>
            </a:pPr>
            <a:r>
              <a:rPr lang="en-US" sz="850" dirty="0">
                <a:solidFill>
                  <a:srgbClr val="1B7A56"/>
                </a:solidFill>
                <a:latin typeface="Consolas" pitchFamily="34" charset="0"/>
                <a:ea typeface="Consolas" pitchFamily="34" charset="-122"/>
                <a:cs typeface="Consolas" pitchFamily="34" charset="-120"/>
              </a:rPr>
              <a:t>crucible-backend-103350253775.us-central1.run.app</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37744"/>
          </a:xfrm>
          <a:prstGeom prst="rect">
            <a:avLst/>
          </a:prstGeom>
          <a:noFill/>
          <a:ln/>
        </p:spPr>
        <p:txBody>
          <a:bodyPr wrap="square" lIns="0" tIns="0" rIns="0" bIns="0" rtlCol="0" anchor="ctr"/>
          <a:lstStyle/>
          <a:p>
            <a:pPr indent="0" marL="0">
              <a:buNone/>
            </a:pPr>
            <a:r>
              <a:rPr lang="en-US" sz="1050" b="1" spc="160" kern="0" dirty="0">
                <a:solidFill>
                  <a:srgbClr val="FF6A3D"/>
                </a:solidFill>
                <a:latin typeface="Consolas" pitchFamily="34" charset="0"/>
                <a:ea typeface="Consolas" pitchFamily="34" charset="-122"/>
                <a:cs typeface="Consolas" pitchFamily="34" charset="-120"/>
              </a:rPr>
              <a:t>THE PROBLEM</a:t>
            </a:r>
            <a:endParaRPr lang="en-US" sz="1050" dirty="0"/>
          </a:p>
        </p:txBody>
      </p:sp>
      <p:sp>
        <p:nvSpPr>
          <p:cNvPr id="3" name="Text 1"/>
          <p:cNvSpPr/>
          <p:nvPr/>
        </p:nvSpPr>
        <p:spPr>
          <a:xfrm>
            <a:off x="548640" y="621792"/>
            <a:ext cx="11094415" cy="603504"/>
          </a:xfrm>
          <a:prstGeom prst="rect">
            <a:avLst/>
          </a:prstGeom>
          <a:noFill/>
          <a:ln/>
        </p:spPr>
        <p:txBody>
          <a:bodyPr wrap="square" lIns="0" tIns="0" rIns="0" bIns="0" rtlCol="0" anchor="ctr"/>
          <a:lstStyle/>
          <a:p>
            <a:pPr indent="0" marL="0">
              <a:buNone/>
            </a:pPr>
            <a:r>
              <a:rPr lang="en-US" sz="3300" b="1" spc="-60" kern="0" dirty="0">
                <a:solidFill>
                  <a:srgbClr val="12141C"/>
                </a:solidFill>
                <a:latin typeface="Arial" pitchFamily="34" charset="0"/>
                <a:ea typeface="Arial" pitchFamily="34" charset="-122"/>
                <a:cs typeface="Arial" pitchFamily="34" charset="-120"/>
              </a:rPr>
              <a:t>Interview prep tools don't listen.</a:t>
            </a:r>
            <a:endParaRPr lang="en-US" sz="3300" dirty="0"/>
          </a:p>
        </p:txBody>
      </p:sp>
      <p:sp>
        <p:nvSpPr>
          <p:cNvPr id="4" name="Shape 2"/>
          <p:cNvSpPr/>
          <p:nvPr/>
        </p:nvSpPr>
        <p:spPr>
          <a:xfrm>
            <a:off x="548640" y="1499616"/>
            <a:ext cx="402336" cy="402336"/>
          </a:xfrm>
          <a:prstGeom prst="ellipse">
            <a:avLst/>
          </a:prstGeom>
          <a:solidFill>
            <a:srgbClr val="12141C"/>
          </a:solidFill>
          <a:ln/>
        </p:spPr>
      </p:sp>
      <p:sp>
        <p:nvSpPr>
          <p:cNvPr id="5" name="Text 3"/>
          <p:cNvSpPr/>
          <p:nvPr/>
        </p:nvSpPr>
        <p:spPr>
          <a:xfrm>
            <a:off x="548640" y="1499616"/>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onsolas" pitchFamily="34" charset="0"/>
                <a:ea typeface="Consolas" pitchFamily="34" charset="-122"/>
                <a:cs typeface="Consolas" pitchFamily="34" charset="-120"/>
              </a:rPr>
              <a:t>01</a:t>
            </a:r>
            <a:endParaRPr lang="en-US" sz="1200" dirty="0"/>
          </a:p>
        </p:txBody>
      </p:sp>
      <p:sp>
        <p:nvSpPr>
          <p:cNvPr id="6" name="Text 4"/>
          <p:cNvSpPr/>
          <p:nvPr/>
        </p:nvSpPr>
        <p:spPr>
          <a:xfrm>
            <a:off x="1152144" y="1481328"/>
            <a:ext cx="5029200" cy="310896"/>
          </a:xfrm>
          <a:prstGeom prst="rect">
            <a:avLst/>
          </a:prstGeom>
          <a:noFill/>
          <a:ln/>
        </p:spPr>
        <p:txBody>
          <a:bodyPr wrap="square" lIns="0" tIns="0" rIns="0" bIns="0" rtlCol="0" anchor="ctr"/>
          <a:lstStyle/>
          <a:p>
            <a:pPr indent="0" marL="0">
              <a:buNone/>
            </a:pPr>
            <a:r>
              <a:rPr lang="en-US" sz="1550" b="1" dirty="0">
                <a:solidFill>
                  <a:srgbClr val="12141C"/>
                </a:solidFill>
                <a:latin typeface="Arial" pitchFamily="34" charset="0"/>
                <a:ea typeface="Arial" pitchFamily="34" charset="-122"/>
                <a:cs typeface="Arial" pitchFamily="34" charset="-120"/>
              </a:rPr>
              <a:t>Static banks test recall, not thinking</a:t>
            </a:r>
            <a:endParaRPr lang="en-US" sz="1550" dirty="0"/>
          </a:p>
        </p:txBody>
      </p:sp>
      <p:sp>
        <p:nvSpPr>
          <p:cNvPr id="7" name="Text 5"/>
          <p:cNvSpPr/>
          <p:nvPr/>
        </p:nvSpPr>
        <p:spPr>
          <a:xfrm>
            <a:off x="1152144" y="1828800"/>
            <a:ext cx="5029200" cy="713232"/>
          </a:xfrm>
          <a:prstGeom prst="rect">
            <a:avLst/>
          </a:prstGeom>
          <a:noFill/>
          <a:ln/>
        </p:spPr>
        <p:txBody>
          <a:bodyPr wrap="square" lIns="0" tIns="0" rIns="0" bIns="0" rtlCol="0" anchor="t"/>
          <a:lstStyle/>
          <a:p>
            <a:pPr indent="0" marL="0">
              <a:lnSpc>
                <a:spcPct val="116000"/>
              </a:lnSpc>
              <a:buNone/>
            </a:pPr>
            <a:r>
              <a:rPr lang="en-US" sz="1250" dirty="0">
                <a:solidFill>
                  <a:srgbClr val="3A3D4D"/>
                </a:solidFill>
                <a:latin typeface="Calibri" pitchFamily="34" charset="0"/>
                <a:ea typeface="Calibri" pitchFamily="34" charset="-122"/>
                <a:cs typeface="Calibri" pitchFamily="34" charset="-120"/>
              </a:rPr>
              <a:t>A fixed question list can't follow up on the answer you actually gave, so it never finds the edge of what you know.</a:t>
            </a:r>
            <a:endParaRPr lang="en-US" sz="1250" dirty="0"/>
          </a:p>
        </p:txBody>
      </p:sp>
      <p:sp>
        <p:nvSpPr>
          <p:cNvPr id="8" name="Shape 6"/>
          <p:cNvSpPr/>
          <p:nvPr/>
        </p:nvSpPr>
        <p:spPr>
          <a:xfrm>
            <a:off x="548640" y="2798064"/>
            <a:ext cx="402336" cy="402336"/>
          </a:xfrm>
          <a:prstGeom prst="ellipse">
            <a:avLst/>
          </a:prstGeom>
          <a:solidFill>
            <a:srgbClr val="12141C"/>
          </a:solidFill>
          <a:ln/>
        </p:spPr>
      </p:sp>
      <p:sp>
        <p:nvSpPr>
          <p:cNvPr id="9" name="Text 7"/>
          <p:cNvSpPr/>
          <p:nvPr/>
        </p:nvSpPr>
        <p:spPr>
          <a:xfrm>
            <a:off x="548640" y="2798064"/>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onsolas" pitchFamily="34" charset="0"/>
                <a:ea typeface="Consolas" pitchFamily="34" charset="-122"/>
                <a:cs typeface="Consolas" pitchFamily="34" charset="-120"/>
              </a:rPr>
              <a:t>02</a:t>
            </a:r>
            <a:endParaRPr lang="en-US" sz="1200" dirty="0"/>
          </a:p>
        </p:txBody>
      </p:sp>
      <p:sp>
        <p:nvSpPr>
          <p:cNvPr id="10" name="Text 8"/>
          <p:cNvSpPr/>
          <p:nvPr/>
        </p:nvSpPr>
        <p:spPr>
          <a:xfrm>
            <a:off x="1152144" y="2779776"/>
            <a:ext cx="5029200" cy="310896"/>
          </a:xfrm>
          <a:prstGeom prst="rect">
            <a:avLst/>
          </a:prstGeom>
          <a:noFill/>
          <a:ln/>
        </p:spPr>
        <p:txBody>
          <a:bodyPr wrap="square" lIns="0" tIns="0" rIns="0" bIns="0" rtlCol="0" anchor="ctr"/>
          <a:lstStyle/>
          <a:p>
            <a:pPr indent="0" marL="0">
              <a:buNone/>
            </a:pPr>
            <a:r>
              <a:rPr lang="en-US" sz="1550" b="1" dirty="0">
                <a:solidFill>
                  <a:srgbClr val="12141C"/>
                </a:solidFill>
                <a:latin typeface="Arial" pitchFamily="34" charset="0"/>
                <a:ea typeface="Arial" pitchFamily="34" charset="-122"/>
                <a:cs typeface="Arial" pitchFamily="34" charset="-120"/>
              </a:rPr>
              <a:t>Nothing hears how you answer</a:t>
            </a:r>
            <a:endParaRPr lang="en-US" sz="1550" dirty="0"/>
          </a:p>
        </p:txBody>
      </p:sp>
      <p:sp>
        <p:nvSpPr>
          <p:cNvPr id="11" name="Text 9"/>
          <p:cNvSpPr/>
          <p:nvPr/>
        </p:nvSpPr>
        <p:spPr>
          <a:xfrm>
            <a:off x="1152144" y="3127248"/>
            <a:ext cx="5029200" cy="713232"/>
          </a:xfrm>
          <a:prstGeom prst="rect">
            <a:avLst/>
          </a:prstGeom>
          <a:noFill/>
          <a:ln/>
        </p:spPr>
        <p:txBody>
          <a:bodyPr wrap="square" lIns="0" tIns="0" rIns="0" bIns="0" rtlCol="0" anchor="t"/>
          <a:lstStyle/>
          <a:p>
            <a:pPr indent="0" marL="0">
              <a:lnSpc>
                <a:spcPct val="116000"/>
              </a:lnSpc>
              <a:buNone/>
            </a:pPr>
            <a:r>
              <a:rPr lang="en-US" sz="1250" dirty="0">
                <a:solidFill>
                  <a:srgbClr val="3A3D4D"/>
                </a:solidFill>
                <a:latin typeface="Calibri" pitchFamily="34" charset="0"/>
                <a:ea typeface="Calibri" pitchFamily="34" charset="-122"/>
                <a:cs typeface="Calibri" pitchFamily="34" charset="-120"/>
              </a:rPr>
              <a:t>Real interviews are spoken. Pace, hesitation and rambling decide outcomes — and a text box captures none of it.</a:t>
            </a:r>
            <a:endParaRPr lang="en-US" sz="1250" dirty="0"/>
          </a:p>
        </p:txBody>
      </p:sp>
      <p:sp>
        <p:nvSpPr>
          <p:cNvPr id="12" name="Shape 10"/>
          <p:cNvSpPr/>
          <p:nvPr/>
        </p:nvSpPr>
        <p:spPr>
          <a:xfrm>
            <a:off x="548640" y="4096512"/>
            <a:ext cx="402336" cy="402336"/>
          </a:xfrm>
          <a:prstGeom prst="ellipse">
            <a:avLst/>
          </a:prstGeom>
          <a:solidFill>
            <a:srgbClr val="12141C"/>
          </a:solidFill>
          <a:ln/>
        </p:spPr>
      </p:sp>
      <p:sp>
        <p:nvSpPr>
          <p:cNvPr id="13" name="Text 11"/>
          <p:cNvSpPr/>
          <p:nvPr/>
        </p:nvSpPr>
        <p:spPr>
          <a:xfrm>
            <a:off x="548640" y="4096512"/>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onsolas" pitchFamily="34" charset="0"/>
                <a:ea typeface="Consolas" pitchFamily="34" charset="-122"/>
                <a:cs typeface="Consolas" pitchFamily="34" charset="-120"/>
              </a:rPr>
              <a:t>03</a:t>
            </a:r>
            <a:endParaRPr lang="en-US" sz="1200" dirty="0"/>
          </a:p>
        </p:txBody>
      </p:sp>
      <p:sp>
        <p:nvSpPr>
          <p:cNvPr id="14" name="Text 12"/>
          <p:cNvSpPr/>
          <p:nvPr/>
        </p:nvSpPr>
        <p:spPr>
          <a:xfrm>
            <a:off x="1152144" y="4078224"/>
            <a:ext cx="5029200" cy="310896"/>
          </a:xfrm>
          <a:prstGeom prst="rect">
            <a:avLst/>
          </a:prstGeom>
          <a:noFill/>
          <a:ln/>
        </p:spPr>
        <p:txBody>
          <a:bodyPr wrap="square" lIns="0" tIns="0" rIns="0" bIns="0" rtlCol="0" anchor="ctr"/>
          <a:lstStyle/>
          <a:p>
            <a:pPr indent="0" marL="0">
              <a:buNone/>
            </a:pPr>
            <a:r>
              <a:rPr lang="en-US" sz="1550" b="1" dirty="0">
                <a:solidFill>
                  <a:srgbClr val="12141C"/>
                </a:solidFill>
                <a:latin typeface="Arial" pitchFamily="34" charset="0"/>
                <a:ea typeface="Arial" pitchFamily="34" charset="-122"/>
                <a:cs typeface="Arial" pitchFamily="34" charset="-120"/>
              </a:rPr>
              <a:t>“Feedback” is a score, not a location</a:t>
            </a:r>
            <a:endParaRPr lang="en-US" sz="1550" dirty="0"/>
          </a:p>
        </p:txBody>
      </p:sp>
      <p:sp>
        <p:nvSpPr>
          <p:cNvPr id="15" name="Text 13"/>
          <p:cNvSpPr/>
          <p:nvPr/>
        </p:nvSpPr>
        <p:spPr>
          <a:xfrm>
            <a:off x="1152144" y="4425696"/>
            <a:ext cx="5029200" cy="713232"/>
          </a:xfrm>
          <a:prstGeom prst="rect">
            <a:avLst/>
          </a:prstGeom>
          <a:noFill/>
          <a:ln/>
        </p:spPr>
        <p:txBody>
          <a:bodyPr wrap="square" lIns="0" tIns="0" rIns="0" bIns="0" rtlCol="0" anchor="t"/>
          <a:lstStyle/>
          <a:p>
            <a:pPr indent="0" marL="0">
              <a:lnSpc>
                <a:spcPct val="116000"/>
              </a:lnSpc>
              <a:buNone/>
            </a:pPr>
            <a:r>
              <a:rPr lang="en-US" sz="1250" dirty="0">
                <a:solidFill>
                  <a:srgbClr val="3A3D4D"/>
                </a:solidFill>
                <a:latin typeface="Calibri" pitchFamily="34" charset="0"/>
                <a:ea typeface="Calibri" pitchFamily="34" charset="-122"/>
                <a:cs typeface="Calibri" pitchFamily="34" charset="-120"/>
              </a:rPr>
              <a:t>A 6/10 tells you nothing actionable. You need to know which sentence was thin and which claim you couldn't back.</a:t>
            </a:r>
            <a:endParaRPr lang="en-US" sz="1250" dirty="0"/>
          </a:p>
        </p:txBody>
      </p:sp>
      <p:sp>
        <p:nvSpPr>
          <p:cNvPr id="16" name="Shape 14"/>
          <p:cNvSpPr/>
          <p:nvPr/>
        </p:nvSpPr>
        <p:spPr>
          <a:xfrm>
            <a:off x="6620256" y="1417320"/>
            <a:ext cx="5022799" cy="3584448"/>
          </a:xfrm>
          <a:prstGeom prst="roundRect">
            <a:avLst>
              <a:gd name="adj" fmla="val 1020"/>
            </a:avLst>
          </a:prstGeom>
          <a:solidFill>
            <a:srgbClr val="FFF5F0"/>
          </a:solidFill>
          <a:ln w="12700">
            <a:solidFill>
              <a:srgbClr val="F3D6C7"/>
            </a:solidFill>
            <a:prstDash val="solid"/>
          </a:ln>
          <a:effectLst>
            <a:outerShdw sx="100000" sy="100000" kx="0" ky="0" algn="bl" rotWithShape="0" blurRad="127000" dist="25400" dir="5400000">
              <a:srgbClr val="9C9890">
                <a:alpha val="16000"/>
              </a:srgbClr>
            </a:outerShdw>
          </a:effectLst>
        </p:spPr>
      </p:sp>
      <p:sp>
        <p:nvSpPr>
          <p:cNvPr id="17" name="Text 15"/>
          <p:cNvSpPr/>
          <p:nvPr/>
        </p:nvSpPr>
        <p:spPr>
          <a:xfrm>
            <a:off x="7004304" y="1700784"/>
            <a:ext cx="4254703" cy="237744"/>
          </a:xfrm>
          <a:prstGeom prst="rect">
            <a:avLst/>
          </a:prstGeom>
          <a:noFill/>
          <a:ln/>
        </p:spPr>
        <p:txBody>
          <a:bodyPr wrap="square" lIns="0" tIns="0" rIns="0" bIns="0" rtlCol="0" anchor="ctr"/>
          <a:lstStyle/>
          <a:p>
            <a:pPr indent="0" marL="0">
              <a:buNone/>
            </a:pPr>
            <a:r>
              <a:rPr lang="en-US" sz="1000" b="1" spc="160" kern="0" dirty="0">
                <a:solidFill>
                  <a:srgbClr val="FF6A3D"/>
                </a:solidFill>
                <a:latin typeface="Consolas" pitchFamily="34" charset="0"/>
                <a:ea typeface="Consolas" pitchFamily="34" charset="-122"/>
                <a:cs typeface="Consolas" pitchFamily="34" charset="-120"/>
              </a:rPr>
              <a:t>THE INSIGHT</a:t>
            </a:r>
            <a:endParaRPr lang="en-US" sz="1000" dirty="0"/>
          </a:p>
        </p:txBody>
      </p:sp>
      <p:sp>
        <p:nvSpPr>
          <p:cNvPr id="18" name="Text 16"/>
          <p:cNvSpPr/>
          <p:nvPr/>
        </p:nvSpPr>
        <p:spPr>
          <a:xfrm>
            <a:off x="7004304" y="2084832"/>
            <a:ext cx="4254703" cy="1554480"/>
          </a:xfrm>
          <a:prstGeom prst="rect">
            <a:avLst/>
          </a:prstGeom>
          <a:noFill/>
          <a:ln/>
        </p:spPr>
        <p:txBody>
          <a:bodyPr wrap="square" lIns="0" tIns="0" rIns="0" bIns="0" rtlCol="0" anchor="t"/>
          <a:lstStyle/>
          <a:p>
            <a:pPr indent="0" marL="0">
              <a:lnSpc>
                <a:spcPct val="122000"/>
              </a:lnSpc>
              <a:buNone/>
            </a:pPr>
            <a:r>
              <a:rPr lang="en-US" sz="1900" b="1" spc="-40" kern="0" dirty="0">
                <a:solidFill>
                  <a:srgbClr val="6E7285"/>
                </a:solidFill>
                <a:latin typeface="Arial" pitchFamily="34" charset="0"/>
                <a:ea typeface="Arial" pitchFamily="34" charset="-122"/>
                <a:cs typeface="Arial" pitchFamily="34" charset="-120"/>
              </a:rPr>
              <a:t>The gap isn't question generation.
</a:t>
            </a:r>
            <a:pPr indent="0" marL="0">
              <a:lnSpc>
                <a:spcPct val="122000"/>
              </a:lnSpc>
              <a:buNone/>
            </a:pPr>
            <a:r>
              <a:rPr lang="en-US" sz="1900" b="1" spc="-40" kern="0" dirty="0">
                <a:solidFill>
                  <a:srgbClr val="12141C"/>
                </a:solidFill>
                <a:latin typeface="Arial" pitchFamily="34" charset="0"/>
                <a:ea typeface="Arial" pitchFamily="34" charset="-122"/>
                <a:cs typeface="Arial" pitchFamily="34" charset="-120"/>
              </a:rPr>
              <a:t>It's that nothing </a:t>
            </a:r>
            <a:pPr indent="0" marL="0">
              <a:lnSpc>
                <a:spcPct val="122000"/>
              </a:lnSpc>
              <a:buNone/>
            </a:pPr>
            <a:r>
              <a:rPr lang="en-US" sz="1900" b="1" spc="-40" kern="0" dirty="0">
                <a:solidFill>
                  <a:srgbClr val="FF6A3D"/>
                </a:solidFill>
                <a:latin typeface="Arial" pitchFamily="34" charset="0"/>
                <a:ea typeface="Arial" pitchFamily="34" charset="-122"/>
                <a:cs typeface="Arial" pitchFamily="34" charset="-120"/>
              </a:rPr>
              <a:t>hears you</a:t>
            </a:r>
            <a:pPr indent="0" marL="0">
              <a:lnSpc>
                <a:spcPct val="122000"/>
              </a:lnSpc>
              <a:buNone/>
            </a:pPr>
            <a:r>
              <a:rPr lang="en-US" sz="1900" b="1" spc="-40" kern="0" dirty="0">
                <a:solidFill>
                  <a:srgbClr val="12141C"/>
                </a:solidFill>
                <a:latin typeface="Arial" pitchFamily="34" charset="0"/>
                <a:ea typeface="Arial" pitchFamily="34" charset="-122"/>
                <a:cs typeface="Arial" pitchFamily="34" charset="-120"/>
              </a:rPr>
              <a:t>, adapts </a:t>
            </a:r>
            <a:pPr indent="0" marL="0">
              <a:lnSpc>
                <a:spcPct val="122000"/>
              </a:lnSpc>
              <a:buNone/>
            </a:pPr>
            <a:r>
              <a:rPr lang="en-US" sz="1900" b="1" spc="-40" kern="0" dirty="0">
                <a:solidFill>
                  <a:srgbClr val="FF6A3D"/>
                </a:solidFill>
                <a:latin typeface="Arial" pitchFamily="34" charset="0"/>
                <a:ea typeface="Arial" pitchFamily="34" charset="-122"/>
                <a:cs typeface="Arial" pitchFamily="34" charset="-120"/>
              </a:rPr>
              <a:t>mid-conversation</a:t>
            </a:r>
            <a:pPr indent="0" marL="0">
              <a:lnSpc>
                <a:spcPct val="122000"/>
              </a:lnSpc>
              <a:buNone/>
            </a:pPr>
            <a:r>
              <a:rPr lang="en-US" sz="1900" b="1" spc="-40" kern="0" dirty="0">
                <a:solidFill>
                  <a:srgbClr val="12141C"/>
                </a:solidFill>
                <a:latin typeface="Arial" pitchFamily="34" charset="0"/>
                <a:ea typeface="Arial" pitchFamily="34" charset="-122"/>
                <a:cs typeface="Arial" pitchFamily="34" charset="-120"/>
              </a:rPr>
              <a:t>, and shows you </a:t>
            </a:r>
            <a:pPr indent="0" marL="0">
              <a:lnSpc>
                <a:spcPct val="122000"/>
              </a:lnSpc>
              <a:buNone/>
            </a:pPr>
            <a:r>
              <a:rPr lang="en-US" sz="1900" b="1" spc="-40" kern="0" dirty="0">
                <a:solidFill>
                  <a:srgbClr val="FF6A3D"/>
                </a:solidFill>
                <a:latin typeface="Arial" pitchFamily="34" charset="0"/>
                <a:ea typeface="Arial" pitchFamily="34" charset="-122"/>
                <a:cs typeface="Arial" pitchFamily="34" charset="-120"/>
              </a:rPr>
              <a:t>where</a:t>
            </a:r>
            <a:pPr indent="0" marL="0">
              <a:lnSpc>
                <a:spcPct val="122000"/>
              </a:lnSpc>
              <a:buNone/>
            </a:pPr>
            <a:r>
              <a:rPr lang="en-US" sz="1900" b="1" spc="-40" kern="0" dirty="0">
                <a:solidFill>
                  <a:srgbClr val="12141C"/>
                </a:solidFill>
                <a:latin typeface="Arial" pitchFamily="34" charset="0"/>
                <a:ea typeface="Arial" pitchFamily="34" charset="-122"/>
                <a:cs typeface="Arial" pitchFamily="34" charset="-120"/>
              </a:rPr>
              <a:t> you were vague.</a:t>
            </a:r>
            <a:endParaRPr lang="en-US" sz="1900" dirty="0"/>
          </a:p>
        </p:txBody>
      </p:sp>
      <p:sp>
        <p:nvSpPr>
          <p:cNvPr id="19" name="Text 17"/>
          <p:cNvSpPr/>
          <p:nvPr/>
        </p:nvSpPr>
        <p:spPr>
          <a:xfrm>
            <a:off x="7004304" y="3712464"/>
            <a:ext cx="4254703" cy="1042416"/>
          </a:xfrm>
          <a:prstGeom prst="rect">
            <a:avLst/>
          </a:prstGeom>
          <a:noFill/>
          <a:ln/>
        </p:spPr>
        <p:txBody>
          <a:bodyPr wrap="square" lIns="0" tIns="0" rIns="0" bIns="0" rtlCol="0" anchor="t"/>
          <a:lstStyle/>
          <a:p>
            <a:pPr indent="0" marL="0">
              <a:lnSpc>
                <a:spcPct val="118000"/>
              </a:lnSpc>
              <a:buNone/>
            </a:pPr>
            <a:r>
              <a:rPr lang="en-US" sz="1250" dirty="0">
                <a:solidFill>
                  <a:srgbClr val="3A3D4D"/>
                </a:solidFill>
                <a:latin typeface="Calibri" pitchFamily="34" charset="0"/>
                <a:ea typeface="Calibri" pitchFamily="34" charset="-122"/>
                <a:cs typeface="Calibri" pitchFamily="34" charset="-120"/>
              </a:rPr>
              <a:t>Every one of those three needs the answer to arrive as speech, in real time, inside a session that is still open. That is a systems problem, not a prompting problem — which is why almost nothing does it.</a:t>
            </a:r>
            <a:endParaRPr lang="en-US" sz="1250" dirty="0"/>
          </a:p>
        </p:txBody>
      </p:sp>
      <p:sp>
        <p:nvSpPr>
          <p:cNvPr id="20" name="Text 18"/>
          <p:cNvSpPr/>
          <p:nvPr/>
        </p:nvSpPr>
        <p:spPr>
          <a:xfrm>
            <a:off x="548640" y="5532120"/>
            <a:ext cx="11094415" cy="457200"/>
          </a:xfrm>
          <a:prstGeom prst="rect">
            <a:avLst/>
          </a:prstGeom>
          <a:noFill/>
          <a:ln/>
        </p:spPr>
        <p:txBody>
          <a:bodyPr wrap="square" lIns="0" tIns="0" rIns="0" bIns="0" rtlCol="0" anchor="ctr"/>
          <a:lstStyle/>
          <a:p>
            <a:pPr indent="0" marL="0">
              <a:buNone/>
            </a:pPr>
            <a:r>
              <a:rPr lang="en-US" sz="2000" i="1" spc="-40" kern="0" dirty="0">
                <a:solidFill>
                  <a:srgbClr val="3A3D4D"/>
                </a:solidFill>
                <a:latin typeface="Arial" pitchFamily="34" charset="0"/>
                <a:ea typeface="Arial" pitchFamily="34" charset="-122"/>
                <a:cs typeface="Arial" pitchFamily="34" charset="-120"/>
              </a:rPr>
              <a:t>So we built the thing that does: </a:t>
            </a:r>
            <a:pPr indent="0" marL="0">
              <a:buNone/>
            </a:pPr>
            <a:r>
              <a:rPr lang="en-US" sz="2000" b="1" i="1" spc="-40" kern="0" dirty="0">
                <a:solidFill>
                  <a:srgbClr val="12141C"/>
                </a:solidFill>
                <a:latin typeface="Arial" pitchFamily="34" charset="0"/>
                <a:ea typeface="Arial" pitchFamily="34" charset="-122"/>
                <a:cs typeface="Arial" pitchFamily="34" charset="-120"/>
              </a:rPr>
              <a:t>adaptive difficulty you can hear.</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37744"/>
          </a:xfrm>
          <a:prstGeom prst="rect">
            <a:avLst/>
          </a:prstGeom>
          <a:noFill/>
          <a:ln/>
        </p:spPr>
        <p:txBody>
          <a:bodyPr wrap="square" lIns="0" tIns="0" rIns="0" bIns="0" rtlCol="0" anchor="ctr"/>
          <a:lstStyle/>
          <a:p>
            <a:pPr indent="0" marL="0">
              <a:buNone/>
            </a:pPr>
            <a:r>
              <a:rPr lang="en-US" sz="1050" b="1" spc="160" kern="0" dirty="0">
                <a:solidFill>
                  <a:srgbClr val="FF6A3D"/>
                </a:solidFill>
                <a:latin typeface="Consolas" pitchFamily="34" charset="0"/>
                <a:ea typeface="Consolas" pitchFamily="34" charset="-122"/>
                <a:cs typeface="Consolas" pitchFamily="34" charset="-120"/>
              </a:rPr>
              <a:t>THE SOLUTION</a:t>
            </a:r>
            <a:endParaRPr lang="en-US" sz="1050" dirty="0"/>
          </a:p>
        </p:txBody>
      </p:sp>
      <p:sp>
        <p:nvSpPr>
          <p:cNvPr id="3" name="Text 1"/>
          <p:cNvSpPr/>
          <p:nvPr/>
        </p:nvSpPr>
        <p:spPr>
          <a:xfrm>
            <a:off x="548640" y="621792"/>
            <a:ext cx="11094415" cy="603504"/>
          </a:xfrm>
          <a:prstGeom prst="rect">
            <a:avLst/>
          </a:prstGeom>
          <a:noFill/>
          <a:ln/>
        </p:spPr>
        <p:txBody>
          <a:bodyPr wrap="square" lIns="0" tIns="0" rIns="0" bIns="0" rtlCol="0" anchor="ctr"/>
          <a:lstStyle/>
          <a:p>
            <a:pPr indent="0" marL="0">
              <a:buNone/>
            </a:pPr>
            <a:r>
              <a:rPr lang="en-US" sz="3300" b="1" spc="-60" kern="0" dirty="0">
                <a:solidFill>
                  <a:srgbClr val="12141C"/>
                </a:solidFill>
                <a:latin typeface="Arial" pitchFamily="34" charset="0"/>
                <a:ea typeface="Arial" pitchFamily="34" charset="-122"/>
                <a:cs typeface="Arial" pitchFamily="34" charset="-120"/>
              </a:rPr>
              <a:t>Upload. Talk. Watch your words get graded.</a:t>
            </a:r>
            <a:endParaRPr lang="en-US" sz="3300" dirty="0"/>
          </a:p>
        </p:txBody>
      </p:sp>
      <p:sp>
        <p:nvSpPr>
          <p:cNvPr id="4" name="Shape 2"/>
          <p:cNvSpPr/>
          <p:nvPr/>
        </p:nvSpPr>
        <p:spPr>
          <a:xfrm>
            <a:off x="566928" y="1463040"/>
            <a:ext cx="457200" cy="457200"/>
          </a:xfrm>
          <a:prstGeom prst="ellipse">
            <a:avLst/>
          </a:prstGeom>
          <a:solidFill>
            <a:srgbClr val="FF6A3D"/>
          </a:solidFill>
          <a:ln/>
        </p:spPr>
      </p:sp>
      <p:sp>
        <p:nvSpPr>
          <p:cNvPr id="5" name="Text 3"/>
          <p:cNvSpPr/>
          <p:nvPr/>
        </p:nvSpPr>
        <p:spPr>
          <a:xfrm>
            <a:off x="566928" y="14630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onsolas" pitchFamily="34" charset="0"/>
                <a:ea typeface="Consolas" pitchFamily="34" charset="-122"/>
                <a:cs typeface="Consolas" pitchFamily="34" charset="-120"/>
              </a:rPr>
              <a:t>1</a:t>
            </a:r>
            <a:endParaRPr lang="en-US" sz="1500" dirty="0"/>
          </a:p>
        </p:txBody>
      </p:sp>
      <p:sp>
        <p:nvSpPr>
          <p:cNvPr id="6" name="Text 4"/>
          <p:cNvSpPr/>
          <p:nvPr/>
        </p:nvSpPr>
        <p:spPr>
          <a:xfrm>
            <a:off x="566928" y="2011680"/>
            <a:ext cx="1944563" cy="292608"/>
          </a:xfrm>
          <a:prstGeom prst="rect">
            <a:avLst/>
          </a:prstGeom>
          <a:noFill/>
          <a:ln/>
        </p:spPr>
        <p:txBody>
          <a:bodyPr wrap="square" lIns="0" tIns="0" rIns="0" bIns="0" rtlCol="0" anchor="ctr"/>
          <a:lstStyle/>
          <a:p>
            <a:pPr indent="0" marL="0">
              <a:buNone/>
            </a:pPr>
            <a:r>
              <a:rPr lang="en-US" sz="1600" b="1" dirty="0">
                <a:solidFill>
                  <a:srgbClr val="12141C"/>
                </a:solidFill>
                <a:latin typeface="Arial" pitchFamily="34" charset="0"/>
                <a:ea typeface="Arial" pitchFamily="34" charset="-122"/>
                <a:cs typeface="Arial" pitchFamily="34" charset="-120"/>
              </a:rPr>
              <a:t>Upload</a:t>
            </a:r>
            <a:endParaRPr lang="en-US" sz="1600" dirty="0"/>
          </a:p>
        </p:txBody>
      </p:sp>
      <p:sp>
        <p:nvSpPr>
          <p:cNvPr id="7" name="Text 5"/>
          <p:cNvSpPr/>
          <p:nvPr/>
        </p:nvSpPr>
        <p:spPr>
          <a:xfrm>
            <a:off x="566928" y="2322576"/>
            <a:ext cx="1944563" cy="841248"/>
          </a:xfrm>
          <a:prstGeom prst="rect">
            <a:avLst/>
          </a:prstGeom>
          <a:noFill/>
          <a:ln/>
        </p:spPr>
        <p:txBody>
          <a:bodyPr wrap="square" lIns="0" tIns="0" rIns="0" bIns="0" rtlCol="0" anchor="t"/>
          <a:lstStyle/>
          <a:p>
            <a:pPr indent="0" marL="0">
              <a:lnSpc>
                <a:spcPct val="114000"/>
              </a:lnSpc>
              <a:buNone/>
            </a:pPr>
            <a:r>
              <a:rPr lang="en-US" sz="1150" dirty="0">
                <a:solidFill>
                  <a:srgbClr val="3A3D4D"/>
                </a:solidFill>
                <a:latin typeface="Calibri" pitchFamily="34" charset="0"/>
                <a:ea typeface="Calibri" pitchFamily="34" charset="-122"/>
                <a:cs typeface="Calibri" pitchFamily="34" charset="-120"/>
              </a:rPr>
              <a:t>Résumé PDF + the job description you're actually chasing.</a:t>
            </a:r>
            <a:endParaRPr lang="en-US" sz="1150" dirty="0"/>
          </a:p>
        </p:txBody>
      </p:sp>
      <p:sp>
        <p:nvSpPr>
          <p:cNvPr id="8" name="Shape 6"/>
          <p:cNvSpPr/>
          <p:nvPr/>
        </p:nvSpPr>
        <p:spPr>
          <a:xfrm>
            <a:off x="2548067" y="1691640"/>
            <a:ext cx="164592" cy="0"/>
          </a:xfrm>
          <a:prstGeom prst="line">
            <a:avLst/>
          </a:prstGeom>
          <a:noFill/>
          <a:ln w="15875">
            <a:solidFill>
              <a:srgbClr val="D8D4CE"/>
            </a:solidFill>
            <a:prstDash val="solid"/>
            <a:tailEnd type="triangle"/>
          </a:ln>
        </p:spPr>
      </p:sp>
      <p:sp>
        <p:nvSpPr>
          <p:cNvPr id="9" name="Shape 7"/>
          <p:cNvSpPr/>
          <p:nvPr/>
        </p:nvSpPr>
        <p:spPr>
          <a:xfrm>
            <a:off x="2785811" y="1463040"/>
            <a:ext cx="457200" cy="457200"/>
          </a:xfrm>
          <a:prstGeom prst="ellipse">
            <a:avLst/>
          </a:prstGeom>
          <a:solidFill>
            <a:srgbClr val="FF6A3D"/>
          </a:solidFill>
          <a:ln/>
        </p:spPr>
      </p:sp>
      <p:sp>
        <p:nvSpPr>
          <p:cNvPr id="10" name="Text 8"/>
          <p:cNvSpPr/>
          <p:nvPr/>
        </p:nvSpPr>
        <p:spPr>
          <a:xfrm>
            <a:off x="2785811" y="14630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onsolas" pitchFamily="34" charset="0"/>
                <a:ea typeface="Consolas" pitchFamily="34" charset="-122"/>
                <a:cs typeface="Consolas" pitchFamily="34" charset="-120"/>
              </a:rPr>
              <a:t>2</a:t>
            </a:r>
            <a:endParaRPr lang="en-US" sz="1500" dirty="0"/>
          </a:p>
        </p:txBody>
      </p:sp>
      <p:sp>
        <p:nvSpPr>
          <p:cNvPr id="11" name="Text 9"/>
          <p:cNvSpPr/>
          <p:nvPr/>
        </p:nvSpPr>
        <p:spPr>
          <a:xfrm>
            <a:off x="2785811" y="2011680"/>
            <a:ext cx="1944563" cy="292608"/>
          </a:xfrm>
          <a:prstGeom prst="rect">
            <a:avLst/>
          </a:prstGeom>
          <a:noFill/>
          <a:ln/>
        </p:spPr>
        <p:txBody>
          <a:bodyPr wrap="square" lIns="0" tIns="0" rIns="0" bIns="0" rtlCol="0" anchor="ctr"/>
          <a:lstStyle/>
          <a:p>
            <a:pPr indent="0" marL="0">
              <a:buNone/>
            </a:pPr>
            <a:r>
              <a:rPr lang="en-US" sz="1600" b="1" dirty="0">
                <a:solidFill>
                  <a:srgbClr val="12141C"/>
                </a:solidFill>
                <a:latin typeface="Arial" pitchFamily="34" charset="0"/>
                <a:ea typeface="Arial" pitchFamily="34" charset="-122"/>
                <a:cs typeface="Arial" pitchFamily="34" charset="-120"/>
              </a:rPr>
              <a:t>Choose</a:t>
            </a:r>
            <a:endParaRPr lang="en-US" sz="1600" dirty="0"/>
          </a:p>
        </p:txBody>
      </p:sp>
      <p:sp>
        <p:nvSpPr>
          <p:cNvPr id="12" name="Text 10"/>
          <p:cNvSpPr/>
          <p:nvPr/>
        </p:nvSpPr>
        <p:spPr>
          <a:xfrm>
            <a:off x="2785811" y="2322576"/>
            <a:ext cx="1944563" cy="841248"/>
          </a:xfrm>
          <a:prstGeom prst="rect">
            <a:avLst/>
          </a:prstGeom>
          <a:noFill/>
          <a:ln/>
        </p:spPr>
        <p:txBody>
          <a:bodyPr wrap="square" lIns="0" tIns="0" rIns="0" bIns="0" rtlCol="0" anchor="t"/>
          <a:lstStyle/>
          <a:p>
            <a:pPr indent="0" marL="0">
              <a:lnSpc>
                <a:spcPct val="114000"/>
              </a:lnSpc>
              <a:buNone/>
            </a:pPr>
            <a:r>
              <a:rPr lang="en-US" sz="1150" dirty="0">
                <a:solidFill>
                  <a:srgbClr val="3A3D4D"/>
                </a:solidFill>
                <a:latin typeface="Calibri" pitchFamily="34" charset="0"/>
                <a:ea typeface="Calibri" pitchFamily="34" charset="-122"/>
                <a:cs typeface="Calibri" pitchFamily="34" charset="-120"/>
              </a:rPr>
              <a:t>Tech Lead, Architect or PM — distinct rubrics and distinct voices.</a:t>
            </a:r>
            <a:endParaRPr lang="en-US" sz="1150" dirty="0"/>
          </a:p>
        </p:txBody>
      </p:sp>
      <p:sp>
        <p:nvSpPr>
          <p:cNvPr id="13" name="Shape 11"/>
          <p:cNvSpPr/>
          <p:nvPr/>
        </p:nvSpPr>
        <p:spPr>
          <a:xfrm>
            <a:off x="4766950" y="1691640"/>
            <a:ext cx="164592" cy="0"/>
          </a:xfrm>
          <a:prstGeom prst="line">
            <a:avLst/>
          </a:prstGeom>
          <a:noFill/>
          <a:ln w="15875">
            <a:solidFill>
              <a:srgbClr val="D8D4CE"/>
            </a:solidFill>
            <a:prstDash val="solid"/>
            <a:tailEnd type="triangle"/>
          </a:ln>
        </p:spPr>
      </p:sp>
      <p:sp>
        <p:nvSpPr>
          <p:cNvPr id="14" name="Shape 12"/>
          <p:cNvSpPr/>
          <p:nvPr/>
        </p:nvSpPr>
        <p:spPr>
          <a:xfrm>
            <a:off x="5004694" y="1463040"/>
            <a:ext cx="457200" cy="457200"/>
          </a:xfrm>
          <a:prstGeom prst="ellipse">
            <a:avLst/>
          </a:prstGeom>
          <a:solidFill>
            <a:srgbClr val="FF6A3D"/>
          </a:solidFill>
          <a:ln/>
        </p:spPr>
      </p:sp>
      <p:sp>
        <p:nvSpPr>
          <p:cNvPr id="15" name="Text 13"/>
          <p:cNvSpPr/>
          <p:nvPr/>
        </p:nvSpPr>
        <p:spPr>
          <a:xfrm>
            <a:off x="5004694" y="14630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onsolas" pitchFamily="34" charset="0"/>
                <a:ea typeface="Consolas" pitchFamily="34" charset="-122"/>
                <a:cs typeface="Consolas" pitchFamily="34" charset="-120"/>
              </a:rPr>
              <a:t>3</a:t>
            </a:r>
            <a:endParaRPr lang="en-US" sz="1500" dirty="0"/>
          </a:p>
        </p:txBody>
      </p:sp>
      <p:sp>
        <p:nvSpPr>
          <p:cNvPr id="16" name="Text 14"/>
          <p:cNvSpPr/>
          <p:nvPr/>
        </p:nvSpPr>
        <p:spPr>
          <a:xfrm>
            <a:off x="5004694" y="2011680"/>
            <a:ext cx="1944563" cy="292608"/>
          </a:xfrm>
          <a:prstGeom prst="rect">
            <a:avLst/>
          </a:prstGeom>
          <a:noFill/>
          <a:ln/>
        </p:spPr>
        <p:txBody>
          <a:bodyPr wrap="square" lIns="0" tIns="0" rIns="0" bIns="0" rtlCol="0" anchor="ctr"/>
          <a:lstStyle/>
          <a:p>
            <a:pPr indent="0" marL="0">
              <a:buNone/>
            </a:pPr>
            <a:r>
              <a:rPr lang="en-US" sz="1600" b="1" dirty="0">
                <a:solidFill>
                  <a:srgbClr val="12141C"/>
                </a:solidFill>
                <a:latin typeface="Arial" pitchFamily="34" charset="0"/>
                <a:ea typeface="Arial" pitchFamily="34" charset="-122"/>
                <a:cs typeface="Arial" pitchFamily="34" charset="-120"/>
              </a:rPr>
              <a:t>Talk</a:t>
            </a:r>
            <a:endParaRPr lang="en-US" sz="1600" dirty="0"/>
          </a:p>
        </p:txBody>
      </p:sp>
      <p:sp>
        <p:nvSpPr>
          <p:cNvPr id="17" name="Text 15"/>
          <p:cNvSpPr/>
          <p:nvPr/>
        </p:nvSpPr>
        <p:spPr>
          <a:xfrm>
            <a:off x="5004694" y="2322576"/>
            <a:ext cx="1944563" cy="841248"/>
          </a:xfrm>
          <a:prstGeom prst="rect">
            <a:avLst/>
          </a:prstGeom>
          <a:noFill/>
          <a:ln/>
        </p:spPr>
        <p:txBody>
          <a:bodyPr wrap="square" lIns="0" tIns="0" rIns="0" bIns="0" rtlCol="0" anchor="t"/>
          <a:lstStyle/>
          <a:p>
            <a:pPr indent="0" marL="0">
              <a:lnSpc>
                <a:spcPct val="114000"/>
              </a:lnSpc>
              <a:buNone/>
            </a:pPr>
            <a:r>
              <a:rPr lang="en-US" sz="1150" dirty="0">
                <a:solidFill>
                  <a:srgbClr val="3A3D4D"/>
                </a:solidFill>
                <a:latin typeface="Calibri" pitchFamily="34" charset="0"/>
                <a:ea typeface="Calibri" pitchFamily="34" charset="-122"/>
                <a:cs typeface="Calibri" pitchFamily="34" charset="-120"/>
              </a:rPr>
              <a:t>Native speech-to-speech. It asks about your projects, by name.</a:t>
            </a:r>
            <a:endParaRPr lang="en-US" sz="1150" dirty="0"/>
          </a:p>
        </p:txBody>
      </p:sp>
      <p:sp>
        <p:nvSpPr>
          <p:cNvPr id="18" name="Shape 16"/>
          <p:cNvSpPr/>
          <p:nvPr/>
        </p:nvSpPr>
        <p:spPr>
          <a:xfrm>
            <a:off x="6985833" y="1691640"/>
            <a:ext cx="164592" cy="0"/>
          </a:xfrm>
          <a:prstGeom prst="line">
            <a:avLst/>
          </a:prstGeom>
          <a:noFill/>
          <a:ln w="15875">
            <a:solidFill>
              <a:srgbClr val="D8D4CE"/>
            </a:solidFill>
            <a:prstDash val="solid"/>
            <a:tailEnd type="triangle"/>
          </a:ln>
        </p:spPr>
      </p:sp>
      <p:sp>
        <p:nvSpPr>
          <p:cNvPr id="19" name="Shape 17"/>
          <p:cNvSpPr/>
          <p:nvPr/>
        </p:nvSpPr>
        <p:spPr>
          <a:xfrm>
            <a:off x="7223577" y="1463040"/>
            <a:ext cx="457200" cy="457200"/>
          </a:xfrm>
          <a:prstGeom prst="ellipse">
            <a:avLst/>
          </a:prstGeom>
          <a:solidFill>
            <a:srgbClr val="FF6A3D"/>
          </a:solidFill>
          <a:ln/>
        </p:spPr>
      </p:sp>
      <p:sp>
        <p:nvSpPr>
          <p:cNvPr id="20" name="Text 18"/>
          <p:cNvSpPr/>
          <p:nvPr/>
        </p:nvSpPr>
        <p:spPr>
          <a:xfrm>
            <a:off x="7223577" y="14630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onsolas" pitchFamily="34" charset="0"/>
                <a:ea typeface="Consolas" pitchFamily="34" charset="-122"/>
                <a:cs typeface="Consolas" pitchFamily="34" charset="-120"/>
              </a:rPr>
              <a:t>4</a:t>
            </a:r>
            <a:endParaRPr lang="en-US" sz="1500" dirty="0"/>
          </a:p>
        </p:txBody>
      </p:sp>
      <p:sp>
        <p:nvSpPr>
          <p:cNvPr id="21" name="Text 19"/>
          <p:cNvSpPr/>
          <p:nvPr/>
        </p:nvSpPr>
        <p:spPr>
          <a:xfrm>
            <a:off x="7223577" y="2011680"/>
            <a:ext cx="1944563" cy="292608"/>
          </a:xfrm>
          <a:prstGeom prst="rect">
            <a:avLst/>
          </a:prstGeom>
          <a:noFill/>
          <a:ln/>
        </p:spPr>
        <p:txBody>
          <a:bodyPr wrap="square" lIns="0" tIns="0" rIns="0" bIns="0" rtlCol="0" anchor="ctr"/>
          <a:lstStyle/>
          <a:p>
            <a:pPr indent="0" marL="0">
              <a:buNone/>
            </a:pPr>
            <a:r>
              <a:rPr lang="en-US" sz="1600" b="1" dirty="0">
                <a:solidFill>
                  <a:srgbClr val="12141C"/>
                </a:solidFill>
                <a:latin typeface="Arial" pitchFamily="34" charset="0"/>
                <a:ea typeface="Arial" pitchFamily="34" charset="-122"/>
                <a:cs typeface="Arial" pitchFamily="34" charset="-120"/>
              </a:rPr>
              <a:t>Light up</a:t>
            </a:r>
            <a:endParaRPr lang="en-US" sz="1600" dirty="0"/>
          </a:p>
        </p:txBody>
      </p:sp>
      <p:sp>
        <p:nvSpPr>
          <p:cNvPr id="22" name="Text 20"/>
          <p:cNvSpPr/>
          <p:nvPr/>
        </p:nvSpPr>
        <p:spPr>
          <a:xfrm>
            <a:off x="7223577" y="2322576"/>
            <a:ext cx="1944563" cy="841248"/>
          </a:xfrm>
          <a:prstGeom prst="rect">
            <a:avLst/>
          </a:prstGeom>
          <a:noFill/>
          <a:ln/>
        </p:spPr>
        <p:txBody>
          <a:bodyPr wrap="square" lIns="0" tIns="0" rIns="0" bIns="0" rtlCol="0" anchor="t"/>
          <a:lstStyle/>
          <a:p>
            <a:pPr indent="0" marL="0">
              <a:lnSpc>
                <a:spcPct val="114000"/>
              </a:lnSpc>
              <a:buNone/>
            </a:pPr>
            <a:r>
              <a:rPr lang="en-US" sz="1150" dirty="0">
                <a:solidFill>
                  <a:srgbClr val="3A3D4D"/>
                </a:solidFill>
                <a:latin typeface="Calibri" pitchFamily="34" charset="0"/>
                <a:ea typeface="Calibri" pitchFamily="34" charset="-122"/>
                <a:cs typeface="Calibri" pitchFamily="34" charset="-120"/>
              </a:rPr>
              <a:t>Your transcript is graded span by span, in four verdicts.</a:t>
            </a:r>
            <a:endParaRPr lang="en-US" sz="1150" dirty="0"/>
          </a:p>
        </p:txBody>
      </p:sp>
      <p:sp>
        <p:nvSpPr>
          <p:cNvPr id="23" name="Shape 21"/>
          <p:cNvSpPr/>
          <p:nvPr/>
        </p:nvSpPr>
        <p:spPr>
          <a:xfrm>
            <a:off x="9204716" y="1691640"/>
            <a:ext cx="164592" cy="0"/>
          </a:xfrm>
          <a:prstGeom prst="line">
            <a:avLst/>
          </a:prstGeom>
          <a:noFill/>
          <a:ln w="15875">
            <a:solidFill>
              <a:srgbClr val="D8D4CE"/>
            </a:solidFill>
            <a:prstDash val="solid"/>
            <a:tailEnd type="triangle"/>
          </a:ln>
        </p:spPr>
      </p:sp>
      <p:sp>
        <p:nvSpPr>
          <p:cNvPr id="24" name="Shape 22"/>
          <p:cNvSpPr/>
          <p:nvPr/>
        </p:nvSpPr>
        <p:spPr>
          <a:xfrm>
            <a:off x="9442460" y="1463040"/>
            <a:ext cx="457200" cy="457200"/>
          </a:xfrm>
          <a:prstGeom prst="ellipse">
            <a:avLst/>
          </a:prstGeom>
          <a:solidFill>
            <a:srgbClr val="FF6A3D"/>
          </a:solidFill>
          <a:ln/>
        </p:spPr>
      </p:sp>
      <p:sp>
        <p:nvSpPr>
          <p:cNvPr id="25" name="Text 23"/>
          <p:cNvSpPr/>
          <p:nvPr/>
        </p:nvSpPr>
        <p:spPr>
          <a:xfrm>
            <a:off x="9442460" y="14630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onsolas" pitchFamily="34" charset="0"/>
                <a:ea typeface="Consolas" pitchFamily="34" charset="-122"/>
                <a:cs typeface="Consolas" pitchFamily="34" charset="-120"/>
              </a:rPr>
              <a:t>5</a:t>
            </a:r>
            <a:endParaRPr lang="en-US" sz="1500" dirty="0"/>
          </a:p>
        </p:txBody>
      </p:sp>
      <p:sp>
        <p:nvSpPr>
          <p:cNvPr id="26" name="Text 24"/>
          <p:cNvSpPr/>
          <p:nvPr/>
        </p:nvSpPr>
        <p:spPr>
          <a:xfrm>
            <a:off x="9442460" y="2011680"/>
            <a:ext cx="1944563" cy="292608"/>
          </a:xfrm>
          <a:prstGeom prst="rect">
            <a:avLst/>
          </a:prstGeom>
          <a:noFill/>
          <a:ln/>
        </p:spPr>
        <p:txBody>
          <a:bodyPr wrap="square" lIns="0" tIns="0" rIns="0" bIns="0" rtlCol="0" anchor="ctr"/>
          <a:lstStyle/>
          <a:p>
            <a:pPr indent="0" marL="0">
              <a:buNone/>
            </a:pPr>
            <a:r>
              <a:rPr lang="en-US" sz="1600" b="1" dirty="0">
                <a:solidFill>
                  <a:srgbClr val="12141C"/>
                </a:solidFill>
                <a:latin typeface="Arial" pitchFamily="34" charset="0"/>
                <a:ea typeface="Arial" pitchFamily="34" charset="-122"/>
                <a:cs typeface="Arial" pitchFamily="34" charset="-120"/>
              </a:rPr>
              <a:t>Improve</a:t>
            </a:r>
            <a:endParaRPr lang="en-US" sz="1600" dirty="0"/>
          </a:p>
        </p:txBody>
      </p:sp>
      <p:sp>
        <p:nvSpPr>
          <p:cNvPr id="27" name="Text 25"/>
          <p:cNvSpPr/>
          <p:nvPr/>
        </p:nvSpPr>
        <p:spPr>
          <a:xfrm>
            <a:off x="9442460" y="2322576"/>
            <a:ext cx="1944563" cy="841248"/>
          </a:xfrm>
          <a:prstGeom prst="rect">
            <a:avLst/>
          </a:prstGeom>
          <a:noFill/>
          <a:ln/>
        </p:spPr>
        <p:txBody>
          <a:bodyPr wrap="square" lIns="0" tIns="0" rIns="0" bIns="0" rtlCol="0" anchor="t"/>
          <a:lstStyle/>
          <a:p>
            <a:pPr indent="0" marL="0">
              <a:lnSpc>
                <a:spcPct val="114000"/>
              </a:lnSpc>
              <a:buNone/>
            </a:pPr>
            <a:r>
              <a:rPr lang="en-US" sz="1150" dirty="0">
                <a:solidFill>
                  <a:srgbClr val="3A3D4D"/>
                </a:solidFill>
                <a:latin typeface="Calibri" pitchFamily="34" charset="0"/>
                <a:ea typeface="Calibri" pitchFamily="34" charset="-122"/>
                <a:cs typeface="Calibri" pitchFamily="34" charset="-120"/>
              </a:rPr>
              <a:t>Report, then a day-by-day roadmap with verified links.</a:t>
            </a:r>
            <a:endParaRPr lang="en-US" sz="1150" dirty="0"/>
          </a:p>
        </p:txBody>
      </p:sp>
      <p:sp>
        <p:nvSpPr>
          <p:cNvPr id="28" name="Text 26"/>
          <p:cNvSpPr/>
          <p:nvPr/>
        </p:nvSpPr>
        <p:spPr>
          <a:xfrm>
            <a:off x="548640" y="3401568"/>
            <a:ext cx="11094415" cy="237744"/>
          </a:xfrm>
          <a:prstGeom prst="rect">
            <a:avLst/>
          </a:prstGeom>
          <a:noFill/>
          <a:ln/>
        </p:spPr>
        <p:txBody>
          <a:bodyPr wrap="square" lIns="0" tIns="0" rIns="0" bIns="0" rtlCol="0" anchor="ctr"/>
          <a:lstStyle/>
          <a:p>
            <a:pPr indent="0" marL="0">
              <a:buNone/>
            </a:pPr>
            <a:r>
              <a:rPr lang="en-US" sz="950" b="1" spc="140" kern="0" dirty="0">
                <a:solidFill>
                  <a:srgbClr val="6E7285"/>
                </a:solidFill>
                <a:latin typeface="Consolas" pitchFamily="34" charset="0"/>
                <a:ea typeface="Consolas" pitchFamily="34" charset="-122"/>
                <a:cs typeface="Consolas" pitchFamily="34" charset="-120"/>
              </a:rPr>
              <a:t>FOUR VERDICTS, ANCHORED TO YOUR ACTUAL WORDS</a:t>
            </a:r>
            <a:endParaRPr lang="en-US" sz="950" dirty="0"/>
          </a:p>
        </p:txBody>
      </p:sp>
      <p:sp>
        <p:nvSpPr>
          <p:cNvPr id="29" name="Shape 27"/>
          <p:cNvSpPr/>
          <p:nvPr/>
        </p:nvSpPr>
        <p:spPr>
          <a:xfrm>
            <a:off x="548640" y="3712464"/>
            <a:ext cx="2572436" cy="566928"/>
          </a:xfrm>
          <a:prstGeom prst="roundRect">
            <a:avLst>
              <a:gd name="adj" fmla="val 12903"/>
            </a:avLst>
          </a:prstGeom>
          <a:solidFill>
            <a:srgbClr val="D8F0E4"/>
          </a:solidFill>
          <a:ln/>
        </p:spPr>
      </p:sp>
      <p:sp>
        <p:nvSpPr>
          <p:cNvPr id="30" name="Text 28"/>
          <p:cNvSpPr/>
          <p:nvPr/>
        </p:nvSpPr>
        <p:spPr>
          <a:xfrm>
            <a:off x="694944" y="3767328"/>
            <a:ext cx="2316404" cy="256032"/>
          </a:xfrm>
          <a:prstGeom prst="rect">
            <a:avLst/>
          </a:prstGeom>
          <a:noFill/>
          <a:ln/>
        </p:spPr>
        <p:txBody>
          <a:bodyPr wrap="square" lIns="0" tIns="0" rIns="0" bIns="0" rtlCol="0" anchor="ctr"/>
          <a:lstStyle/>
          <a:p>
            <a:pPr indent="0" marL="0">
              <a:buNone/>
            </a:pPr>
            <a:r>
              <a:rPr lang="en-US" sz="1200" b="1" dirty="0">
                <a:solidFill>
                  <a:srgbClr val="1B7A56"/>
                </a:solidFill>
                <a:latin typeface="Consolas" pitchFamily="34" charset="0"/>
                <a:ea typeface="Consolas" pitchFamily="34" charset="-122"/>
                <a:cs typeface="Consolas" pitchFamily="34" charset="-120"/>
              </a:rPr>
              <a:t>validated</a:t>
            </a:r>
            <a:endParaRPr lang="en-US" sz="1200" dirty="0"/>
          </a:p>
        </p:txBody>
      </p:sp>
      <p:sp>
        <p:nvSpPr>
          <p:cNvPr id="31" name="Text 29"/>
          <p:cNvSpPr/>
          <p:nvPr/>
        </p:nvSpPr>
        <p:spPr>
          <a:xfrm>
            <a:off x="694944" y="4005072"/>
            <a:ext cx="2316404" cy="219456"/>
          </a:xfrm>
          <a:prstGeom prst="rect">
            <a:avLst/>
          </a:prstGeom>
          <a:noFill/>
          <a:ln/>
        </p:spPr>
        <p:txBody>
          <a:bodyPr wrap="square" lIns="0" tIns="0" rIns="0" bIns="0" rtlCol="0" anchor="ctr"/>
          <a:lstStyle/>
          <a:p>
            <a:pPr indent="0" marL="0">
              <a:buNone/>
            </a:pPr>
            <a:r>
              <a:rPr lang="en-US" sz="1050" dirty="0">
                <a:solidFill>
                  <a:srgbClr val="1B7A56"/>
                </a:solidFill>
                <a:latin typeface="Calibri" pitchFamily="34" charset="0"/>
                <a:ea typeface="Calibri" pitchFamily="34" charset="-122"/>
                <a:cs typeface="Calibri" pitchFamily="34" charset="-120"/>
              </a:rPr>
              <a:t>backed and correct</a:t>
            </a:r>
            <a:endParaRPr lang="en-US" sz="1050" dirty="0"/>
          </a:p>
        </p:txBody>
      </p:sp>
      <p:sp>
        <p:nvSpPr>
          <p:cNvPr id="32" name="Shape 30"/>
          <p:cNvSpPr/>
          <p:nvPr/>
        </p:nvSpPr>
        <p:spPr>
          <a:xfrm>
            <a:off x="3322244" y="3712464"/>
            <a:ext cx="2572436" cy="566928"/>
          </a:xfrm>
          <a:prstGeom prst="roundRect">
            <a:avLst>
              <a:gd name="adj" fmla="val 12903"/>
            </a:avLst>
          </a:prstGeom>
          <a:solidFill>
            <a:srgbClr val="F9EBCF"/>
          </a:solidFill>
          <a:ln/>
        </p:spPr>
      </p:sp>
      <p:sp>
        <p:nvSpPr>
          <p:cNvPr id="33" name="Text 31"/>
          <p:cNvSpPr/>
          <p:nvPr/>
        </p:nvSpPr>
        <p:spPr>
          <a:xfrm>
            <a:off x="3468548" y="3767328"/>
            <a:ext cx="2316404" cy="256032"/>
          </a:xfrm>
          <a:prstGeom prst="rect">
            <a:avLst/>
          </a:prstGeom>
          <a:noFill/>
          <a:ln/>
        </p:spPr>
        <p:txBody>
          <a:bodyPr wrap="square" lIns="0" tIns="0" rIns="0" bIns="0" rtlCol="0" anchor="ctr"/>
          <a:lstStyle/>
          <a:p>
            <a:pPr indent="0" marL="0">
              <a:buNone/>
            </a:pPr>
            <a:r>
              <a:rPr lang="en-US" sz="1200" b="1" dirty="0">
                <a:solidFill>
                  <a:srgbClr val="8A5D08"/>
                </a:solidFill>
                <a:latin typeface="Consolas" pitchFamily="34" charset="0"/>
                <a:ea typeface="Consolas" pitchFamily="34" charset="-122"/>
                <a:cs typeface="Consolas" pitchFamily="34" charset="-120"/>
              </a:rPr>
              <a:t>incomplete</a:t>
            </a:r>
            <a:endParaRPr lang="en-US" sz="1200" dirty="0"/>
          </a:p>
        </p:txBody>
      </p:sp>
      <p:sp>
        <p:nvSpPr>
          <p:cNvPr id="34" name="Text 32"/>
          <p:cNvSpPr/>
          <p:nvPr/>
        </p:nvSpPr>
        <p:spPr>
          <a:xfrm>
            <a:off x="3468548" y="4005072"/>
            <a:ext cx="2316404" cy="219456"/>
          </a:xfrm>
          <a:prstGeom prst="rect">
            <a:avLst/>
          </a:prstGeom>
          <a:noFill/>
          <a:ln/>
        </p:spPr>
        <p:txBody>
          <a:bodyPr wrap="square" lIns="0" tIns="0" rIns="0" bIns="0" rtlCol="0" anchor="ctr"/>
          <a:lstStyle/>
          <a:p>
            <a:pPr indent="0" marL="0">
              <a:buNone/>
            </a:pPr>
            <a:r>
              <a:rPr lang="en-US" sz="1050" dirty="0">
                <a:solidFill>
                  <a:srgbClr val="8A5D08"/>
                </a:solidFill>
                <a:latin typeface="Calibri" pitchFamily="34" charset="0"/>
                <a:ea typeface="Calibri" pitchFamily="34" charset="-122"/>
                <a:cs typeface="Calibri" pitchFamily="34" charset="-120"/>
              </a:rPr>
              <a:t>true but thin</a:t>
            </a:r>
            <a:endParaRPr lang="en-US" sz="1050" dirty="0"/>
          </a:p>
        </p:txBody>
      </p:sp>
      <p:sp>
        <p:nvSpPr>
          <p:cNvPr id="35" name="Shape 33"/>
          <p:cNvSpPr/>
          <p:nvPr/>
        </p:nvSpPr>
        <p:spPr>
          <a:xfrm>
            <a:off x="6095848" y="3712464"/>
            <a:ext cx="2572436" cy="566928"/>
          </a:xfrm>
          <a:prstGeom prst="roundRect">
            <a:avLst>
              <a:gd name="adj" fmla="val 12903"/>
            </a:avLst>
          </a:prstGeom>
          <a:solidFill>
            <a:srgbClr val="DCEBF7"/>
          </a:solidFill>
          <a:ln/>
        </p:spPr>
      </p:sp>
      <p:sp>
        <p:nvSpPr>
          <p:cNvPr id="36" name="Text 34"/>
          <p:cNvSpPr/>
          <p:nvPr/>
        </p:nvSpPr>
        <p:spPr>
          <a:xfrm>
            <a:off x="6242152" y="3767328"/>
            <a:ext cx="2316404" cy="256032"/>
          </a:xfrm>
          <a:prstGeom prst="rect">
            <a:avLst/>
          </a:prstGeom>
          <a:noFill/>
          <a:ln/>
        </p:spPr>
        <p:txBody>
          <a:bodyPr wrap="square" lIns="0" tIns="0" rIns="0" bIns="0" rtlCol="0" anchor="ctr"/>
          <a:lstStyle/>
          <a:p>
            <a:pPr indent="0" marL="0">
              <a:buNone/>
            </a:pPr>
            <a:r>
              <a:rPr lang="en-US" sz="1200" b="1" dirty="0">
                <a:solidFill>
                  <a:srgbClr val="24618C"/>
                </a:solidFill>
                <a:latin typeface="Consolas" pitchFamily="34" charset="0"/>
                <a:ea typeface="Consolas" pitchFamily="34" charset="-122"/>
                <a:cs typeface="Consolas" pitchFamily="34" charset="-120"/>
              </a:rPr>
              <a:t>unsupported</a:t>
            </a:r>
            <a:endParaRPr lang="en-US" sz="1200" dirty="0"/>
          </a:p>
        </p:txBody>
      </p:sp>
      <p:sp>
        <p:nvSpPr>
          <p:cNvPr id="37" name="Text 35"/>
          <p:cNvSpPr/>
          <p:nvPr/>
        </p:nvSpPr>
        <p:spPr>
          <a:xfrm>
            <a:off x="6242152" y="4005072"/>
            <a:ext cx="2316404" cy="219456"/>
          </a:xfrm>
          <a:prstGeom prst="rect">
            <a:avLst/>
          </a:prstGeom>
          <a:noFill/>
          <a:ln/>
        </p:spPr>
        <p:txBody>
          <a:bodyPr wrap="square" lIns="0" tIns="0" rIns="0" bIns="0" rtlCol="0" anchor="ctr"/>
          <a:lstStyle/>
          <a:p>
            <a:pPr indent="0" marL="0">
              <a:buNone/>
            </a:pPr>
            <a:r>
              <a:rPr lang="en-US" sz="1050" dirty="0">
                <a:solidFill>
                  <a:srgbClr val="24618C"/>
                </a:solidFill>
                <a:latin typeface="Calibri" pitchFamily="34" charset="0"/>
                <a:ea typeface="Calibri" pitchFamily="34" charset="-122"/>
                <a:cs typeface="Calibri" pitchFamily="34" charset="-120"/>
              </a:rPr>
              <a:t>claimed, not evidenced</a:t>
            </a:r>
            <a:endParaRPr lang="en-US" sz="1050" dirty="0"/>
          </a:p>
        </p:txBody>
      </p:sp>
      <p:sp>
        <p:nvSpPr>
          <p:cNvPr id="38" name="Shape 36"/>
          <p:cNvSpPr/>
          <p:nvPr/>
        </p:nvSpPr>
        <p:spPr>
          <a:xfrm>
            <a:off x="8869451" y="3712464"/>
            <a:ext cx="2572436" cy="566928"/>
          </a:xfrm>
          <a:prstGeom prst="roundRect">
            <a:avLst>
              <a:gd name="adj" fmla="val 12903"/>
            </a:avLst>
          </a:prstGeom>
          <a:solidFill>
            <a:srgbClr val="F7DEDD"/>
          </a:solidFill>
          <a:ln/>
        </p:spPr>
      </p:sp>
      <p:sp>
        <p:nvSpPr>
          <p:cNvPr id="39" name="Text 37"/>
          <p:cNvSpPr/>
          <p:nvPr/>
        </p:nvSpPr>
        <p:spPr>
          <a:xfrm>
            <a:off x="9015755" y="3767328"/>
            <a:ext cx="2316404" cy="256032"/>
          </a:xfrm>
          <a:prstGeom prst="rect">
            <a:avLst/>
          </a:prstGeom>
          <a:noFill/>
          <a:ln/>
        </p:spPr>
        <p:txBody>
          <a:bodyPr wrap="square" lIns="0" tIns="0" rIns="0" bIns="0" rtlCol="0" anchor="ctr"/>
          <a:lstStyle/>
          <a:p>
            <a:pPr indent="0" marL="0">
              <a:buNone/>
            </a:pPr>
            <a:r>
              <a:rPr lang="en-US" sz="1200" b="1" dirty="0">
                <a:solidFill>
                  <a:srgbClr val="A63A35"/>
                </a:solidFill>
                <a:latin typeface="Consolas" pitchFamily="34" charset="0"/>
                <a:ea typeface="Consolas" pitchFamily="34" charset="-122"/>
                <a:cs typeface="Consolas" pitchFamily="34" charset="-120"/>
              </a:rPr>
              <a:t>incorrect</a:t>
            </a:r>
            <a:endParaRPr lang="en-US" sz="1200" dirty="0"/>
          </a:p>
        </p:txBody>
      </p:sp>
      <p:sp>
        <p:nvSpPr>
          <p:cNvPr id="40" name="Text 38"/>
          <p:cNvSpPr/>
          <p:nvPr/>
        </p:nvSpPr>
        <p:spPr>
          <a:xfrm>
            <a:off x="9015755" y="4005072"/>
            <a:ext cx="2316404" cy="219456"/>
          </a:xfrm>
          <a:prstGeom prst="rect">
            <a:avLst/>
          </a:prstGeom>
          <a:noFill/>
          <a:ln/>
        </p:spPr>
        <p:txBody>
          <a:bodyPr wrap="square" lIns="0" tIns="0" rIns="0" bIns="0" rtlCol="0" anchor="ctr"/>
          <a:lstStyle/>
          <a:p>
            <a:pPr indent="0" marL="0">
              <a:buNone/>
            </a:pPr>
            <a:r>
              <a:rPr lang="en-US" sz="1050" dirty="0">
                <a:solidFill>
                  <a:srgbClr val="A63A35"/>
                </a:solidFill>
                <a:latin typeface="Calibri" pitchFamily="34" charset="0"/>
                <a:ea typeface="Calibri" pitchFamily="34" charset="-122"/>
                <a:cs typeface="Calibri" pitchFamily="34" charset="-120"/>
              </a:rPr>
              <a:t>confidently wrong</a:t>
            </a:r>
            <a:endParaRPr lang="en-US" sz="1050" dirty="0"/>
          </a:p>
        </p:txBody>
      </p:sp>
      <p:sp>
        <p:nvSpPr>
          <p:cNvPr id="41" name="Shape 39"/>
          <p:cNvSpPr/>
          <p:nvPr/>
        </p:nvSpPr>
        <p:spPr>
          <a:xfrm>
            <a:off x="548640" y="4590288"/>
            <a:ext cx="11094415" cy="1481328"/>
          </a:xfrm>
          <a:prstGeom prst="roundRect">
            <a:avLst>
              <a:gd name="adj" fmla="val 2469"/>
            </a:avLst>
          </a:prstGeom>
          <a:solidFill>
            <a:srgbClr val="FAF9F8"/>
          </a:solidFill>
          <a:ln w="12700">
            <a:solidFill>
              <a:srgbClr val="E6E3DF"/>
            </a:solidFill>
            <a:prstDash val="solid"/>
          </a:ln>
          <a:effectLst>
            <a:outerShdw sx="100000" sy="100000" kx="0" ky="0" algn="bl" rotWithShape="0" blurRad="127000" dist="25400" dir="5400000">
              <a:srgbClr val="9C9890">
                <a:alpha val="16000"/>
              </a:srgbClr>
            </a:outerShdw>
          </a:effectLst>
        </p:spPr>
      </p:sp>
      <p:sp>
        <p:nvSpPr>
          <p:cNvPr id="42" name="Text 40"/>
          <p:cNvSpPr/>
          <p:nvPr/>
        </p:nvSpPr>
        <p:spPr>
          <a:xfrm>
            <a:off x="859536" y="4736592"/>
            <a:ext cx="10472623" cy="274320"/>
          </a:xfrm>
          <a:prstGeom prst="rect">
            <a:avLst/>
          </a:prstGeom>
          <a:noFill/>
          <a:ln/>
        </p:spPr>
        <p:txBody>
          <a:bodyPr wrap="square" lIns="0" tIns="0" rIns="0" bIns="0" rtlCol="0" anchor="ctr"/>
          <a:lstStyle/>
          <a:p>
            <a:pPr indent="0" marL="0">
              <a:buNone/>
            </a:pPr>
            <a:r>
              <a:rPr lang="en-US" sz="1200" i="1" dirty="0">
                <a:solidFill>
                  <a:srgbClr val="3A3D4D"/>
                </a:solidFill>
                <a:latin typeface="Calibri" pitchFamily="34" charset="0"/>
                <a:ea typeface="Calibri" pitchFamily="34" charset="-122"/>
                <a:cs typeface="Calibri" pitchFamily="34" charset="-120"/>
              </a:rPr>
              <a:t>Same résumé, same JD, three personas — the opening questions genuinely diverge:</a:t>
            </a:r>
            <a:endParaRPr lang="en-US" sz="1200" dirty="0"/>
          </a:p>
        </p:txBody>
      </p:sp>
      <p:sp>
        <p:nvSpPr>
          <p:cNvPr id="43" name="Text 41"/>
          <p:cNvSpPr/>
          <p:nvPr/>
        </p:nvSpPr>
        <p:spPr>
          <a:xfrm>
            <a:off x="859536" y="5047488"/>
            <a:ext cx="3271418" cy="219456"/>
          </a:xfrm>
          <a:prstGeom prst="rect">
            <a:avLst/>
          </a:prstGeom>
          <a:noFill/>
          <a:ln/>
        </p:spPr>
        <p:txBody>
          <a:bodyPr wrap="square" lIns="0" tIns="0" rIns="0" bIns="0" rtlCol="0" anchor="ctr"/>
          <a:lstStyle/>
          <a:p>
            <a:pPr indent="0" marL="0">
              <a:buNone/>
            </a:pPr>
            <a:r>
              <a:rPr lang="en-US" sz="950" b="1" spc="120" kern="0" dirty="0">
                <a:solidFill>
                  <a:srgbClr val="FF6A3D"/>
                </a:solidFill>
                <a:latin typeface="Consolas" pitchFamily="34" charset="0"/>
                <a:ea typeface="Consolas" pitchFamily="34" charset="-122"/>
                <a:cs typeface="Consolas" pitchFamily="34" charset="-120"/>
              </a:rPr>
              <a:t>TECH LEAD</a:t>
            </a:r>
            <a:pPr indent="0" marL="0">
              <a:buNone/>
            </a:pPr>
            <a:r>
              <a:rPr lang="en-US" sz="900" dirty="0">
                <a:solidFill>
                  <a:srgbClr val="6E7285"/>
                </a:solidFill>
                <a:latin typeface="Consolas" pitchFamily="34" charset="0"/>
                <a:ea typeface="Consolas" pitchFamily="34" charset="-122"/>
                <a:cs typeface="Consolas" pitchFamily="34" charset="-120"/>
              </a:rPr>
              <a:t>   voice: Charon</a:t>
            </a:r>
            <a:endParaRPr lang="en-US" sz="950" dirty="0"/>
          </a:p>
        </p:txBody>
      </p:sp>
      <p:sp>
        <p:nvSpPr>
          <p:cNvPr id="44" name="Text 42"/>
          <p:cNvSpPr/>
          <p:nvPr/>
        </p:nvSpPr>
        <p:spPr>
          <a:xfrm>
            <a:off x="859536" y="5285232"/>
            <a:ext cx="3271418" cy="676656"/>
          </a:xfrm>
          <a:prstGeom prst="rect">
            <a:avLst/>
          </a:prstGeom>
          <a:noFill/>
          <a:ln/>
        </p:spPr>
        <p:txBody>
          <a:bodyPr wrap="square" lIns="0" tIns="0" rIns="0" bIns="0" rtlCol="0" anchor="t"/>
          <a:lstStyle/>
          <a:p>
            <a:pPr indent="0" marL="0">
              <a:lnSpc>
                <a:spcPct val="110000"/>
              </a:lnSpc>
              <a:buNone/>
            </a:pPr>
            <a:r>
              <a:rPr lang="en-US" sz="1050" dirty="0">
                <a:solidFill>
                  <a:srgbClr val="3A3D4D"/>
                </a:solidFill>
                <a:latin typeface="Calibri" pitchFamily="34" charset="0"/>
                <a:ea typeface="Calibri" pitchFamily="34" charset="-122"/>
                <a:cs typeface="Calibri" pitchFamily="34" charset="-120"/>
              </a:rPr>
              <a:t>“…how did you structure the worker pool to safely handle billing retries without duplicate charges?”</a:t>
            </a:r>
            <a:endParaRPr lang="en-US" sz="1050" dirty="0"/>
          </a:p>
        </p:txBody>
      </p:sp>
      <p:sp>
        <p:nvSpPr>
          <p:cNvPr id="45" name="Text 43"/>
          <p:cNvSpPr/>
          <p:nvPr/>
        </p:nvSpPr>
        <p:spPr>
          <a:xfrm>
            <a:off x="4350410" y="5047488"/>
            <a:ext cx="3271418" cy="219456"/>
          </a:xfrm>
          <a:prstGeom prst="rect">
            <a:avLst/>
          </a:prstGeom>
          <a:noFill/>
          <a:ln/>
        </p:spPr>
        <p:txBody>
          <a:bodyPr wrap="square" lIns="0" tIns="0" rIns="0" bIns="0" rtlCol="0" anchor="ctr"/>
          <a:lstStyle/>
          <a:p>
            <a:pPr indent="0" marL="0">
              <a:buNone/>
            </a:pPr>
            <a:r>
              <a:rPr lang="en-US" sz="950" b="1" spc="120" kern="0" dirty="0">
                <a:solidFill>
                  <a:srgbClr val="FF6A3D"/>
                </a:solidFill>
                <a:latin typeface="Consolas" pitchFamily="34" charset="0"/>
                <a:ea typeface="Consolas" pitchFamily="34" charset="-122"/>
                <a:cs typeface="Consolas" pitchFamily="34" charset="-120"/>
              </a:rPr>
              <a:t>ARCHITECT</a:t>
            </a:r>
            <a:pPr indent="0" marL="0">
              <a:buNone/>
            </a:pPr>
            <a:r>
              <a:rPr lang="en-US" sz="900" dirty="0">
                <a:solidFill>
                  <a:srgbClr val="6E7285"/>
                </a:solidFill>
                <a:latin typeface="Consolas" pitchFamily="34" charset="0"/>
                <a:ea typeface="Consolas" pitchFamily="34" charset="-122"/>
                <a:cs typeface="Consolas" pitchFamily="34" charset="-120"/>
              </a:rPr>
              <a:t>   voice: Orus</a:t>
            </a:r>
            <a:endParaRPr lang="en-US" sz="950" dirty="0"/>
          </a:p>
        </p:txBody>
      </p:sp>
      <p:sp>
        <p:nvSpPr>
          <p:cNvPr id="46" name="Text 44"/>
          <p:cNvSpPr/>
          <p:nvPr/>
        </p:nvSpPr>
        <p:spPr>
          <a:xfrm>
            <a:off x="4350410" y="5285232"/>
            <a:ext cx="3271418" cy="676656"/>
          </a:xfrm>
          <a:prstGeom prst="rect">
            <a:avLst/>
          </a:prstGeom>
          <a:noFill/>
          <a:ln/>
        </p:spPr>
        <p:txBody>
          <a:bodyPr wrap="square" lIns="0" tIns="0" rIns="0" bIns="0" rtlCol="0" anchor="t"/>
          <a:lstStyle/>
          <a:p>
            <a:pPr indent="0" marL="0">
              <a:lnSpc>
                <a:spcPct val="110000"/>
              </a:lnSpc>
              <a:buNone/>
            </a:pPr>
            <a:r>
              <a:rPr lang="en-US" sz="1050" dirty="0">
                <a:solidFill>
                  <a:srgbClr val="3A3D4D"/>
                </a:solidFill>
                <a:latin typeface="Calibri" pitchFamily="34" charset="0"/>
                <a:ea typeface="Calibri" pitchFamily="34" charset="-122"/>
                <a:cs typeface="Calibri" pitchFamily="34" charset="-120"/>
              </a:rPr>
              <a:t>“…how was the worker pool structured to reliably process monolithic billing jobs?”</a:t>
            </a:r>
            <a:endParaRPr lang="en-US" sz="1050" dirty="0"/>
          </a:p>
        </p:txBody>
      </p:sp>
      <p:sp>
        <p:nvSpPr>
          <p:cNvPr id="47" name="Text 45"/>
          <p:cNvSpPr/>
          <p:nvPr/>
        </p:nvSpPr>
        <p:spPr>
          <a:xfrm>
            <a:off x="7841285" y="5047488"/>
            <a:ext cx="3271418" cy="219456"/>
          </a:xfrm>
          <a:prstGeom prst="rect">
            <a:avLst/>
          </a:prstGeom>
          <a:noFill/>
          <a:ln/>
        </p:spPr>
        <p:txBody>
          <a:bodyPr wrap="square" lIns="0" tIns="0" rIns="0" bIns="0" rtlCol="0" anchor="ctr"/>
          <a:lstStyle/>
          <a:p>
            <a:pPr indent="0" marL="0">
              <a:buNone/>
            </a:pPr>
            <a:r>
              <a:rPr lang="en-US" sz="950" b="1" spc="120" kern="0" dirty="0">
                <a:solidFill>
                  <a:srgbClr val="FF6A3D"/>
                </a:solidFill>
                <a:latin typeface="Consolas" pitchFamily="34" charset="0"/>
                <a:ea typeface="Consolas" pitchFamily="34" charset="-122"/>
                <a:cs typeface="Consolas" pitchFamily="34" charset="-120"/>
              </a:rPr>
              <a:t>PM</a:t>
            </a:r>
            <a:pPr indent="0" marL="0">
              <a:buNone/>
            </a:pPr>
            <a:r>
              <a:rPr lang="en-US" sz="900" dirty="0">
                <a:solidFill>
                  <a:srgbClr val="6E7285"/>
                </a:solidFill>
                <a:latin typeface="Consolas" pitchFamily="34" charset="0"/>
                <a:ea typeface="Consolas" pitchFamily="34" charset="-122"/>
                <a:cs typeface="Consolas" pitchFamily="34" charset="-120"/>
              </a:rPr>
              <a:t>   voice: Aoede</a:t>
            </a:r>
            <a:endParaRPr lang="en-US" sz="950" dirty="0"/>
          </a:p>
        </p:txBody>
      </p:sp>
      <p:sp>
        <p:nvSpPr>
          <p:cNvPr id="48" name="Text 46"/>
          <p:cNvSpPr/>
          <p:nvPr/>
        </p:nvSpPr>
        <p:spPr>
          <a:xfrm>
            <a:off x="7841285" y="5285232"/>
            <a:ext cx="3271418" cy="676656"/>
          </a:xfrm>
          <a:prstGeom prst="rect">
            <a:avLst/>
          </a:prstGeom>
          <a:noFill/>
          <a:ln/>
        </p:spPr>
        <p:txBody>
          <a:bodyPr wrap="square" lIns="0" tIns="0" rIns="0" bIns="0" rtlCol="0" anchor="t"/>
          <a:lstStyle/>
          <a:p>
            <a:pPr indent="0" marL="0">
              <a:lnSpc>
                <a:spcPct val="110000"/>
              </a:lnSpc>
              <a:buNone/>
            </a:pPr>
            <a:r>
              <a:rPr lang="en-US" sz="1050" dirty="0">
                <a:solidFill>
                  <a:srgbClr val="3A3D4D"/>
                </a:solidFill>
                <a:latin typeface="Calibri" pitchFamily="34" charset="0"/>
                <a:ea typeface="Calibri" pitchFamily="34" charset="-122"/>
                <a:cs typeface="Calibri" pitchFamily="34" charset="-120"/>
              </a:rPr>
              <a:t>“Hi there, welcome! …how was it designed to reduce the billing job runtime?”</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37744"/>
          </a:xfrm>
          <a:prstGeom prst="rect">
            <a:avLst/>
          </a:prstGeom>
          <a:noFill/>
          <a:ln/>
        </p:spPr>
        <p:txBody>
          <a:bodyPr wrap="square" lIns="0" tIns="0" rIns="0" bIns="0" rtlCol="0" anchor="ctr"/>
          <a:lstStyle/>
          <a:p>
            <a:pPr indent="0" marL="0">
              <a:buNone/>
            </a:pPr>
            <a:r>
              <a:rPr lang="en-US" sz="1050" b="1" spc="160" kern="0" dirty="0">
                <a:solidFill>
                  <a:srgbClr val="FF6A3D"/>
                </a:solidFill>
                <a:latin typeface="Consolas" pitchFamily="34" charset="0"/>
                <a:ea typeface="Consolas" pitchFamily="34" charset="-122"/>
                <a:cs typeface="Consolas" pitchFamily="34" charset="-120"/>
              </a:rPr>
              <a:t>THE PRODUCT</a:t>
            </a:r>
            <a:endParaRPr lang="en-US" sz="1050" dirty="0"/>
          </a:p>
        </p:txBody>
      </p:sp>
      <p:sp>
        <p:nvSpPr>
          <p:cNvPr id="3" name="Text 1"/>
          <p:cNvSpPr/>
          <p:nvPr/>
        </p:nvSpPr>
        <p:spPr>
          <a:xfrm>
            <a:off x="548640" y="621792"/>
            <a:ext cx="11094415" cy="603504"/>
          </a:xfrm>
          <a:prstGeom prst="rect">
            <a:avLst/>
          </a:prstGeom>
          <a:noFill/>
          <a:ln/>
        </p:spPr>
        <p:txBody>
          <a:bodyPr wrap="square" lIns="0" tIns="0" rIns="0" bIns="0" rtlCol="0" anchor="ctr"/>
          <a:lstStyle/>
          <a:p>
            <a:pPr indent="0" marL="0">
              <a:buNone/>
            </a:pPr>
            <a:r>
              <a:rPr lang="en-US" sz="3300" b="1" spc="-60" kern="0" dirty="0">
                <a:solidFill>
                  <a:srgbClr val="12141C"/>
                </a:solidFill>
                <a:latin typeface="Arial" pitchFamily="34" charset="0"/>
                <a:ea typeface="Arial" pitchFamily="34" charset="-122"/>
                <a:cs typeface="Arial" pitchFamily="34" charset="-120"/>
              </a:rPr>
              <a:t>What the candidate actually sees.</a:t>
            </a:r>
            <a:endParaRPr lang="en-US" sz="3300" dirty="0"/>
          </a:p>
        </p:txBody>
      </p:sp>
      <p:sp>
        <p:nvSpPr>
          <p:cNvPr id="4" name="Shape 2"/>
          <p:cNvSpPr/>
          <p:nvPr/>
        </p:nvSpPr>
        <p:spPr>
          <a:xfrm>
            <a:off x="548640" y="1444752"/>
            <a:ext cx="6720840" cy="3785616"/>
          </a:xfrm>
          <a:prstGeom prst="roundRect">
            <a:avLst>
              <a:gd name="adj" fmla="val 725"/>
            </a:avLst>
          </a:prstGeom>
          <a:solidFill>
            <a:srgbClr val="FAF9F8"/>
          </a:solidFill>
          <a:ln w="12700">
            <a:solidFill>
              <a:srgbClr val="D8D4CE"/>
            </a:solidFill>
            <a:prstDash val="solid"/>
          </a:ln>
        </p:spPr>
      </p:sp>
      <p:sp>
        <p:nvSpPr>
          <p:cNvPr id="5" name="Text 3"/>
          <p:cNvSpPr/>
          <p:nvPr/>
        </p:nvSpPr>
        <p:spPr>
          <a:xfrm>
            <a:off x="548640" y="3191256"/>
            <a:ext cx="6720840" cy="292608"/>
          </a:xfrm>
          <a:prstGeom prst="rect">
            <a:avLst/>
          </a:prstGeom>
          <a:noFill/>
          <a:ln/>
        </p:spPr>
        <p:txBody>
          <a:bodyPr wrap="square" lIns="0" tIns="0" rIns="0" bIns="0" rtlCol="0" anchor="ctr"/>
          <a:lstStyle/>
          <a:p>
            <a:pPr algn="ctr" indent="0" marL="0">
              <a:buNone/>
            </a:pPr>
            <a:r>
              <a:rPr lang="en-US" sz="950" spc="200" kern="0" dirty="0">
                <a:solidFill>
                  <a:srgbClr val="9A9EAE"/>
                </a:solidFill>
                <a:latin typeface="Consolas" pitchFamily="34" charset="0"/>
                <a:ea typeface="Consolas" pitchFamily="34" charset="-122"/>
                <a:cs typeface="Consolas" pitchFamily="34" charset="-120"/>
              </a:rPr>
              <a:t>screen capture</a:t>
            </a:r>
            <a:endParaRPr lang="en-US" sz="950" dirty="0"/>
          </a:p>
        </p:txBody>
      </p:sp>
      <p:sp>
        <p:nvSpPr>
          <p:cNvPr id="6" name="Text 4"/>
          <p:cNvSpPr/>
          <p:nvPr/>
        </p:nvSpPr>
        <p:spPr>
          <a:xfrm>
            <a:off x="548640" y="5321808"/>
            <a:ext cx="6720840" cy="237744"/>
          </a:xfrm>
          <a:prstGeom prst="rect">
            <a:avLst/>
          </a:prstGeom>
          <a:noFill/>
          <a:ln/>
        </p:spPr>
        <p:txBody>
          <a:bodyPr wrap="square" lIns="0" tIns="0" rIns="0" bIns="0" rtlCol="0" anchor="ctr"/>
          <a:lstStyle/>
          <a:p>
            <a:pPr indent="0" marL="0">
              <a:buNone/>
            </a:pPr>
            <a:r>
              <a:rPr lang="en-US" sz="950" b="1" spc="140" kern="0" dirty="0">
                <a:solidFill>
                  <a:srgbClr val="FF6A3D"/>
                </a:solidFill>
                <a:latin typeface="Consolas" pitchFamily="34" charset="0"/>
                <a:ea typeface="Consolas" pitchFamily="34" charset="-122"/>
                <a:cs typeface="Consolas" pitchFamily="34" charset="-120"/>
              </a:rPr>
              <a:t>LIVE INTERVIEW</a:t>
            </a:r>
            <a:endParaRPr lang="en-US" sz="950" dirty="0"/>
          </a:p>
        </p:txBody>
      </p:sp>
      <p:sp>
        <p:nvSpPr>
          <p:cNvPr id="7" name="Text 5"/>
          <p:cNvSpPr/>
          <p:nvPr/>
        </p:nvSpPr>
        <p:spPr>
          <a:xfrm>
            <a:off x="548640" y="5577840"/>
            <a:ext cx="6720840" cy="749808"/>
          </a:xfrm>
          <a:prstGeom prst="rect">
            <a:avLst/>
          </a:prstGeom>
          <a:noFill/>
          <a:ln/>
        </p:spPr>
        <p:txBody>
          <a:bodyPr wrap="square" lIns="0" tIns="0" rIns="0" bIns="0" rtlCol="0" anchor="t"/>
          <a:lstStyle/>
          <a:p>
            <a:pPr indent="0" marL="0">
              <a:lnSpc>
                <a:spcPct val="116000"/>
              </a:lnSpc>
              <a:buNone/>
            </a:pPr>
            <a:r>
              <a:rPr lang="en-US" sz="1200" dirty="0">
                <a:solidFill>
                  <a:srgbClr val="3A3D4D"/>
                </a:solidFill>
                <a:latin typeface="Calibri" pitchFamily="34" charset="0"/>
                <a:ea typeface="Calibri" pitchFamily="34" charset="-122"/>
                <a:cs typeface="Calibri" pitchFamily="34" charset="-120"/>
              </a:rPr>
              <a:t>Your own words, graded span by span. Green where you nailed it, amber where you were thin, blue where you claimed something you could not support.</a:t>
            </a:r>
            <a:endParaRPr lang="en-US" sz="1200" dirty="0"/>
          </a:p>
        </p:txBody>
      </p:sp>
      <p:sp>
        <p:nvSpPr>
          <p:cNvPr id="8" name="Shape 6"/>
          <p:cNvSpPr/>
          <p:nvPr/>
        </p:nvSpPr>
        <p:spPr>
          <a:xfrm>
            <a:off x="7571232" y="1444752"/>
            <a:ext cx="4071823" cy="1572768"/>
          </a:xfrm>
          <a:prstGeom prst="roundRect">
            <a:avLst>
              <a:gd name="adj" fmla="val 1744"/>
            </a:avLst>
          </a:prstGeom>
          <a:solidFill>
            <a:srgbClr val="FAF9F8"/>
          </a:solidFill>
          <a:ln w="12700">
            <a:solidFill>
              <a:srgbClr val="D8D4CE"/>
            </a:solidFill>
            <a:prstDash val="solid"/>
          </a:ln>
        </p:spPr>
      </p:sp>
      <p:sp>
        <p:nvSpPr>
          <p:cNvPr id="9" name="Text 7"/>
          <p:cNvSpPr/>
          <p:nvPr/>
        </p:nvSpPr>
        <p:spPr>
          <a:xfrm>
            <a:off x="7571232" y="2084832"/>
            <a:ext cx="4071823" cy="292608"/>
          </a:xfrm>
          <a:prstGeom prst="rect">
            <a:avLst/>
          </a:prstGeom>
          <a:noFill/>
          <a:ln/>
        </p:spPr>
        <p:txBody>
          <a:bodyPr wrap="square" lIns="0" tIns="0" rIns="0" bIns="0" rtlCol="0" anchor="ctr"/>
          <a:lstStyle/>
          <a:p>
            <a:pPr algn="ctr" indent="0" marL="0">
              <a:buNone/>
            </a:pPr>
            <a:r>
              <a:rPr lang="en-US" sz="950" spc="200" kern="0" dirty="0">
                <a:solidFill>
                  <a:srgbClr val="9A9EAE"/>
                </a:solidFill>
                <a:latin typeface="Consolas" pitchFamily="34" charset="0"/>
                <a:ea typeface="Consolas" pitchFamily="34" charset="-122"/>
                <a:cs typeface="Consolas" pitchFamily="34" charset="-120"/>
              </a:rPr>
              <a:t>screen capture</a:t>
            </a:r>
            <a:endParaRPr lang="en-US" sz="950" dirty="0"/>
          </a:p>
        </p:txBody>
      </p:sp>
      <p:sp>
        <p:nvSpPr>
          <p:cNvPr id="10" name="Text 8"/>
          <p:cNvSpPr/>
          <p:nvPr/>
        </p:nvSpPr>
        <p:spPr>
          <a:xfrm>
            <a:off x="7571232" y="3090672"/>
            <a:ext cx="4071823" cy="219456"/>
          </a:xfrm>
          <a:prstGeom prst="rect">
            <a:avLst/>
          </a:prstGeom>
          <a:noFill/>
          <a:ln/>
        </p:spPr>
        <p:txBody>
          <a:bodyPr wrap="square" lIns="0" tIns="0" rIns="0" bIns="0" rtlCol="0" anchor="ctr"/>
          <a:lstStyle/>
          <a:p>
            <a:pPr indent="0" marL="0">
              <a:buNone/>
            </a:pPr>
            <a:r>
              <a:rPr lang="en-US" sz="900" b="1" spc="140" kern="0" dirty="0">
                <a:solidFill>
                  <a:srgbClr val="FF6A3D"/>
                </a:solidFill>
                <a:latin typeface="Consolas" pitchFamily="34" charset="0"/>
                <a:ea typeface="Consolas" pitchFamily="34" charset="-122"/>
                <a:cs typeface="Consolas" pitchFamily="34" charset="-120"/>
              </a:rPr>
              <a:t>REPORT</a:t>
            </a:r>
            <a:endParaRPr lang="en-US" sz="900" dirty="0"/>
          </a:p>
        </p:txBody>
      </p:sp>
      <p:sp>
        <p:nvSpPr>
          <p:cNvPr id="11" name="Text 9"/>
          <p:cNvSpPr/>
          <p:nvPr/>
        </p:nvSpPr>
        <p:spPr>
          <a:xfrm>
            <a:off x="7571232" y="3310128"/>
            <a:ext cx="4071823" cy="548640"/>
          </a:xfrm>
          <a:prstGeom prst="rect">
            <a:avLst/>
          </a:prstGeom>
          <a:noFill/>
          <a:ln/>
        </p:spPr>
        <p:txBody>
          <a:bodyPr wrap="square" lIns="0" tIns="0" rIns="0" bIns="0" rtlCol="0" anchor="t"/>
          <a:lstStyle/>
          <a:p>
            <a:pPr indent="0" marL="0">
              <a:lnSpc>
                <a:spcPct val="114000"/>
              </a:lnSpc>
              <a:buNone/>
            </a:pPr>
            <a:r>
              <a:rPr lang="en-US" sz="1100" dirty="0">
                <a:solidFill>
                  <a:srgbClr val="3A3D4D"/>
                </a:solidFill>
                <a:latin typeface="Calibri" pitchFamily="34" charset="0"/>
                <a:ea typeface="Calibri" pitchFamily="34" charset="-122"/>
                <a:cs typeface="Calibri" pitchFamily="34" charset="-120"/>
              </a:rPr>
              <a:t>Radar across the role's domains, band sparkline, per-turn accordion.</a:t>
            </a:r>
            <a:endParaRPr lang="en-US" sz="1100" dirty="0"/>
          </a:p>
        </p:txBody>
      </p:sp>
      <p:sp>
        <p:nvSpPr>
          <p:cNvPr id="12" name="Shape 10"/>
          <p:cNvSpPr/>
          <p:nvPr/>
        </p:nvSpPr>
        <p:spPr>
          <a:xfrm>
            <a:off x="7571232" y="3913632"/>
            <a:ext cx="4071823" cy="1572768"/>
          </a:xfrm>
          <a:prstGeom prst="roundRect">
            <a:avLst>
              <a:gd name="adj" fmla="val 1744"/>
            </a:avLst>
          </a:prstGeom>
          <a:solidFill>
            <a:srgbClr val="FAF9F8"/>
          </a:solidFill>
          <a:ln w="12700">
            <a:solidFill>
              <a:srgbClr val="D8D4CE"/>
            </a:solidFill>
            <a:prstDash val="solid"/>
          </a:ln>
        </p:spPr>
      </p:sp>
      <p:sp>
        <p:nvSpPr>
          <p:cNvPr id="13" name="Text 11"/>
          <p:cNvSpPr/>
          <p:nvPr/>
        </p:nvSpPr>
        <p:spPr>
          <a:xfrm>
            <a:off x="7571232" y="4553712"/>
            <a:ext cx="4071823" cy="292608"/>
          </a:xfrm>
          <a:prstGeom prst="rect">
            <a:avLst/>
          </a:prstGeom>
          <a:noFill/>
          <a:ln/>
        </p:spPr>
        <p:txBody>
          <a:bodyPr wrap="square" lIns="0" tIns="0" rIns="0" bIns="0" rtlCol="0" anchor="ctr"/>
          <a:lstStyle/>
          <a:p>
            <a:pPr algn="ctr" indent="0" marL="0">
              <a:buNone/>
            </a:pPr>
            <a:r>
              <a:rPr lang="en-US" sz="950" spc="200" kern="0" dirty="0">
                <a:solidFill>
                  <a:srgbClr val="9A9EAE"/>
                </a:solidFill>
                <a:latin typeface="Consolas" pitchFamily="34" charset="0"/>
                <a:ea typeface="Consolas" pitchFamily="34" charset="-122"/>
                <a:cs typeface="Consolas" pitchFamily="34" charset="-120"/>
              </a:rPr>
              <a:t>screen capture</a:t>
            </a:r>
            <a:endParaRPr lang="en-US" sz="950" dirty="0"/>
          </a:p>
        </p:txBody>
      </p:sp>
      <p:sp>
        <p:nvSpPr>
          <p:cNvPr id="14" name="Text 12"/>
          <p:cNvSpPr/>
          <p:nvPr/>
        </p:nvSpPr>
        <p:spPr>
          <a:xfrm>
            <a:off x="7571232" y="5559552"/>
            <a:ext cx="4071823" cy="219456"/>
          </a:xfrm>
          <a:prstGeom prst="rect">
            <a:avLst/>
          </a:prstGeom>
          <a:noFill/>
          <a:ln/>
        </p:spPr>
        <p:txBody>
          <a:bodyPr wrap="square" lIns="0" tIns="0" rIns="0" bIns="0" rtlCol="0" anchor="ctr"/>
          <a:lstStyle/>
          <a:p>
            <a:pPr indent="0" marL="0">
              <a:buNone/>
            </a:pPr>
            <a:r>
              <a:rPr lang="en-US" sz="900" b="1" spc="140" kern="0" dirty="0">
                <a:solidFill>
                  <a:srgbClr val="FF6A3D"/>
                </a:solidFill>
                <a:latin typeface="Consolas" pitchFamily="34" charset="0"/>
                <a:ea typeface="Consolas" pitchFamily="34" charset="-122"/>
                <a:cs typeface="Consolas" pitchFamily="34" charset="-120"/>
              </a:rPr>
              <a:t>ROADMAP</a:t>
            </a:r>
            <a:endParaRPr lang="en-US" sz="900" dirty="0"/>
          </a:p>
        </p:txBody>
      </p:sp>
      <p:sp>
        <p:nvSpPr>
          <p:cNvPr id="15" name="Text 13"/>
          <p:cNvSpPr/>
          <p:nvPr/>
        </p:nvSpPr>
        <p:spPr>
          <a:xfrm>
            <a:off x="7571232" y="5779008"/>
            <a:ext cx="4071823" cy="548640"/>
          </a:xfrm>
          <a:prstGeom prst="rect">
            <a:avLst/>
          </a:prstGeom>
          <a:noFill/>
          <a:ln/>
        </p:spPr>
        <p:txBody>
          <a:bodyPr wrap="square" lIns="0" tIns="0" rIns="0" bIns="0" rtlCol="0" anchor="t"/>
          <a:lstStyle/>
          <a:p>
            <a:pPr indent="0" marL="0">
              <a:lnSpc>
                <a:spcPct val="114000"/>
              </a:lnSpc>
              <a:buNone/>
            </a:pPr>
            <a:r>
              <a:rPr lang="en-US" sz="1100" dirty="0">
                <a:solidFill>
                  <a:srgbClr val="3A3D4D"/>
                </a:solidFill>
                <a:latin typeface="Calibri" pitchFamily="34" charset="0"/>
                <a:ea typeface="Calibri" pitchFamily="34" charset="-122"/>
                <a:cs typeface="Calibri" pitchFamily="34" charset="-120"/>
              </a:rPr>
              <a:t>Day-by-day plan in prerequisite order. Every link fetched and verified.</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37744"/>
          </a:xfrm>
          <a:prstGeom prst="rect">
            <a:avLst/>
          </a:prstGeom>
          <a:noFill/>
          <a:ln/>
        </p:spPr>
        <p:txBody>
          <a:bodyPr wrap="square" lIns="0" tIns="0" rIns="0" bIns="0" rtlCol="0" anchor="ctr"/>
          <a:lstStyle/>
          <a:p>
            <a:pPr indent="0" marL="0">
              <a:buNone/>
            </a:pPr>
            <a:r>
              <a:rPr lang="en-US" sz="1050" b="1" spc="160" kern="0" dirty="0">
                <a:solidFill>
                  <a:srgbClr val="FF6A3D"/>
                </a:solidFill>
                <a:latin typeface="Consolas" pitchFamily="34" charset="0"/>
                <a:ea typeface="Consolas" pitchFamily="34" charset="-122"/>
                <a:cs typeface="Consolas" pitchFamily="34" charset="-120"/>
              </a:rPr>
              <a:t>ARCHITECTURE</a:t>
            </a:r>
            <a:endParaRPr lang="en-US" sz="1050" dirty="0"/>
          </a:p>
        </p:txBody>
      </p:sp>
      <p:sp>
        <p:nvSpPr>
          <p:cNvPr id="3" name="Text 1"/>
          <p:cNvSpPr/>
          <p:nvPr/>
        </p:nvSpPr>
        <p:spPr>
          <a:xfrm>
            <a:off x="548640" y="621792"/>
            <a:ext cx="11094415" cy="603504"/>
          </a:xfrm>
          <a:prstGeom prst="rect">
            <a:avLst/>
          </a:prstGeom>
          <a:noFill/>
          <a:ln/>
        </p:spPr>
        <p:txBody>
          <a:bodyPr wrap="square" lIns="0" tIns="0" rIns="0" bIns="0" rtlCol="0" anchor="ctr"/>
          <a:lstStyle/>
          <a:p>
            <a:pPr indent="0" marL="0">
              <a:buNone/>
            </a:pPr>
            <a:r>
              <a:rPr lang="en-US" sz="3300" b="1" spc="-60" kern="0" dirty="0">
                <a:solidFill>
                  <a:srgbClr val="12141C"/>
                </a:solidFill>
                <a:latin typeface="Arial" pitchFamily="34" charset="0"/>
                <a:ea typeface="Arial" pitchFamily="34" charset="-122"/>
                <a:cs typeface="Arial" pitchFamily="34" charset="-120"/>
              </a:rPr>
              <a:t>One Go binary between a browser and Vertex AI.</a:t>
            </a:r>
            <a:endParaRPr lang="en-US" sz="3300" dirty="0"/>
          </a:p>
        </p:txBody>
      </p:sp>
      <p:sp>
        <p:nvSpPr>
          <p:cNvPr id="4" name="Text 2"/>
          <p:cNvSpPr/>
          <p:nvPr/>
        </p:nvSpPr>
        <p:spPr>
          <a:xfrm>
            <a:off x="548640" y="1316736"/>
            <a:ext cx="1783080" cy="237744"/>
          </a:xfrm>
          <a:prstGeom prst="rect">
            <a:avLst/>
          </a:prstGeom>
          <a:noFill/>
          <a:ln/>
        </p:spPr>
        <p:txBody>
          <a:bodyPr wrap="square" lIns="0" tIns="0" rIns="0" bIns="0" rtlCol="0" anchor="ctr"/>
          <a:lstStyle/>
          <a:p>
            <a:pPr algn="ctr" indent="0" marL="0">
              <a:buNone/>
            </a:pPr>
            <a:r>
              <a:rPr lang="en-US" sz="900" b="1" spc="160" kern="0" dirty="0">
                <a:solidFill>
                  <a:srgbClr val="6E7285"/>
                </a:solidFill>
                <a:latin typeface="Consolas" pitchFamily="34" charset="0"/>
                <a:ea typeface="Consolas" pitchFamily="34" charset="-122"/>
                <a:cs typeface="Consolas" pitchFamily="34" charset="-120"/>
              </a:rPr>
              <a:t>CLIENT</a:t>
            </a:r>
            <a:endParaRPr lang="en-US" sz="900" dirty="0"/>
          </a:p>
        </p:txBody>
      </p:sp>
      <p:sp>
        <p:nvSpPr>
          <p:cNvPr id="5" name="Shape 3"/>
          <p:cNvSpPr/>
          <p:nvPr/>
        </p:nvSpPr>
        <p:spPr>
          <a:xfrm>
            <a:off x="548640" y="2212848"/>
            <a:ext cx="1783080" cy="1481328"/>
          </a:xfrm>
          <a:prstGeom prst="roundRect">
            <a:avLst>
              <a:gd name="adj" fmla="val 2469"/>
            </a:avLst>
          </a:prstGeom>
          <a:solidFill>
            <a:srgbClr val="FAF9F8"/>
          </a:solidFill>
          <a:ln w="12700">
            <a:solidFill>
              <a:srgbClr val="E6E3DF"/>
            </a:solidFill>
            <a:prstDash val="solid"/>
          </a:ln>
          <a:effectLst>
            <a:outerShdw sx="100000" sy="100000" kx="0" ky="0" algn="bl" rotWithShape="0" blurRad="127000" dist="25400" dir="5400000">
              <a:srgbClr val="9C9890">
                <a:alpha val="16000"/>
              </a:srgbClr>
            </a:outerShdw>
          </a:effectLst>
        </p:spPr>
      </p:sp>
      <p:sp>
        <p:nvSpPr>
          <p:cNvPr id="6" name="Text 4"/>
          <p:cNvSpPr/>
          <p:nvPr/>
        </p:nvSpPr>
        <p:spPr>
          <a:xfrm>
            <a:off x="548640" y="2377440"/>
            <a:ext cx="1783080" cy="292608"/>
          </a:xfrm>
          <a:prstGeom prst="rect">
            <a:avLst/>
          </a:prstGeom>
          <a:noFill/>
          <a:ln/>
        </p:spPr>
        <p:txBody>
          <a:bodyPr wrap="square" lIns="0" tIns="0" rIns="0" bIns="0" rtlCol="0" anchor="ctr"/>
          <a:lstStyle/>
          <a:p>
            <a:pPr algn="ctr" indent="0" marL="0">
              <a:buNone/>
            </a:pPr>
            <a:r>
              <a:rPr lang="en-US" sz="1500" b="1" dirty="0">
                <a:solidFill>
                  <a:srgbClr val="12141C"/>
                </a:solidFill>
                <a:latin typeface="Arial" pitchFamily="34" charset="0"/>
                <a:ea typeface="Arial" pitchFamily="34" charset="-122"/>
                <a:cs typeface="Arial" pitchFamily="34" charset="-120"/>
              </a:rPr>
              <a:t>Browser</a:t>
            </a:r>
            <a:endParaRPr lang="en-US" sz="1500" dirty="0"/>
          </a:p>
        </p:txBody>
      </p:sp>
      <p:sp>
        <p:nvSpPr>
          <p:cNvPr id="7" name="Text 5"/>
          <p:cNvSpPr/>
          <p:nvPr/>
        </p:nvSpPr>
        <p:spPr>
          <a:xfrm>
            <a:off x="548640" y="2688336"/>
            <a:ext cx="1783080" cy="841248"/>
          </a:xfrm>
          <a:prstGeom prst="rect">
            <a:avLst/>
          </a:prstGeom>
          <a:noFill/>
          <a:ln/>
        </p:spPr>
        <p:txBody>
          <a:bodyPr wrap="square" lIns="0" tIns="0" rIns="0" bIns="0" rtlCol="0" anchor="t"/>
          <a:lstStyle/>
          <a:p>
            <a:pPr algn="ctr" indent="0" marL="0">
              <a:lnSpc>
                <a:spcPct val="124000"/>
              </a:lnSpc>
              <a:buNone/>
            </a:pPr>
            <a:r>
              <a:rPr lang="en-US" sz="950" dirty="0">
                <a:solidFill>
                  <a:srgbClr val="6E7285"/>
                </a:solidFill>
                <a:latin typeface="Consolas" pitchFamily="34" charset="0"/>
                <a:ea typeface="Consolas" pitchFamily="34" charset="-122"/>
                <a:cs typeface="Consolas" pitchFamily="34" charset="-120"/>
              </a:rPr>
              <a:t>AudioWorklet</a:t>
            </a:r>
            <a:endParaRPr lang="en-US" sz="950" dirty="0"/>
          </a:p>
          <a:p>
            <a:pPr algn="ctr" indent="0" marL="0">
              <a:lnSpc>
                <a:spcPct val="124000"/>
              </a:lnSpc>
              <a:buNone/>
            </a:pPr>
            <a:r>
              <a:rPr lang="en-US" sz="950" dirty="0">
                <a:solidFill>
                  <a:srgbClr val="6E7285"/>
                </a:solidFill>
                <a:latin typeface="Consolas" pitchFamily="34" charset="0"/>
                <a:ea typeface="Consolas" pitchFamily="34" charset="-122"/>
                <a:cs typeface="Consolas" pitchFamily="34" charset="-120"/>
              </a:rPr>
              <a:t>PCM16 @ 16 kHz</a:t>
            </a:r>
            <a:endParaRPr lang="en-US" sz="950" dirty="0"/>
          </a:p>
          <a:p>
            <a:pPr algn="ctr" indent="0" marL="0">
              <a:lnSpc>
                <a:spcPct val="124000"/>
              </a:lnSpc>
              <a:buNone/>
            </a:pPr>
            <a:r>
              <a:rPr lang="en-US" sz="950" dirty="0">
                <a:solidFill>
                  <a:srgbClr val="6E7285"/>
                </a:solidFill>
                <a:latin typeface="Consolas" pitchFamily="34" charset="0"/>
                <a:ea typeface="Consolas" pitchFamily="34" charset="-122"/>
                <a:cs typeface="Consolas" pitchFamily="34" charset="-120"/>
              </a:rPr>
              <a:t>20 ms frames</a:t>
            </a:r>
            <a:endParaRPr lang="en-US" sz="950" dirty="0"/>
          </a:p>
        </p:txBody>
      </p:sp>
      <p:sp>
        <p:nvSpPr>
          <p:cNvPr id="8" name="Text 6"/>
          <p:cNvSpPr/>
          <p:nvPr/>
        </p:nvSpPr>
        <p:spPr>
          <a:xfrm>
            <a:off x="3703320" y="1316736"/>
            <a:ext cx="4434840" cy="237744"/>
          </a:xfrm>
          <a:prstGeom prst="rect">
            <a:avLst/>
          </a:prstGeom>
          <a:noFill/>
          <a:ln/>
        </p:spPr>
        <p:txBody>
          <a:bodyPr wrap="square" lIns="0" tIns="0" rIns="0" bIns="0" rtlCol="0" anchor="ctr"/>
          <a:lstStyle/>
          <a:p>
            <a:pPr algn="ctr" indent="0" marL="0">
              <a:buNone/>
            </a:pPr>
            <a:r>
              <a:rPr lang="en-US" sz="900" b="1" spc="160" kern="0" dirty="0">
                <a:solidFill>
                  <a:srgbClr val="6E7285"/>
                </a:solidFill>
                <a:latin typeface="Consolas" pitchFamily="34" charset="0"/>
                <a:ea typeface="Consolas" pitchFamily="34" charset="-122"/>
                <a:cs typeface="Consolas" pitchFamily="34" charset="-120"/>
              </a:rPr>
              <a:t>GOOGLE CLOUD RUN</a:t>
            </a:r>
            <a:endParaRPr lang="en-US" sz="900" dirty="0"/>
          </a:p>
        </p:txBody>
      </p:sp>
      <p:sp>
        <p:nvSpPr>
          <p:cNvPr id="9" name="Shape 7"/>
          <p:cNvSpPr/>
          <p:nvPr/>
        </p:nvSpPr>
        <p:spPr>
          <a:xfrm>
            <a:off x="3703320" y="1600200"/>
            <a:ext cx="4434840" cy="3017520"/>
          </a:xfrm>
          <a:prstGeom prst="roundRect">
            <a:avLst>
              <a:gd name="adj" fmla="val 1212"/>
            </a:avLst>
          </a:prstGeom>
          <a:solidFill>
            <a:srgbClr val="F7F5F2"/>
          </a:solidFill>
          <a:ln w="12700">
            <a:solidFill>
              <a:srgbClr val="E6E3DF"/>
            </a:solidFill>
            <a:prstDash val="solid"/>
          </a:ln>
          <a:effectLst>
            <a:outerShdw sx="100000" sy="100000" kx="0" ky="0" algn="bl" rotWithShape="0" blurRad="127000" dist="25400" dir="5400000">
              <a:srgbClr val="9C9890">
                <a:alpha val="16000"/>
              </a:srgbClr>
            </a:outerShdw>
          </a:effectLst>
        </p:spPr>
      </p:sp>
      <p:sp>
        <p:nvSpPr>
          <p:cNvPr id="10" name="Text 8"/>
          <p:cNvSpPr/>
          <p:nvPr/>
        </p:nvSpPr>
        <p:spPr>
          <a:xfrm>
            <a:off x="3922776" y="1700784"/>
            <a:ext cx="3995928" cy="274320"/>
          </a:xfrm>
          <a:prstGeom prst="rect">
            <a:avLst/>
          </a:prstGeom>
          <a:noFill/>
          <a:ln/>
        </p:spPr>
        <p:txBody>
          <a:bodyPr wrap="square" lIns="0" tIns="0" rIns="0" bIns="0" rtlCol="0" anchor="ctr"/>
          <a:lstStyle/>
          <a:p>
            <a:pPr indent="0" marL="0">
              <a:buNone/>
            </a:pPr>
            <a:r>
              <a:rPr lang="en-US" sz="1400" b="1" dirty="0">
                <a:solidFill>
                  <a:srgbClr val="12141C"/>
                </a:solidFill>
                <a:latin typeface="Arial" pitchFamily="34" charset="0"/>
                <a:ea typeface="Arial" pitchFamily="34" charset="-122"/>
                <a:cs typeface="Arial" pitchFamily="34" charset="-120"/>
              </a:rPr>
              <a:t>one Go binary</a:t>
            </a:r>
            <a:pPr indent="0" marL="0">
              <a:buNone/>
            </a:pPr>
            <a:r>
              <a:rPr lang="en-US" sz="950" dirty="0">
                <a:solidFill>
                  <a:srgbClr val="6E7285"/>
                </a:solidFill>
                <a:latin typeface="Arial" pitchFamily="34" charset="0"/>
                <a:ea typeface="Arial" pitchFamily="34" charset="-122"/>
                <a:cs typeface="Arial" pitchFamily="34" charset="-120"/>
              </a:rPr>
              <a:t>   ·   min-instances=1, session affinity</a:t>
            </a:r>
            <a:endParaRPr lang="en-US" sz="1400" dirty="0"/>
          </a:p>
        </p:txBody>
      </p:sp>
      <p:sp>
        <p:nvSpPr>
          <p:cNvPr id="11" name="Shape 9"/>
          <p:cNvSpPr/>
          <p:nvPr/>
        </p:nvSpPr>
        <p:spPr>
          <a:xfrm>
            <a:off x="3922776" y="2103120"/>
            <a:ext cx="3995928" cy="438912"/>
          </a:xfrm>
          <a:prstGeom prst="roundRect">
            <a:avLst>
              <a:gd name="adj" fmla="val 10417"/>
            </a:avLst>
          </a:prstGeom>
          <a:solidFill>
            <a:srgbClr val="FFFFFF"/>
          </a:solidFill>
          <a:ln w="12700">
            <a:solidFill>
              <a:srgbClr val="E6E3DF"/>
            </a:solidFill>
            <a:prstDash val="solid"/>
          </a:ln>
        </p:spPr>
      </p:sp>
      <p:sp>
        <p:nvSpPr>
          <p:cNvPr id="12" name="Text 10"/>
          <p:cNvSpPr/>
          <p:nvPr/>
        </p:nvSpPr>
        <p:spPr>
          <a:xfrm>
            <a:off x="4069080" y="2103120"/>
            <a:ext cx="822960" cy="438912"/>
          </a:xfrm>
          <a:prstGeom prst="rect">
            <a:avLst/>
          </a:prstGeom>
          <a:noFill/>
          <a:ln/>
        </p:spPr>
        <p:txBody>
          <a:bodyPr wrap="square" lIns="0" tIns="0" rIns="0" bIns="0" rtlCol="0" anchor="ctr"/>
          <a:lstStyle/>
          <a:p>
            <a:pPr indent="0" marL="0">
              <a:buNone/>
            </a:pPr>
            <a:r>
              <a:rPr lang="en-US" sz="1050" b="1" dirty="0">
                <a:solidFill>
                  <a:srgbClr val="FF6A3D"/>
                </a:solidFill>
                <a:latin typeface="Consolas" pitchFamily="34" charset="0"/>
                <a:ea typeface="Consolas" pitchFamily="34" charset="-122"/>
                <a:cs typeface="Consolas" pitchFamily="34" charset="-120"/>
              </a:rPr>
              <a:t>httpapi</a:t>
            </a:r>
            <a:endParaRPr lang="en-US" sz="1050" dirty="0"/>
          </a:p>
        </p:txBody>
      </p:sp>
      <p:sp>
        <p:nvSpPr>
          <p:cNvPr id="13" name="Text 11"/>
          <p:cNvSpPr/>
          <p:nvPr/>
        </p:nvSpPr>
        <p:spPr>
          <a:xfrm>
            <a:off x="4873752" y="2103120"/>
            <a:ext cx="3008376" cy="438912"/>
          </a:xfrm>
          <a:prstGeom prst="rect">
            <a:avLst/>
          </a:prstGeom>
          <a:noFill/>
          <a:ln/>
        </p:spPr>
        <p:txBody>
          <a:bodyPr wrap="square" lIns="0" tIns="0" rIns="0" bIns="0" rtlCol="0" anchor="ctr"/>
          <a:lstStyle/>
          <a:p>
            <a:pPr indent="0" marL="0">
              <a:buNone/>
            </a:pPr>
            <a:r>
              <a:rPr lang="en-US" sz="1050" dirty="0">
                <a:solidFill>
                  <a:srgbClr val="3A3D4D"/>
                </a:solidFill>
                <a:latin typeface="Calibri" pitchFamily="34" charset="0"/>
                <a:ea typeface="Calibri" pitchFamily="34" charset="-122"/>
                <a:cs typeface="Calibri" pitchFamily="34" charset="-120"/>
              </a:rPr>
              <a:t>REST · sessions, digest, report, roadmap</a:t>
            </a:r>
            <a:endParaRPr lang="en-US" sz="1050" dirty="0"/>
          </a:p>
        </p:txBody>
      </p:sp>
      <p:sp>
        <p:nvSpPr>
          <p:cNvPr id="14" name="Shape 12"/>
          <p:cNvSpPr/>
          <p:nvPr/>
        </p:nvSpPr>
        <p:spPr>
          <a:xfrm>
            <a:off x="3922776" y="2624328"/>
            <a:ext cx="3995928" cy="438912"/>
          </a:xfrm>
          <a:prstGeom prst="roundRect">
            <a:avLst>
              <a:gd name="adj" fmla="val 10417"/>
            </a:avLst>
          </a:prstGeom>
          <a:solidFill>
            <a:srgbClr val="FFFFFF"/>
          </a:solidFill>
          <a:ln w="12700">
            <a:solidFill>
              <a:srgbClr val="E6E3DF"/>
            </a:solidFill>
            <a:prstDash val="solid"/>
          </a:ln>
        </p:spPr>
      </p:sp>
      <p:sp>
        <p:nvSpPr>
          <p:cNvPr id="15" name="Text 13"/>
          <p:cNvSpPr/>
          <p:nvPr/>
        </p:nvSpPr>
        <p:spPr>
          <a:xfrm>
            <a:off x="4069080" y="2624328"/>
            <a:ext cx="822960" cy="438912"/>
          </a:xfrm>
          <a:prstGeom prst="rect">
            <a:avLst/>
          </a:prstGeom>
          <a:noFill/>
          <a:ln/>
        </p:spPr>
        <p:txBody>
          <a:bodyPr wrap="square" lIns="0" tIns="0" rIns="0" bIns="0" rtlCol="0" anchor="ctr"/>
          <a:lstStyle/>
          <a:p>
            <a:pPr indent="0" marL="0">
              <a:buNone/>
            </a:pPr>
            <a:r>
              <a:rPr lang="en-US" sz="1050" b="1" dirty="0">
                <a:solidFill>
                  <a:srgbClr val="FF6A3D"/>
                </a:solidFill>
                <a:latin typeface="Consolas" pitchFamily="34" charset="0"/>
                <a:ea typeface="Consolas" pitchFamily="34" charset="-122"/>
                <a:cs typeface="Consolas" pitchFamily="34" charset="-120"/>
              </a:rPr>
              <a:t>live</a:t>
            </a:r>
            <a:endParaRPr lang="en-US" sz="1050" dirty="0"/>
          </a:p>
        </p:txBody>
      </p:sp>
      <p:sp>
        <p:nvSpPr>
          <p:cNvPr id="16" name="Text 14"/>
          <p:cNvSpPr/>
          <p:nvPr/>
        </p:nvSpPr>
        <p:spPr>
          <a:xfrm>
            <a:off x="4873752" y="2624328"/>
            <a:ext cx="3008376" cy="438912"/>
          </a:xfrm>
          <a:prstGeom prst="rect">
            <a:avLst/>
          </a:prstGeom>
          <a:noFill/>
          <a:ln/>
        </p:spPr>
        <p:txBody>
          <a:bodyPr wrap="square" lIns="0" tIns="0" rIns="0" bIns="0" rtlCol="0" anchor="ctr"/>
          <a:lstStyle/>
          <a:p>
            <a:pPr indent="0" marL="0">
              <a:buNone/>
            </a:pPr>
            <a:r>
              <a:rPr lang="en-US" sz="1050" dirty="0">
                <a:solidFill>
                  <a:srgbClr val="3A3D4D"/>
                </a:solidFill>
                <a:latin typeface="Calibri" pitchFamily="34" charset="0"/>
                <a:ea typeface="Calibri" pitchFamily="34" charset="-122"/>
                <a:cs typeface="Calibri" pitchFamily="34" charset="-120"/>
              </a:rPr>
              <a:t>WebSocket relay · turn boundaries, framing</a:t>
            </a:r>
            <a:endParaRPr lang="en-US" sz="1050" dirty="0"/>
          </a:p>
        </p:txBody>
      </p:sp>
      <p:sp>
        <p:nvSpPr>
          <p:cNvPr id="17" name="Shape 15"/>
          <p:cNvSpPr/>
          <p:nvPr/>
        </p:nvSpPr>
        <p:spPr>
          <a:xfrm>
            <a:off x="3922776" y="3145536"/>
            <a:ext cx="3995928" cy="438912"/>
          </a:xfrm>
          <a:prstGeom prst="roundRect">
            <a:avLst>
              <a:gd name="adj" fmla="val 10417"/>
            </a:avLst>
          </a:prstGeom>
          <a:solidFill>
            <a:srgbClr val="FFFFFF"/>
          </a:solidFill>
          <a:ln w="12700">
            <a:solidFill>
              <a:srgbClr val="E6E3DF"/>
            </a:solidFill>
            <a:prstDash val="solid"/>
          </a:ln>
        </p:spPr>
      </p:sp>
      <p:sp>
        <p:nvSpPr>
          <p:cNvPr id="18" name="Text 16"/>
          <p:cNvSpPr/>
          <p:nvPr/>
        </p:nvSpPr>
        <p:spPr>
          <a:xfrm>
            <a:off x="4069080" y="3145536"/>
            <a:ext cx="822960" cy="438912"/>
          </a:xfrm>
          <a:prstGeom prst="rect">
            <a:avLst/>
          </a:prstGeom>
          <a:noFill/>
          <a:ln/>
        </p:spPr>
        <p:txBody>
          <a:bodyPr wrap="square" lIns="0" tIns="0" rIns="0" bIns="0" rtlCol="0" anchor="ctr"/>
          <a:lstStyle/>
          <a:p>
            <a:pPr indent="0" marL="0">
              <a:buNone/>
            </a:pPr>
            <a:r>
              <a:rPr lang="en-US" sz="1050" b="1" dirty="0">
                <a:solidFill>
                  <a:srgbClr val="FF6A3D"/>
                </a:solidFill>
                <a:latin typeface="Consolas" pitchFamily="34" charset="0"/>
                <a:ea typeface="Consolas" pitchFamily="34" charset="-122"/>
                <a:cs typeface="Consolas" pitchFamily="34" charset="-120"/>
              </a:rPr>
              <a:t>worker</a:t>
            </a:r>
            <a:endParaRPr lang="en-US" sz="1050" dirty="0"/>
          </a:p>
        </p:txBody>
      </p:sp>
      <p:sp>
        <p:nvSpPr>
          <p:cNvPr id="19" name="Text 17"/>
          <p:cNvSpPr/>
          <p:nvPr/>
        </p:nvSpPr>
        <p:spPr>
          <a:xfrm>
            <a:off x="4873752" y="3145536"/>
            <a:ext cx="3008376" cy="438912"/>
          </a:xfrm>
          <a:prstGeom prst="rect">
            <a:avLst/>
          </a:prstGeom>
          <a:noFill/>
          <a:ln/>
        </p:spPr>
        <p:txBody>
          <a:bodyPr wrap="square" lIns="0" tIns="0" rIns="0" bIns="0" rtlCol="0" anchor="ctr"/>
          <a:lstStyle/>
          <a:p>
            <a:pPr indent="0" marL="0">
              <a:buNone/>
            </a:pPr>
            <a:r>
              <a:rPr lang="en-US" sz="1050" dirty="0">
                <a:solidFill>
                  <a:srgbClr val="3A3D4D"/>
                </a:solidFill>
                <a:latin typeface="Calibri" pitchFamily="34" charset="0"/>
                <a:ea typeface="Calibri" pitchFamily="34" charset="-122"/>
                <a:cs typeface="Calibri" pitchFamily="34" charset="-120"/>
              </a:rPr>
              <a:t>grading pool · evaluate, delivery, finalize</a:t>
            </a:r>
            <a:endParaRPr lang="en-US" sz="1050" dirty="0"/>
          </a:p>
        </p:txBody>
      </p:sp>
      <p:sp>
        <p:nvSpPr>
          <p:cNvPr id="20" name="Shape 18"/>
          <p:cNvSpPr/>
          <p:nvPr/>
        </p:nvSpPr>
        <p:spPr>
          <a:xfrm>
            <a:off x="3922776" y="3785616"/>
            <a:ext cx="3995928" cy="621792"/>
          </a:xfrm>
          <a:prstGeom prst="roundRect">
            <a:avLst>
              <a:gd name="adj" fmla="val 7353"/>
            </a:avLst>
          </a:prstGeom>
          <a:solidFill>
            <a:srgbClr val="EFECE8"/>
          </a:solidFill>
          <a:ln w="12700">
            <a:solidFill>
              <a:srgbClr val="E6E3DF"/>
            </a:solidFill>
            <a:prstDash val="solid"/>
          </a:ln>
        </p:spPr>
      </p:sp>
      <p:sp>
        <p:nvSpPr>
          <p:cNvPr id="21" name="Text 19"/>
          <p:cNvSpPr/>
          <p:nvPr/>
        </p:nvSpPr>
        <p:spPr>
          <a:xfrm>
            <a:off x="3922776" y="3785616"/>
            <a:ext cx="3995928" cy="329184"/>
          </a:xfrm>
          <a:prstGeom prst="rect">
            <a:avLst/>
          </a:prstGeom>
          <a:noFill/>
          <a:ln/>
        </p:spPr>
        <p:txBody>
          <a:bodyPr wrap="square" lIns="0" tIns="0" rIns="0" bIns="0" rtlCol="0" anchor="ctr"/>
          <a:lstStyle/>
          <a:p>
            <a:pPr algn="ctr" indent="0" marL="0">
              <a:buNone/>
            </a:pPr>
            <a:r>
              <a:rPr lang="en-US" sz="950" dirty="0">
                <a:solidFill>
                  <a:srgbClr val="3A3D4D"/>
                </a:solidFill>
                <a:latin typeface="Consolas" pitchFamily="34" charset="0"/>
                <a:ea typeface="Consolas" pitchFamily="34" charset="-122"/>
                <a:cs typeface="Consolas" pitchFamily="34" charset="-120"/>
              </a:rPr>
              <a:t>Firestore — source of truth   ·   Cloud Storage</a:t>
            </a:r>
            <a:endParaRPr lang="en-US" sz="950" dirty="0"/>
          </a:p>
        </p:txBody>
      </p:sp>
      <p:sp>
        <p:nvSpPr>
          <p:cNvPr id="22" name="Text 20"/>
          <p:cNvSpPr/>
          <p:nvPr/>
        </p:nvSpPr>
        <p:spPr>
          <a:xfrm>
            <a:off x="3922776" y="4078224"/>
            <a:ext cx="3995928" cy="274320"/>
          </a:xfrm>
          <a:prstGeom prst="rect">
            <a:avLst/>
          </a:prstGeom>
          <a:noFill/>
          <a:ln/>
        </p:spPr>
        <p:txBody>
          <a:bodyPr wrap="square" lIns="0" tIns="0" rIns="0" bIns="0" rtlCol="0" anchor="ctr"/>
          <a:lstStyle/>
          <a:p>
            <a:pPr algn="ctr" indent="0" marL="0">
              <a:buNone/>
            </a:pPr>
            <a:r>
              <a:rPr lang="en-US" sz="950" i="1" dirty="0">
                <a:solidFill>
                  <a:srgbClr val="6E7285"/>
                </a:solidFill>
                <a:latin typeface="Calibri" pitchFamily="34" charset="0"/>
                <a:ea typeface="Calibri" pitchFamily="34" charset="-122"/>
                <a:cs typeface="Calibri" pitchFamily="34" charset="-120"/>
              </a:rPr>
              <a:t>in-memory session state is only a cache</a:t>
            </a:r>
            <a:endParaRPr lang="en-US" sz="950" dirty="0"/>
          </a:p>
        </p:txBody>
      </p:sp>
      <p:sp>
        <p:nvSpPr>
          <p:cNvPr id="23" name="Text 21"/>
          <p:cNvSpPr/>
          <p:nvPr/>
        </p:nvSpPr>
        <p:spPr>
          <a:xfrm>
            <a:off x="9052560" y="1316736"/>
            <a:ext cx="2590495" cy="237744"/>
          </a:xfrm>
          <a:prstGeom prst="rect">
            <a:avLst/>
          </a:prstGeom>
          <a:noFill/>
          <a:ln/>
        </p:spPr>
        <p:txBody>
          <a:bodyPr wrap="square" lIns="0" tIns="0" rIns="0" bIns="0" rtlCol="0" anchor="ctr"/>
          <a:lstStyle/>
          <a:p>
            <a:pPr algn="ctr" indent="0" marL="0">
              <a:buNone/>
            </a:pPr>
            <a:r>
              <a:rPr lang="en-US" sz="900" b="1" spc="160" kern="0" dirty="0">
                <a:solidFill>
                  <a:srgbClr val="6E7285"/>
                </a:solidFill>
                <a:latin typeface="Consolas" pitchFamily="34" charset="0"/>
                <a:ea typeface="Consolas" pitchFamily="34" charset="-122"/>
                <a:cs typeface="Consolas" pitchFamily="34" charset="-120"/>
              </a:rPr>
              <a:t>VERTEX AI</a:t>
            </a:r>
            <a:endParaRPr lang="en-US" sz="900" dirty="0"/>
          </a:p>
        </p:txBody>
      </p:sp>
      <p:sp>
        <p:nvSpPr>
          <p:cNvPr id="24" name="Shape 22"/>
          <p:cNvSpPr/>
          <p:nvPr/>
        </p:nvSpPr>
        <p:spPr>
          <a:xfrm>
            <a:off x="9052560" y="1600200"/>
            <a:ext cx="2590495" cy="3017520"/>
          </a:xfrm>
          <a:prstGeom prst="roundRect">
            <a:avLst>
              <a:gd name="adj" fmla="val 1412"/>
            </a:avLst>
          </a:prstGeom>
          <a:solidFill>
            <a:srgbClr val="F7F5F2"/>
          </a:solidFill>
          <a:ln w="12700">
            <a:solidFill>
              <a:srgbClr val="E6E3DF"/>
            </a:solidFill>
            <a:prstDash val="solid"/>
          </a:ln>
          <a:effectLst>
            <a:outerShdw sx="100000" sy="100000" kx="0" ky="0" algn="bl" rotWithShape="0" blurRad="127000" dist="25400" dir="5400000">
              <a:srgbClr val="9C9890">
                <a:alpha val="16000"/>
              </a:srgbClr>
            </a:outerShdw>
          </a:effectLst>
        </p:spPr>
      </p:sp>
      <p:sp>
        <p:nvSpPr>
          <p:cNvPr id="25" name="Shape 23"/>
          <p:cNvSpPr/>
          <p:nvPr/>
        </p:nvSpPr>
        <p:spPr>
          <a:xfrm>
            <a:off x="9235440" y="1828800"/>
            <a:ext cx="2224735" cy="786384"/>
          </a:xfrm>
          <a:prstGeom prst="roundRect">
            <a:avLst>
              <a:gd name="adj" fmla="val 5814"/>
            </a:avLst>
          </a:prstGeom>
          <a:solidFill>
            <a:srgbClr val="FFFFFF"/>
          </a:solidFill>
          <a:ln w="12700">
            <a:solidFill>
              <a:srgbClr val="E6E3DF"/>
            </a:solidFill>
            <a:prstDash val="solid"/>
          </a:ln>
        </p:spPr>
      </p:sp>
      <p:sp>
        <p:nvSpPr>
          <p:cNvPr id="26" name="Text 24"/>
          <p:cNvSpPr/>
          <p:nvPr/>
        </p:nvSpPr>
        <p:spPr>
          <a:xfrm>
            <a:off x="9363456" y="1883664"/>
            <a:ext cx="1968703" cy="347472"/>
          </a:xfrm>
          <a:prstGeom prst="rect">
            <a:avLst/>
          </a:prstGeom>
          <a:noFill/>
          <a:ln/>
        </p:spPr>
        <p:txBody>
          <a:bodyPr wrap="square" lIns="0" tIns="0" rIns="0" bIns="0" rtlCol="0" anchor="ctr"/>
          <a:lstStyle/>
          <a:p>
            <a:pPr indent="0" marL="0">
              <a:lnSpc>
                <a:spcPct val="105000"/>
              </a:lnSpc>
              <a:buNone/>
            </a:pPr>
            <a:r>
              <a:rPr lang="en-US" sz="850" b="1" dirty="0">
                <a:solidFill>
                  <a:srgbClr val="B45309"/>
                </a:solidFill>
                <a:latin typeface="Consolas" pitchFamily="34" charset="0"/>
                <a:ea typeface="Consolas" pitchFamily="34" charset="-122"/>
                <a:cs typeface="Consolas" pitchFamily="34" charset="-120"/>
              </a:rPr>
              <a:t>gemini-live-2.5-</a:t>
            </a:r>
            <a:endParaRPr lang="en-US" sz="850" dirty="0"/>
          </a:p>
          <a:p>
            <a:pPr indent="0" marL="0">
              <a:lnSpc>
                <a:spcPct val="105000"/>
              </a:lnSpc>
              <a:buNone/>
            </a:pPr>
            <a:r>
              <a:rPr lang="en-US" sz="850" b="1" dirty="0">
                <a:solidFill>
                  <a:srgbClr val="B45309"/>
                </a:solidFill>
                <a:latin typeface="Consolas" pitchFamily="34" charset="0"/>
                <a:ea typeface="Consolas" pitchFamily="34" charset="-122"/>
                <a:cs typeface="Consolas" pitchFamily="34" charset="-120"/>
              </a:rPr>
              <a:t>flash-native-audio</a:t>
            </a:r>
            <a:endParaRPr lang="en-US" sz="850" dirty="0"/>
          </a:p>
        </p:txBody>
      </p:sp>
      <p:sp>
        <p:nvSpPr>
          <p:cNvPr id="27" name="Text 25"/>
          <p:cNvSpPr/>
          <p:nvPr/>
        </p:nvSpPr>
        <p:spPr>
          <a:xfrm>
            <a:off x="9363456" y="2231136"/>
            <a:ext cx="1968703" cy="182880"/>
          </a:xfrm>
          <a:prstGeom prst="rect">
            <a:avLst/>
          </a:prstGeom>
          <a:noFill/>
          <a:ln/>
        </p:spPr>
        <p:txBody>
          <a:bodyPr wrap="square" lIns="0" tIns="0" rIns="0" bIns="0" rtlCol="0" anchor="ctr"/>
          <a:lstStyle/>
          <a:p>
            <a:pPr indent="0" marL="0">
              <a:buNone/>
            </a:pPr>
            <a:r>
              <a:rPr lang="en-US" sz="1000" dirty="0">
                <a:solidFill>
                  <a:srgbClr val="12141C"/>
                </a:solidFill>
                <a:latin typeface="Calibri" pitchFamily="34" charset="0"/>
                <a:ea typeface="Calibri" pitchFamily="34" charset="-122"/>
                <a:cs typeface="Calibri" pitchFamily="34" charset="-120"/>
              </a:rPr>
              <a:t>the conversation</a:t>
            </a:r>
            <a:endParaRPr lang="en-US" sz="1000" dirty="0"/>
          </a:p>
        </p:txBody>
      </p:sp>
      <p:sp>
        <p:nvSpPr>
          <p:cNvPr id="28" name="Text 26"/>
          <p:cNvSpPr/>
          <p:nvPr/>
        </p:nvSpPr>
        <p:spPr>
          <a:xfrm>
            <a:off x="9363456" y="2395728"/>
            <a:ext cx="1968703" cy="182880"/>
          </a:xfrm>
          <a:prstGeom prst="rect">
            <a:avLst/>
          </a:prstGeom>
          <a:noFill/>
          <a:ln/>
        </p:spPr>
        <p:txBody>
          <a:bodyPr wrap="square" lIns="0" tIns="0" rIns="0" bIns="0" rtlCol="0" anchor="ctr"/>
          <a:lstStyle/>
          <a:p>
            <a:pPr indent="0" marL="0">
              <a:buNone/>
            </a:pPr>
            <a:r>
              <a:rPr lang="en-US" sz="850" dirty="0">
                <a:solidFill>
                  <a:srgbClr val="6E7285"/>
                </a:solidFill>
                <a:latin typeface="Consolas" pitchFamily="34" charset="0"/>
                <a:ea typeface="Consolas" pitchFamily="34" charset="-122"/>
                <a:cs typeface="Consolas" pitchFamily="34" charset="-120"/>
              </a:rPr>
              <a:t>us-central1</a:t>
            </a:r>
            <a:endParaRPr lang="en-US" sz="850" dirty="0"/>
          </a:p>
        </p:txBody>
      </p:sp>
      <p:sp>
        <p:nvSpPr>
          <p:cNvPr id="29" name="Shape 27"/>
          <p:cNvSpPr/>
          <p:nvPr/>
        </p:nvSpPr>
        <p:spPr>
          <a:xfrm>
            <a:off x="9235440" y="2724912"/>
            <a:ext cx="2224735" cy="786384"/>
          </a:xfrm>
          <a:prstGeom prst="roundRect">
            <a:avLst>
              <a:gd name="adj" fmla="val 5814"/>
            </a:avLst>
          </a:prstGeom>
          <a:solidFill>
            <a:srgbClr val="FFFFFF"/>
          </a:solidFill>
          <a:ln w="12700">
            <a:solidFill>
              <a:srgbClr val="E6E3DF"/>
            </a:solidFill>
            <a:prstDash val="solid"/>
          </a:ln>
        </p:spPr>
      </p:sp>
      <p:sp>
        <p:nvSpPr>
          <p:cNvPr id="30" name="Text 28"/>
          <p:cNvSpPr/>
          <p:nvPr/>
        </p:nvSpPr>
        <p:spPr>
          <a:xfrm>
            <a:off x="9363456" y="2779776"/>
            <a:ext cx="1968703" cy="347472"/>
          </a:xfrm>
          <a:prstGeom prst="rect">
            <a:avLst/>
          </a:prstGeom>
          <a:noFill/>
          <a:ln/>
        </p:spPr>
        <p:txBody>
          <a:bodyPr wrap="square" lIns="0" tIns="0" rIns="0" bIns="0" rtlCol="0" anchor="ctr"/>
          <a:lstStyle/>
          <a:p>
            <a:pPr indent="0" marL="0">
              <a:lnSpc>
                <a:spcPct val="105000"/>
              </a:lnSpc>
              <a:buNone/>
            </a:pPr>
            <a:r>
              <a:rPr lang="en-US" sz="850" b="1" dirty="0">
                <a:solidFill>
                  <a:srgbClr val="B45309"/>
                </a:solidFill>
                <a:latin typeface="Consolas" pitchFamily="34" charset="0"/>
                <a:ea typeface="Consolas" pitchFamily="34" charset="-122"/>
                <a:cs typeface="Consolas" pitchFamily="34" charset="-120"/>
              </a:rPr>
              <a:t>gemini-3.6-flash</a:t>
            </a:r>
            <a:endParaRPr lang="en-US" sz="850" dirty="0"/>
          </a:p>
        </p:txBody>
      </p:sp>
      <p:sp>
        <p:nvSpPr>
          <p:cNvPr id="31" name="Text 29"/>
          <p:cNvSpPr/>
          <p:nvPr/>
        </p:nvSpPr>
        <p:spPr>
          <a:xfrm>
            <a:off x="9363456" y="3127248"/>
            <a:ext cx="1968703" cy="182880"/>
          </a:xfrm>
          <a:prstGeom prst="rect">
            <a:avLst/>
          </a:prstGeom>
          <a:noFill/>
          <a:ln/>
        </p:spPr>
        <p:txBody>
          <a:bodyPr wrap="square" lIns="0" tIns="0" rIns="0" bIns="0" rtlCol="0" anchor="ctr"/>
          <a:lstStyle/>
          <a:p>
            <a:pPr indent="0" marL="0">
              <a:buNone/>
            </a:pPr>
            <a:r>
              <a:rPr lang="en-US" sz="1000" dirty="0">
                <a:solidFill>
                  <a:srgbClr val="12141C"/>
                </a:solidFill>
                <a:latin typeface="Calibri" pitchFamily="34" charset="0"/>
                <a:ea typeface="Calibri" pitchFamily="34" charset="-122"/>
                <a:cs typeface="Calibri" pitchFamily="34" charset="-120"/>
              </a:rPr>
              <a:t>span grading, digest</a:t>
            </a:r>
            <a:endParaRPr lang="en-US" sz="1000" dirty="0"/>
          </a:p>
        </p:txBody>
      </p:sp>
      <p:sp>
        <p:nvSpPr>
          <p:cNvPr id="32" name="Text 30"/>
          <p:cNvSpPr/>
          <p:nvPr/>
        </p:nvSpPr>
        <p:spPr>
          <a:xfrm>
            <a:off x="9363456" y="3291840"/>
            <a:ext cx="1968703" cy="182880"/>
          </a:xfrm>
          <a:prstGeom prst="rect">
            <a:avLst/>
          </a:prstGeom>
          <a:noFill/>
          <a:ln/>
        </p:spPr>
        <p:txBody>
          <a:bodyPr wrap="square" lIns="0" tIns="0" rIns="0" bIns="0" rtlCol="0" anchor="ctr"/>
          <a:lstStyle/>
          <a:p>
            <a:pPr indent="0" marL="0">
              <a:buNone/>
            </a:pPr>
            <a:r>
              <a:rPr lang="en-US" sz="850" dirty="0">
                <a:solidFill>
                  <a:srgbClr val="6E7285"/>
                </a:solidFill>
                <a:latin typeface="Consolas" pitchFamily="34" charset="0"/>
                <a:ea typeface="Consolas" pitchFamily="34" charset="-122"/>
                <a:cs typeface="Consolas" pitchFamily="34" charset="-120"/>
              </a:rPr>
              <a:t>4.3 s · global</a:t>
            </a:r>
            <a:endParaRPr lang="en-US" sz="850" dirty="0"/>
          </a:p>
        </p:txBody>
      </p:sp>
      <p:sp>
        <p:nvSpPr>
          <p:cNvPr id="33" name="Shape 31"/>
          <p:cNvSpPr/>
          <p:nvPr/>
        </p:nvSpPr>
        <p:spPr>
          <a:xfrm>
            <a:off x="9235440" y="3621024"/>
            <a:ext cx="2224735" cy="786384"/>
          </a:xfrm>
          <a:prstGeom prst="roundRect">
            <a:avLst>
              <a:gd name="adj" fmla="val 5814"/>
            </a:avLst>
          </a:prstGeom>
          <a:solidFill>
            <a:srgbClr val="FFFFFF"/>
          </a:solidFill>
          <a:ln w="12700">
            <a:solidFill>
              <a:srgbClr val="E6E3DF"/>
            </a:solidFill>
            <a:prstDash val="solid"/>
          </a:ln>
        </p:spPr>
      </p:sp>
      <p:sp>
        <p:nvSpPr>
          <p:cNvPr id="34" name="Text 32"/>
          <p:cNvSpPr/>
          <p:nvPr/>
        </p:nvSpPr>
        <p:spPr>
          <a:xfrm>
            <a:off x="9363456" y="3675888"/>
            <a:ext cx="1968703" cy="347472"/>
          </a:xfrm>
          <a:prstGeom prst="rect">
            <a:avLst/>
          </a:prstGeom>
          <a:noFill/>
          <a:ln/>
        </p:spPr>
        <p:txBody>
          <a:bodyPr wrap="square" lIns="0" tIns="0" rIns="0" bIns="0" rtlCol="0" anchor="ctr"/>
          <a:lstStyle/>
          <a:p>
            <a:pPr indent="0" marL="0">
              <a:lnSpc>
                <a:spcPct val="105000"/>
              </a:lnSpc>
              <a:buNone/>
            </a:pPr>
            <a:r>
              <a:rPr lang="en-US" sz="850" b="1" dirty="0">
                <a:solidFill>
                  <a:srgbClr val="B45309"/>
                </a:solidFill>
                <a:latin typeface="Consolas" pitchFamily="34" charset="0"/>
                <a:ea typeface="Consolas" pitchFamily="34" charset="-122"/>
                <a:cs typeface="Consolas" pitchFamily="34" charset="-120"/>
              </a:rPr>
              <a:t>gemini-3.5-flash-lite</a:t>
            </a:r>
            <a:endParaRPr lang="en-US" sz="850" dirty="0"/>
          </a:p>
        </p:txBody>
      </p:sp>
      <p:sp>
        <p:nvSpPr>
          <p:cNvPr id="35" name="Text 33"/>
          <p:cNvSpPr/>
          <p:nvPr/>
        </p:nvSpPr>
        <p:spPr>
          <a:xfrm>
            <a:off x="9363456" y="4023360"/>
            <a:ext cx="1968703" cy="182880"/>
          </a:xfrm>
          <a:prstGeom prst="rect">
            <a:avLst/>
          </a:prstGeom>
          <a:noFill/>
          <a:ln/>
        </p:spPr>
        <p:txBody>
          <a:bodyPr wrap="square" lIns="0" tIns="0" rIns="0" bIns="0" rtlCol="0" anchor="ctr"/>
          <a:lstStyle/>
          <a:p>
            <a:pPr indent="0" marL="0">
              <a:buNone/>
            </a:pPr>
            <a:r>
              <a:rPr lang="en-US" sz="1000" dirty="0">
                <a:solidFill>
                  <a:srgbClr val="12141C"/>
                </a:solidFill>
                <a:latin typeface="Calibri" pitchFamily="34" charset="0"/>
                <a:ea typeface="Calibri" pitchFamily="34" charset="-122"/>
                <a:cs typeface="Calibri" pitchFamily="34" charset="-120"/>
              </a:rPr>
              <a:t>Socratic hints</a:t>
            </a:r>
            <a:endParaRPr lang="en-US" sz="1000" dirty="0"/>
          </a:p>
        </p:txBody>
      </p:sp>
      <p:sp>
        <p:nvSpPr>
          <p:cNvPr id="36" name="Text 34"/>
          <p:cNvSpPr/>
          <p:nvPr/>
        </p:nvSpPr>
        <p:spPr>
          <a:xfrm>
            <a:off x="9363456" y="4187952"/>
            <a:ext cx="1968703" cy="182880"/>
          </a:xfrm>
          <a:prstGeom prst="rect">
            <a:avLst/>
          </a:prstGeom>
          <a:noFill/>
          <a:ln/>
        </p:spPr>
        <p:txBody>
          <a:bodyPr wrap="square" lIns="0" tIns="0" rIns="0" bIns="0" rtlCol="0" anchor="ctr"/>
          <a:lstStyle/>
          <a:p>
            <a:pPr indent="0" marL="0">
              <a:buNone/>
            </a:pPr>
            <a:r>
              <a:rPr lang="en-US" sz="850" dirty="0">
                <a:solidFill>
                  <a:srgbClr val="6E7285"/>
                </a:solidFill>
                <a:latin typeface="Consolas" pitchFamily="34" charset="0"/>
                <a:ea typeface="Consolas" pitchFamily="34" charset="-122"/>
                <a:cs typeface="Consolas" pitchFamily="34" charset="-120"/>
              </a:rPr>
              <a:t>~1.5 s · global</a:t>
            </a:r>
            <a:endParaRPr lang="en-US" sz="850" dirty="0"/>
          </a:p>
        </p:txBody>
      </p:sp>
      <p:sp>
        <p:nvSpPr>
          <p:cNvPr id="37" name="Shape 35"/>
          <p:cNvSpPr/>
          <p:nvPr/>
        </p:nvSpPr>
        <p:spPr>
          <a:xfrm>
            <a:off x="2395728" y="2743200"/>
            <a:ext cx="1243584" cy="0"/>
          </a:xfrm>
          <a:prstGeom prst="line">
            <a:avLst/>
          </a:prstGeom>
          <a:noFill/>
          <a:ln w="22225">
            <a:solidFill>
              <a:srgbClr val="FF6A3D"/>
            </a:solidFill>
            <a:prstDash val="solid"/>
            <a:tailEnd type="triangle"/>
          </a:ln>
        </p:spPr>
      </p:sp>
      <p:sp>
        <p:nvSpPr>
          <p:cNvPr id="38" name="Text 36"/>
          <p:cNvSpPr/>
          <p:nvPr/>
        </p:nvSpPr>
        <p:spPr>
          <a:xfrm>
            <a:off x="2340864" y="2432304"/>
            <a:ext cx="1353312" cy="219456"/>
          </a:xfrm>
          <a:prstGeom prst="rect">
            <a:avLst/>
          </a:prstGeom>
          <a:noFill/>
          <a:ln/>
        </p:spPr>
        <p:txBody>
          <a:bodyPr wrap="square" lIns="0" tIns="0" rIns="0" bIns="0" rtlCol="0" anchor="ctr"/>
          <a:lstStyle/>
          <a:p>
            <a:pPr algn="ctr" indent="0" marL="0">
              <a:buNone/>
            </a:pPr>
            <a:r>
              <a:rPr lang="en-US" sz="800" b="1" dirty="0">
                <a:solidFill>
                  <a:srgbClr val="FF6A3D"/>
                </a:solidFill>
                <a:latin typeface="Consolas" pitchFamily="34" charset="0"/>
                <a:ea typeface="Consolas" pitchFamily="34" charset="-122"/>
                <a:cs typeface="Consolas" pitchFamily="34" charset="-120"/>
              </a:rPr>
              <a:t>wss://  PCM16 16k</a:t>
            </a:r>
            <a:endParaRPr lang="en-US" sz="800" dirty="0"/>
          </a:p>
        </p:txBody>
      </p:sp>
      <p:sp>
        <p:nvSpPr>
          <p:cNvPr id="39" name="Text 37"/>
          <p:cNvSpPr/>
          <p:nvPr/>
        </p:nvSpPr>
        <p:spPr>
          <a:xfrm>
            <a:off x="2340864" y="2798064"/>
            <a:ext cx="1353312" cy="219456"/>
          </a:xfrm>
          <a:prstGeom prst="rect">
            <a:avLst/>
          </a:prstGeom>
          <a:noFill/>
          <a:ln/>
        </p:spPr>
        <p:txBody>
          <a:bodyPr wrap="square" lIns="0" tIns="0" rIns="0" bIns="0" rtlCol="0" anchor="ctr"/>
          <a:lstStyle/>
          <a:p>
            <a:pPr algn="ctr" indent="0" marL="0">
              <a:buNone/>
            </a:pPr>
            <a:r>
              <a:rPr lang="en-US" sz="800" dirty="0">
                <a:solidFill>
                  <a:srgbClr val="6E7285"/>
                </a:solidFill>
                <a:latin typeface="Consolas" pitchFamily="34" charset="0"/>
                <a:ea typeface="Consolas" pitchFamily="34" charset="-122"/>
                <a:cs typeface="Consolas" pitchFamily="34" charset="-120"/>
              </a:rPr>
              <a:t>PCM16 24k down</a:t>
            </a:r>
            <a:endParaRPr lang="en-US" sz="800" dirty="0"/>
          </a:p>
        </p:txBody>
      </p:sp>
      <p:sp>
        <p:nvSpPr>
          <p:cNvPr id="40" name="Shape 38"/>
          <p:cNvSpPr/>
          <p:nvPr/>
        </p:nvSpPr>
        <p:spPr>
          <a:xfrm>
            <a:off x="8202168" y="2743200"/>
            <a:ext cx="786384" cy="0"/>
          </a:xfrm>
          <a:prstGeom prst="line">
            <a:avLst/>
          </a:prstGeom>
          <a:noFill/>
          <a:ln w="22225">
            <a:solidFill>
              <a:srgbClr val="FF6A3D"/>
            </a:solidFill>
            <a:prstDash val="solid"/>
            <a:tailEnd type="triangle"/>
          </a:ln>
        </p:spPr>
      </p:sp>
      <p:sp>
        <p:nvSpPr>
          <p:cNvPr id="41" name="Text 39"/>
          <p:cNvSpPr/>
          <p:nvPr/>
        </p:nvSpPr>
        <p:spPr>
          <a:xfrm>
            <a:off x="8147304" y="2432304"/>
            <a:ext cx="896112" cy="219456"/>
          </a:xfrm>
          <a:prstGeom prst="rect">
            <a:avLst/>
          </a:prstGeom>
          <a:noFill/>
          <a:ln/>
        </p:spPr>
        <p:txBody>
          <a:bodyPr wrap="square" lIns="0" tIns="0" rIns="0" bIns="0" rtlCol="0" anchor="ctr"/>
          <a:lstStyle/>
          <a:p>
            <a:pPr algn="ctr" indent="0" marL="0">
              <a:buNone/>
            </a:pPr>
            <a:r>
              <a:rPr lang="en-US" sz="800" b="1" dirty="0">
                <a:solidFill>
                  <a:srgbClr val="FF6A3D"/>
                </a:solidFill>
                <a:latin typeface="Consolas" pitchFamily="34" charset="0"/>
                <a:ea typeface="Consolas" pitchFamily="34" charset="-122"/>
                <a:cs typeface="Consolas" pitchFamily="34" charset="-120"/>
              </a:rPr>
              <a:t>bidi</a:t>
            </a:r>
            <a:endParaRPr lang="en-US" sz="800" dirty="0"/>
          </a:p>
        </p:txBody>
      </p:sp>
      <p:sp>
        <p:nvSpPr>
          <p:cNvPr id="42" name="Text 40"/>
          <p:cNvSpPr/>
          <p:nvPr/>
        </p:nvSpPr>
        <p:spPr>
          <a:xfrm>
            <a:off x="8147304" y="2798064"/>
            <a:ext cx="896112" cy="219456"/>
          </a:xfrm>
          <a:prstGeom prst="rect">
            <a:avLst/>
          </a:prstGeom>
          <a:noFill/>
          <a:ln/>
        </p:spPr>
        <p:txBody>
          <a:bodyPr wrap="square" lIns="0" tIns="0" rIns="0" bIns="0" rtlCol="0" anchor="ctr"/>
          <a:lstStyle/>
          <a:p>
            <a:pPr algn="ctr" indent="0" marL="0">
              <a:buNone/>
            </a:pPr>
            <a:r>
              <a:rPr lang="en-US" sz="800" dirty="0">
                <a:solidFill>
                  <a:srgbClr val="6E7285"/>
                </a:solidFill>
                <a:latin typeface="Consolas" pitchFamily="34" charset="0"/>
                <a:ea typeface="Consolas" pitchFamily="34" charset="-122"/>
                <a:cs typeface="Consolas" pitchFamily="34" charset="-120"/>
              </a:rPr>
              <a:t>stream</a:t>
            </a:r>
            <a:endParaRPr lang="en-US" sz="800" dirty="0"/>
          </a:p>
        </p:txBody>
      </p:sp>
      <p:sp>
        <p:nvSpPr>
          <p:cNvPr id="43" name="Shape 41"/>
          <p:cNvSpPr/>
          <p:nvPr/>
        </p:nvSpPr>
        <p:spPr>
          <a:xfrm>
            <a:off x="10347808" y="4617720"/>
            <a:ext cx="0" cy="292608"/>
          </a:xfrm>
          <a:prstGeom prst="line">
            <a:avLst/>
          </a:prstGeom>
          <a:noFill/>
          <a:ln w="19050">
            <a:solidFill>
              <a:srgbClr val="B45309"/>
            </a:solidFill>
            <a:prstDash val="solid"/>
          </a:ln>
        </p:spPr>
      </p:sp>
      <p:sp>
        <p:nvSpPr>
          <p:cNvPr id="44" name="Shape 42"/>
          <p:cNvSpPr/>
          <p:nvPr/>
        </p:nvSpPr>
        <p:spPr>
          <a:xfrm>
            <a:off x="4206240" y="4910328"/>
            <a:ext cx="6141568" cy="0"/>
          </a:xfrm>
          <a:prstGeom prst="line">
            <a:avLst/>
          </a:prstGeom>
          <a:noFill/>
          <a:ln w="19050">
            <a:solidFill>
              <a:srgbClr val="B45309"/>
            </a:solidFill>
            <a:prstDash val="solid"/>
            <a:headEnd type="triangle"/>
          </a:ln>
        </p:spPr>
      </p:sp>
      <p:sp>
        <p:nvSpPr>
          <p:cNvPr id="45" name="Shape 43"/>
          <p:cNvSpPr/>
          <p:nvPr/>
        </p:nvSpPr>
        <p:spPr>
          <a:xfrm>
            <a:off x="4206240" y="4745736"/>
            <a:ext cx="0" cy="164592"/>
          </a:xfrm>
          <a:prstGeom prst="line">
            <a:avLst/>
          </a:prstGeom>
          <a:noFill/>
          <a:ln w="19050">
            <a:solidFill>
              <a:srgbClr val="B45309"/>
            </a:solidFill>
            <a:prstDash val="solid"/>
          </a:ln>
        </p:spPr>
      </p:sp>
      <p:sp>
        <p:nvSpPr>
          <p:cNvPr id="46" name="Text 44"/>
          <p:cNvSpPr/>
          <p:nvPr/>
        </p:nvSpPr>
        <p:spPr>
          <a:xfrm>
            <a:off x="4206240" y="4937760"/>
            <a:ext cx="6141568" cy="237744"/>
          </a:xfrm>
          <a:prstGeom prst="rect">
            <a:avLst/>
          </a:prstGeom>
          <a:noFill/>
          <a:ln/>
        </p:spPr>
        <p:txBody>
          <a:bodyPr wrap="square" lIns="0" tIns="0" rIns="0" bIns="0" rtlCol="0" anchor="ctr"/>
          <a:lstStyle/>
          <a:p>
            <a:pPr algn="ctr" indent="0" marL="0">
              <a:buNone/>
            </a:pPr>
            <a:r>
              <a:rPr lang="en-US" sz="800" b="1" dirty="0">
                <a:solidFill>
                  <a:srgbClr val="B45309"/>
                </a:solidFill>
                <a:latin typeface="Consolas" pitchFamily="34" charset="0"/>
                <a:ea typeface="Consolas" pitchFamily="34" charset="-122"/>
                <a:cs typeface="Consolas" pitchFamily="34" charset="-120"/>
              </a:rPr>
              <a:t>INJECTION LOOP  —  the grade steers the next question, inside the same open session</a:t>
            </a:r>
            <a:endParaRPr lang="en-US" sz="800" dirty="0"/>
          </a:p>
        </p:txBody>
      </p:sp>
      <p:sp>
        <p:nvSpPr>
          <p:cNvPr id="47" name="Text 45"/>
          <p:cNvSpPr/>
          <p:nvPr/>
        </p:nvSpPr>
        <p:spPr>
          <a:xfrm>
            <a:off x="548640" y="5285232"/>
            <a:ext cx="5410048" cy="237744"/>
          </a:xfrm>
          <a:prstGeom prst="rect">
            <a:avLst/>
          </a:prstGeom>
          <a:noFill/>
          <a:ln/>
        </p:spPr>
        <p:txBody>
          <a:bodyPr wrap="square" lIns="0" tIns="0" rIns="0" bIns="0" rtlCol="0" anchor="ctr"/>
          <a:lstStyle/>
          <a:p>
            <a:pPr indent="0" marL="0">
              <a:buNone/>
            </a:pPr>
            <a:r>
              <a:rPr lang="en-US" sz="1150" b="1" dirty="0">
                <a:solidFill>
                  <a:srgbClr val="12141C"/>
                </a:solidFill>
                <a:latin typeface="Arial" pitchFamily="34" charset="0"/>
                <a:ea typeface="Arial" pitchFamily="34" charset="-122"/>
                <a:cs typeface="Arial" pitchFamily="34" charset="-120"/>
              </a:rPr>
              <a:t>The relay is structural, not an optimisation</a:t>
            </a:r>
            <a:endParaRPr lang="en-US" sz="1150" dirty="0"/>
          </a:p>
        </p:txBody>
      </p:sp>
      <p:sp>
        <p:nvSpPr>
          <p:cNvPr id="48" name="Text 46"/>
          <p:cNvSpPr/>
          <p:nvPr/>
        </p:nvSpPr>
        <p:spPr>
          <a:xfrm>
            <a:off x="548640" y="5522976"/>
            <a:ext cx="5410048" cy="548640"/>
          </a:xfrm>
          <a:prstGeom prst="rect">
            <a:avLst/>
          </a:prstGeom>
          <a:noFill/>
          <a:ln/>
        </p:spPr>
        <p:txBody>
          <a:bodyPr wrap="square" lIns="0" tIns="0" rIns="0" bIns="0" rtlCol="0" anchor="t"/>
          <a:lstStyle/>
          <a:p>
            <a:pPr indent="0" marL="0">
              <a:lnSpc>
                <a:spcPct val="110000"/>
              </a:lnSpc>
              <a:buNone/>
            </a:pPr>
            <a:r>
              <a:rPr lang="en-US" sz="1000" dirty="0">
                <a:solidFill>
                  <a:srgbClr val="3A3D4D"/>
                </a:solidFill>
                <a:latin typeface="Calibri" pitchFamily="34" charset="0"/>
                <a:ea typeface="Calibri" pitchFamily="34" charset="-122"/>
                <a:cs typeface="Calibri" pitchFamily="34" charset="-120"/>
              </a:rPr>
              <a:t>Vertex authenticates with an OAuth2 token minted from a service account, and there is no safe way to put that key in a browser. Every audio frame must pass through our backend.</a:t>
            </a:r>
            <a:endParaRPr lang="en-US" sz="1000" dirty="0"/>
          </a:p>
        </p:txBody>
      </p:sp>
      <p:sp>
        <p:nvSpPr>
          <p:cNvPr id="49" name="Text 47"/>
          <p:cNvSpPr/>
          <p:nvPr/>
        </p:nvSpPr>
        <p:spPr>
          <a:xfrm>
            <a:off x="6233008" y="5285232"/>
            <a:ext cx="5410048" cy="237744"/>
          </a:xfrm>
          <a:prstGeom prst="rect">
            <a:avLst/>
          </a:prstGeom>
          <a:noFill/>
          <a:ln/>
        </p:spPr>
        <p:txBody>
          <a:bodyPr wrap="square" lIns="0" tIns="0" rIns="0" bIns="0" rtlCol="0" anchor="ctr"/>
          <a:lstStyle/>
          <a:p>
            <a:pPr indent="0" marL="0">
              <a:buNone/>
            </a:pPr>
            <a:r>
              <a:rPr lang="en-US" sz="1150" b="1" dirty="0">
                <a:solidFill>
                  <a:srgbClr val="12141C"/>
                </a:solidFill>
                <a:latin typeface="Arial" pitchFamily="34" charset="0"/>
                <a:ea typeface="Arial" pitchFamily="34" charset="-122"/>
                <a:cs typeface="Arial" pitchFamily="34" charset="-120"/>
              </a:rPr>
              <a:t>Two Vertex regions, because they aren't co-located</a:t>
            </a:r>
            <a:endParaRPr lang="en-US" sz="1150" dirty="0"/>
          </a:p>
        </p:txBody>
      </p:sp>
      <p:sp>
        <p:nvSpPr>
          <p:cNvPr id="50" name="Text 48"/>
          <p:cNvSpPr/>
          <p:nvPr/>
        </p:nvSpPr>
        <p:spPr>
          <a:xfrm>
            <a:off x="6233008" y="5522976"/>
            <a:ext cx="5410048" cy="548640"/>
          </a:xfrm>
          <a:prstGeom prst="rect">
            <a:avLst/>
          </a:prstGeom>
          <a:noFill/>
          <a:ln/>
        </p:spPr>
        <p:txBody>
          <a:bodyPr wrap="square" lIns="0" tIns="0" rIns="0" bIns="0" rtlCol="0" anchor="t"/>
          <a:lstStyle/>
          <a:p>
            <a:pPr indent="0" marL="0">
              <a:lnSpc>
                <a:spcPct val="110000"/>
              </a:lnSpc>
              <a:buNone/>
            </a:pPr>
            <a:r>
              <a:rPr lang="en-US" sz="1000" dirty="0">
                <a:solidFill>
                  <a:srgbClr val="3A3D4D"/>
                </a:solidFill>
                <a:latin typeface="Calibri" pitchFamily="34" charset="0"/>
                <a:ea typeface="Calibri" pitchFamily="34" charset="-122"/>
                <a:cs typeface="Calibri" pitchFamily="34" charset="-120"/>
              </a:rPr>
              <a:t>Measured with real bidi handshakes: Live works in us-central1 and fails in global; Gemini 3.x text is global-only. Two SDK clients, one config. Assumed co-location would have failed on stage.</a:t>
            </a:r>
            <a:endParaRPr lang="en-US" sz="1000" dirty="0"/>
          </a:p>
        </p:txBody>
      </p:sp>
      <p:pic>
        <p:nvPicPr>
          <p:cNvPr id="51" name="Image 0" descr="C:\Users\santh\programming\proj\Crucible\documentation\deck\assets\go.png">    </p:cNvPr>
          <p:cNvPicPr>
            <a:picLocks noChangeAspect="1"/>
          </p:cNvPicPr>
          <p:nvPr/>
        </p:nvPicPr>
        <p:blipFill>
          <a:blip r:embed="rId1"/>
          <a:stretch>
            <a:fillRect/>
          </a:stretch>
        </p:blipFill>
        <p:spPr>
          <a:xfrm>
            <a:off x="1114025" y="6199632"/>
            <a:ext cx="256032" cy="256032"/>
          </a:xfrm>
          <a:prstGeom prst="rect">
            <a:avLst/>
          </a:prstGeom>
        </p:spPr>
      </p:pic>
      <p:sp>
        <p:nvSpPr>
          <p:cNvPr id="52" name="Text 49"/>
          <p:cNvSpPr/>
          <p:nvPr/>
        </p:nvSpPr>
        <p:spPr>
          <a:xfrm>
            <a:off x="548640" y="6473952"/>
            <a:ext cx="1386802" cy="201168"/>
          </a:xfrm>
          <a:prstGeom prst="rect">
            <a:avLst/>
          </a:prstGeom>
          <a:noFill/>
          <a:ln/>
        </p:spPr>
        <p:txBody>
          <a:bodyPr wrap="square" lIns="0" tIns="0" rIns="0" bIns="0" rtlCol="0" anchor="ctr"/>
          <a:lstStyle/>
          <a:p>
            <a:pPr algn="ctr" indent="0" marL="0">
              <a:buNone/>
            </a:pPr>
            <a:r>
              <a:rPr lang="en-US" sz="750" dirty="0">
                <a:solidFill>
                  <a:srgbClr val="6E7285"/>
                </a:solidFill>
                <a:latin typeface="Consolas" pitchFamily="34" charset="0"/>
                <a:ea typeface="Consolas" pitchFamily="34" charset="-122"/>
                <a:cs typeface="Consolas" pitchFamily="34" charset="-120"/>
              </a:rPr>
              <a:t>Go 1.26</a:t>
            </a:r>
            <a:endParaRPr lang="en-US" sz="750" dirty="0"/>
          </a:p>
        </p:txBody>
      </p:sp>
      <p:pic>
        <p:nvPicPr>
          <p:cNvPr id="53" name="Image 1" descr="C:\Users\santh\programming\proj\Crucible\documentation\deck\assets\googlecloud.png">    </p:cNvPr>
          <p:cNvPicPr>
            <a:picLocks noChangeAspect="1"/>
          </p:cNvPicPr>
          <p:nvPr/>
        </p:nvPicPr>
        <p:blipFill>
          <a:blip r:embed="rId2"/>
          <a:stretch>
            <a:fillRect/>
          </a:stretch>
        </p:blipFill>
        <p:spPr>
          <a:xfrm>
            <a:off x="2500827" y="6199632"/>
            <a:ext cx="256032" cy="256032"/>
          </a:xfrm>
          <a:prstGeom prst="rect">
            <a:avLst/>
          </a:prstGeom>
        </p:spPr>
      </p:pic>
      <p:sp>
        <p:nvSpPr>
          <p:cNvPr id="54" name="Text 50"/>
          <p:cNvSpPr/>
          <p:nvPr/>
        </p:nvSpPr>
        <p:spPr>
          <a:xfrm>
            <a:off x="1935442" y="6473952"/>
            <a:ext cx="1386802" cy="201168"/>
          </a:xfrm>
          <a:prstGeom prst="rect">
            <a:avLst/>
          </a:prstGeom>
          <a:noFill/>
          <a:ln/>
        </p:spPr>
        <p:txBody>
          <a:bodyPr wrap="square" lIns="0" tIns="0" rIns="0" bIns="0" rtlCol="0" anchor="ctr"/>
          <a:lstStyle/>
          <a:p>
            <a:pPr algn="ctr" indent="0" marL="0">
              <a:buNone/>
            </a:pPr>
            <a:r>
              <a:rPr lang="en-US" sz="750" dirty="0">
                <a:solidFill>
                  <a:srgbClr val="6E7285"/>
                </a:solidFill>
                <a:latin typeface="Consolas" pitchFamily="34" charset="0"/>
                <a:ea typeface="Consolas" pitchFamily="34" charset="-122"/>
                <a:cs typeface="Consolas" pitchFamily="34" charset="-120"/>
              </a:rPr>
              <a:t>Cloud Run</a:t>
            </a:r>
            <a:endParaRPr lang="en-US" sz="750" dirty="0"/>
          </a:p>
        </p:txBody>
      </p:sp>
      <p:pic>
        <p:nvPicPr>
          <p:cNvPr id="55" name="Image 2" descr="C:\Users\santh\programming\proj\Crucible\documentation\deck\assets\googlegemini.png">    </p:cNvPr>
          <p:cNvPicPr>
            <a:picLocks noChangeAspect="1"/>
          </p:cNvPicPr>
          <p:nvPr/>
        </p:nvPicPr>
        <p:blipFill>
          <a:blip r:embed="rId3"/>
          <a:stretch>
            <a:fillRect/>
          </a:stretch>
        </p:blipFill>
        <p:spPr>
          <a:xfrm>
            <a:off x="3887629" y="6199632"/>
            <a:ext cx="256032" cy="256032"/>
          </a:xfrm>
          <a:prstGeom prst="rect">
            <a:avLst/>
          </a:prstGeom>
        </p:spPr>
      </p:pic>
      <p:sp>
        <p:nvSpPr>
          <p:cNvPr id="56" name="Text 51"/>
          <p:cNvSpPr/>
          <p:nvPr/>
        </p:nvSpPr>
        <p:spPr>
          <a:xfrm>
            <a:off x="3322244" y="6473952"/>
            <a:ext cx="1386802" cy="201168"/>
          </a:xfrm>
          <a:prstGeom prst="rect">
            <a:avLst/>
          </a:prstGeom>
          <a:noFill/>
          <a:ln/>
        </p:spPr>
        <p:txBody>
          <a:bodyPr wrap="square" lIns="0" tIns="0" rIns="0" bIns="0" rtlCol="0" anchor="ctr"/>
          <a:lstStyle/>
          <a:p>
            <a:pPr algn="ctr" indent="0" marL="0">
              <a:buNone/>
            </a:pPr>
            <a:r>
              <a:rPr lang="en-US" sz="750" dirty="0">
                <a:solidFill>
                  <a:srgbClr val="6E7285"/>
                </a:solidFill>
                <a:latin typeface="Consolas" pitchFamily="34" charset="0"/>
                <a:ea typeface="Consolas" pitchFamily="34" charset="-122"/>
                <a:cs typeface="Consolas" pitchFamily="34" charset="-120"/>
              </a:rPr>
              <a:t>Vertex AI</a:t>
            </a:r>
            <a:endParaRPr lang="en-US" sz="750" dirty="0"/>
          </a:p>
        </p:txBody>
      </p:sp>
      <p:pic>
        <p:nvPicPr>
          <p:cNvPr id="57" name="Image 3" descr="C:\Users\santh\programming\proj\Crucible\documentation\deck\assets\firebase.png">    </p:cNvPr>
          <p:cNvPicPr>
            <a:picLocks noChangeAspect="1"/>
          </p:cNvPicPr>
          <p:nvPr/>
        </p:nvPicPr>
        <p:blipFill>
          <a:blip r:embed="rId4"/>
          <a:stretch>
            <a:fillRect/>
          </a:stretch>
        </p:blipFill>
        <p:spPr>
          <a:xfrm>
            <a:off x="5274431" y="6199632"/>
            <a:ext cx="256032" cy="256032"/>
          </a:xfrm>
          <a:prstGeom prst="rect">
            <a:avLst/>
          </a:prstGeom>
        </p:spPr>
      </p:pic>
      <p:sp>
        <p:nvSpPr>
          <p:cNvPr id="58" name="Text 52"/>
          <p:cNvSpPr/>
          <p:nvPr/>
        </p:nvSpPr>
        <p:spPr>
          <a:xfrm>
            <a:off x="4709046" y="6473952"/>
            <a:ext cx="1386802" cy="201168"/>
          </a:xfrm>
          <a:prstGeom prst="rect">
            <a:avLst/>
          </a:prstGeom>
          <a:noFill/>
          <a:ln/>
        </p:spPr>
        <p:txBody>
          <a:bodyPr wrap="square" lIns="0" tIns="0" rIns="0" bIns="0" rtlCol="0" anchor="ctr"/>
          <a:lstStyle/>
          <a:p>
            <a:pPr algn="ctr" indent="0" marL="0">
              <a:buNone/>
            </a:pPr>
            <a:r>
              <a:rPr lang="en-US" sz="750" dirty="0">
                <a:solidFill>
                  <a:srgbClr val="6E7285"/>
                </a:solidFill>
                <a:latin typeface="Consolas" pitchFamily="34" charset="0"/>
                <a:ea typeface="Consolas" pitchFamily="34" charset="-122"/>
                <a:cs typeface="Consolas" pitchFamily="34" charset="-120"/>
              </a:rPr>
              <a:t>Firebase Auth</a:t>
            </a:r>
            <a:endParaRPr lang="en-US" sz="750" dirty="0"/>
          </a:p>
        </p:txBody>
      </p:sp>
      <p:pic>
        <p:nvPicPr>
          <p:cNvPr id="59" name="Image 4" descr="C:\Users\santh\programming\proj\Crucible\documentation\deck\assets\docker.png">    </p:cNvPr>
          <p:cNvPicPr>
            <a:picLocks noChangeAspect="1"/>
          </p:cNvPicPr>
          <p:nvPr/>
        </p:nvPicPr>
        <p:blipFill>
          <a:blip r:embed="rId5"/>
          <a:stretch>
            <a:fillRect/>
          </a:stretch>
        </p:blipFill>
        <p:spPr>
          <a:xfrm>
            <a:off x="6661233" y="6199632"/>
            <a:ext cx="256032" cy="256032"/>
          </a:xfrm>
          <a:prstGeom prst="rect">
            <a:avLst/>
          </a:prstGeom>
        </p:spPr>
      </p:pic>
      <p:sp>
        <p:nvSpPr>
          <p:cNvPr id="60" name="Text 53"/>
          <p:cNvSpPr/>
          <p:nvPr/>
        </p:nvSpPr>
        <p:spPr>
          <a:xfrm>
            <a:off x="6095848" y="6473952"/>
            <a:ext cx="1386802" cy="201168"/>
          </a:xfrm>
          <a:prstGeom prst="rect">
            <a:avLst/>
          </a:prstGeom>
          <a:noFill/>
          <a:ln/>
        </p:spPr>
        <p:txBody>
          <a:bodyPr wrap="square" lIns="0" tIns="0" rIns="0" bIns="0" rtlCol="0" anchor="ctr"/>
          <a:lstStyle/>
          <a:p>
            <a:pPr algn="ctr" indent="0" marL="0">
              <a:buNone/>
            </a:pPr>
            <a:r>
              <a:rPr lang="en-US" sz="750" dirty="0">
                <a:solidFill>
                  <a:srgbClr val="6E7285"/>
                </a:solidFill>
                <a:latin typeface="Consolas" pitchFamily="34" charset="0"/>
                <a:ea typeface="Consolas" pitchFamily="34" charset="-122"/>
                <a:cs typeface="Consolas" pitchFamily="34" charset="-120"/>
              </a:rPr>
              <a:t>Distroless</a:t>
            </a:r>
            <a:endParaRPr lang="en-US" sz="750" dirty="0"/>
          </a:p>
        </p:txBody>
      </p:sp>
      <p:pic>
        <p:nvPicPr>
          <p:cNvPr id="61" name="Image 5" descr="C:\Users\santh\programming\proj\Crucible\documentation\deck\assets\react.png">    </p:cNvPr>
          <p:cNvPicPr>
            <a:picLocks noChangeAspect="1"/>
          </p:cNvPicPr>
          <p:nvPr/>
        </p:nvPicPr>
        <p:blipFill>
          <a:blip r:embed="rId6"/>
          <a:stretch>
            <a:fillRect/>
          </a:stretch>
        </p:blipFill>
        <p:spPr>
          <a:xfrm>
            <a:off x="8048034" y="6199632"/>
            <a:ext cx="256032" cy="256032"/>
          </a:xfrm>
          <a:prstGeom prst="rect">
            <a:avLst/>
          </a:prstGeom>
        </p:spPr>
      </p:pic>
      <p:sp>
        <p:nvSpPr>
          <p:cNvPr id="62" name="Text 54"/>
          <p:cNvSpPr/>
          <p:nvPr/>
        </p:nvSpPr>
        <p:spPr>
          <a:xfrm>
            <a:off x="7482650" y="6473952"/>
            <a:ext cx="1386802" cy="201168"/>
          </a:xfrm>
          <a:prstGeom prst="rect">
            <a:avLst/>
          </a:prstGeom>
          <a:noFill/>
          <a:ln/>
        </p:spPr>
        <p:txBody>
          <a:bodyPr wrap="square" lIns="0" tIns="0" rIns="0" bIns="0" rtlCol="0" anchor="ctr"/>
          <a:lstStyle/>
          <a:p>
            <a:pPr algn="ctr" indent="0" marL="0">
              <a:buNone/>
            </a:pPr>
            <a:r>
              <a:rPr lang="en-US" sz="750" dirty="0">
                <a:solidFill>
                  <a:srgbClr val="6E7285"/>
                </a:solidFill>
                <a:latin typeface="Consolas" pitchFamily="34" charset="0"/>
                <a:ea typeface="Consolas" pitchFamily="34" charset="-122"/>
                <a:cs typeface="Consolas" pitchFamily="34" charset="-120"/>
              </a:rPr>
              <a:t>React</a:t>
            </a:r>
            <a:endParaRPr lang="en-US" sz="750" dirty="0"/>
          </a:p>
        </p:txBody>
      </p:sp>
      <p:pic>
        <p:nvPicPr>
          <p:cNvPr id="63" name="Image 6" descr="C:\Users\santh\programming\proj\Crucible\documentation\deck\assets\typescript.png">    </p:cNvPr>
          <p:cNvPicPr>
            <a:picLocks noChangeAspect="1"/>
          </p:cNvPicPr>
          <p:nvPr/>
        </p:nvPicPr>
        <p:blipFill>
          <a:blip r:embed="rId7"/>
          <a:stretch>
            <a:fillRect/>
          </a:stretch>
        </p:blipFill>
        <p:spPr>
          <a:xfrm>
            <a:off x="9434836" y="6199632"/>
            <a:ext cx="256032" cy="256032"/>
          </a:xfrm>
          <a:prstGeom prst="rect">
            <a:avLst/>
          </a:prstGeom>
        </p:spPr>
      </p:pic>
      <p:sp>
        <p:nvSpPr>
          <p:cNvPr id="64" name="Text 55"/>
          <p:cNvSpPr/>
          <p:nvPr/>
        </p:nvSpPr>
        <p:spPr>
          <a:xfrm>
            <a:off x="8869451" y="6473952"/>
            <a:ext cx="1386802" cy="201168"/>
          </a:xfrm>
          <a:prstGeom prst="rect">
            <a:avLst/>
          </a:prstGeom>
          <a:noFill/>
          <a:ln/>
        </p:spPr>
        <p:txBody>
          <a:bodyPr wrap="square" lIns="0" tIns="0" rIns="0" bIns="0" rtlCol="0" anchor="ctr"/>
          <a:lstStyle/>
          <a:p>
            <a:pPr algn="ctr" indent="0" marL="0">
              <a:buNone/>
            </a:pPr>
            <a:r>
              <a:rPr lang="en-US" sz="750" dirty="0">
                <a:solidFill>
                  <a:srgbClr val="6E7285"/>
                </a:solidFill>
                <a:latin typeface="Consolas" pitchFamily="34" charset="0"/>
                <a:ea typeface="Consolas" pitchFamily="34" charset="-122"/>
                <a:cs typeface="Consolas" pitchFamily="34" charset="-120"/>
              </a:rPr>
              <a:t>TypeScript</a:t>
            </a:r>
            <a:endParaRPr lang="en-US" sz="750" dirty="0"/>
          </a:p>
        </p:txBody>
      </p:sp>
      <p:pic>
        <p:nvPicPr>
          <p:cNvPr id="65" name="Image 7" descr="C:\Users\santh\programming\proj\Crucible\documentation\deck\assets\vite.png">    </p:cNvPr>
          <p:cNvPicPr>
            <a:picLocks noChangeAspect="1"/>
          </p:cNvPicPr>
          <p:nvPr/>
        </p:nvPicPr>
        <p:blipFill>
          <a:blip r:embed="rId8"/>
          <a:stretch>
            <a:fillRect/>
          </a:stretch>
        </p:blipFill>
        <p:spPr>
          <a:xfrm>
            <a:off x="10821638" y="6199632"/>
            <a:ext cx="256032" cy="256032"/>
          </a:xfrm>
          <a:prstGeom prst="rect">
            <a:avLst/>
          </a:prstGeom>
        </p:spPr>
      </p:pic>
      <p:sp>
        <p:nvSpPr>
          <p:cNvPr id="66" name="Text 56"/>
          <p:cNvSpPr/>
          <p:nvPr/>
        </p:nvSpPr>
        <p:spPr>
          <a:xfrm>
            <a:off x="10256253" y="6473952"/>
            <a:ext cx="1386802" cy="201168"/>
          </a:xfrm>
          <a:prstGeom prst="rect">
            <a:avLst/>
          </a:prstGeom>
          <a:noFill/>
          <a:ln/>
        </p:spPr>
        <p:txBody>
          <a:bodyPr wrap="square" lIns="0" tIns="0" rIns="0" bIns="0" rtlCol="0" anchor="ctr"/>
          <a:lstStyle/>
          <a:p>
            <a:pPr algn="ctr" indent="0" marL="0">
              <a:buNone/>
            </a:pPr>
            <a:r>
              <a:rPr lang="en-US" sz="750" dirty="0">
                <a:solidFill>
                  <a:srgbClr val="6E7285"/>
                </a:solidFill>
                <a:latin typeface="Consolas" pitchFamily="34" charset="0"/>
                <a:ea typeface="Consolas" pitchFamily="34" charset="-122"/>
                <a:cs typeface="Consolas" pitchFamily="34" charset="-120"/>
              </a:rPr>
              <a:t>Vite</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37744"/>
          </a:xfrm>
          <a:prstGeom prst="rect">
            <a:avLst/>
          </a:prstGeom>
          <a:noFill/>
          <a:ln/>
        </p:spPr>
        <p:txBody>
          <a:bodyPr wrap="square" lIns="0" tIns="0" rIns="0" bIns="0" rtlCol="0" anchor="ctr"/>
          <a:lstStyle/>
          <a:p>
            <a:pPr indent="0" marL="0">
              <a:buNone/>
            </a:pPr>
            <a:r>
              <a:rPr lang="en-US" sz="1050" b="1" spc="160" kern="0" dirty="0">
                <a:solidFill>
                  <a:srgbClr val="FF6A3D"/>
                </a:solidFill>
                <a:latin typeface="Consolas" pitchFamily="34" charset="0"/>
                <a:ea typeface="Consolas" pitchFamily="34" charset="-122"/>
                <a:cs typeface="Consolas" pitchFamily="34" charset="-120"/>
              </a:rPr>
              <a:t>ENGINEERING DEPTH</a:t>
            </a:r>
            <a:endParaRPr lang="en-US" sz="1050" dirty="0"/>
          </a:p>
        </p:txBody>
      </p:sp>
      <p:sp>
        <p:nvSpPr>
          <p:cNvPr id="3" name="Text 1"/>
          <p:cNvSpPr/>
          <p:nvPr/>
        </p:nvSpPr>
        <p:spPr>
          <a:xfrm>
            <a:off x="548640" y="621792"/>
            <a:ext cx="11094415" cy="603504"/>
          </a:xfrm>
          <a:prstGeom prst="rect">
            <a:avLst/>
          </a:prstGeom>
          <a:noFill/>
          <a:ln/>
        </p:spPr>
        <p:txBody>
          <a:bodyPr wrap="square" lIns="0" tIns="0" rIns="0" bIns="0" rtlCol="0" anchor="ctr"/>
          <a:lstStyle/>
          <a:p>
            <a:pPr indent="0" marL="0">
              <a:buNone/>
            </a:pPr>
            <a:r>
              <a:rPr lang="en-US" sz="3300" b="1" spc="-60" kern="0" dirty="0">
                <a:solidFill>
                  <a:srgbClr val="12141C"/>
                </a:solidFill>
                <a:latin typeface="Arial" pitchFamily="34" charset="0"/>
                <a:ea typeface="Arial" pitchFamily="34" charset="-122"/>
                <a:cs typeface="Arial" pitchFamily="34" charset="-120"/>
              </a:rPr>
              <a:t>Four problems that make this hard.</a:t>
            </a:r>
            <a:endParaRPr lang="en-US" sz="3300" dirty="0"/>
          </a:p>
        </p:txBody>
      </p:sp>
      <p:sp>
        <p:nvSpPr>
          <p:cNvPr id="4" name="Shape 2"/>
          <p:cNvSpPr/>
          <p:nvPr/>
        </p:nvSpPr>
        <p:spPr>
          <a:xfrm>
            <a:off x="548640" y="1417320"/>
            <a:ext cx="5410048" cy="2084832"/>
          </a:xfrm>
          <a:prstGeom prst="roundRect">
            <a:avLst>
              <a:gd name="adj" fmla="val 1754"/>
            </a:avLst>
          </a:prstGeom>
          <a:solidFill>
            <a:srgbClr val="FAF9F8"/>
          </a:solidFill>
          <a:ln w="12700">
            <a:solidFill>
              <a:srgbClr val="E6E3DF"/>
            </a:solidFill>
            <a:prstDash val="solid"/>
          </a:ln>
          <a:effectLst>
            <a:outerShdw sx="100000" sy="100000" kx="0" ky="0" algn="bl" rotWithShape="0" blurRad="127000" dist="25400" dir="5400000">
              <a:srgbClr val="9C9890">
                <a:alpha val="16000"/>
              </a:srgbClr>
            </a:outerShdw>
          </a:effectLst>
        </p:spPr>
      </p:sp>
      <p:sp>
        <p:nvSpPr>
          <p:cNvPr id="5" name="Shape 3"/>
          <p:cNvSpPr/>
          <p:nvPr/>
        </p:nvSpPr>
        <p:spPr>
          <a:xfrm>
            <a:off x="859536" y="1691640"/>
            <a:ext cx="384048" cy="384048"/>
          </a:xfrm>
          <a:prstGeom prst="ellipse">
            <a:avLst/>
          </a:prstGeom>
          <a:solidFill>
            <a:srgbClr val="12141C"/>
          </a:solidFill>
          <a:ln/>
        </p:spPr>
      </p:sp>
      <p:sp>
        <p:nvSpPr>
          <p:cNvPr id="6" name="Text 4"/>
          <p:cNvSpPr/>
          <p:nvPr/>
        </p:nvSpPr>
        <p:spPr>
          <a:xfrm>
            <a:off x="859536" y="1691640"/>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onsolas" pitchFamily="34" charset="0"/>
                <a:ea typeface="Consolas" pitchFamily="34" charset="-122"/>
                <a:cs typeface="Consolas" pitchFamily="34" charset="-120"/>
              </a:rPr>
              <a:t>01</a:t>
            </a:r>
            <a:endParaRPr lang="en-US" sz="1150" dirty="0"/>
          </a:p>
        </p:txBody>
      </p:sp>
      <p:sp>
        <p:nvSpPr>
          <p:cNvPr id="7" name="Text 5"/>
          <p:cNvSpPr/>
          <p:nvPr/>
        </p:nvSpPr>
        <p:spPr>
          <a:xfrm>
            <a:off x="1353312" y="1673352"/>
            <a:ext cx="4294480" cy="420624"/>
          </a:xfrm>
          <a:prstGeom prst="rect">
            <a:avLst/>
          </a:prstGeom>
          <a:noFill/>
          <a:ln/>
        </p:spPr>
        <p:txBody>
          <a:bodyPr wrap="square" lIns="0" tIns="0" rIns="0" bIns="0" rtlCol="0" anchor="ctr"/>
          <a:lstStyle/>
          <a:p>
            <a:pPr indent="0" marL="0">
              <a:lnSpc>
                <a:spcPct val="100000"/>
              </a:lnSpc>
              <a:buNone/>
            </a:pPr>
            <a:r>
              <a:rPr lang="en-US" sz="1500" b="1" dirty="0">
                <a:solidFill>
                  <a:srgbClr val="12141C"/>
                </a:solidFill>
                <a:latin typeface="Arial" pitchFamily="34" charset="0"/>
                <a:ea typeface="Arial" pitchFamily="34" charset="-122"/>
                <a:cs typeface="Arial" pitchFamily="34" charset="-120"/>
              </a:rPr>
              <a:t>Where does a turn end?</a:t>
            </a:r>
            <a:endParaRPr lang="en-US" sz="1500" dirty="0"/>
          </a:p>
        </p:txBody>
      </p:sp>
      <p:sp>
        <p:nvSpPr>
          <p:cNvPr id="8" name="Text 6"/>
          <p:cNvSpPr/>
          <p:nvPr/>
        </p:nvSpPr>
        <p:spPr>
          <a:xfrm>
            <a:off x="859536" y="2148840"/>
            <a:ext cx="4788256" cy="914400"/>
          </a:xfrm>
          <a:prstGeom prst="rect">
            <a:avLst/>
          </a:prstGeom>
          <a:noFill/>
          <a:ln/>
        </p:spPr>
        <p:txBody>
          <a:bodyPr wrap="square" lIns="0" tIns="0" rIns="0" bIns="0" rtlCol="0" anchor="t"/>
          <a:lstStyle/>
          <a:p>
            <a:pPr indent="0" marL="0">
              <a:lnSpc>
                <a:spcPct val="114000"/>
              </a:lnSpc>
              <a:buNone/>
            </a:pPr>
            <a:r>
              <a:rPr lang="en-US" sz="1100" dirty="0">
                <a:solidFill>
                  <a:srgbClr val="3A3D4D"/>
                </a:solidFill>
                <a:latin typeface="Calibri" pitchFamily="34" charset="0"/>
                <a:ea typeface="Calibri" pitchFamily="34" charset="-122"/>
                <a:cs typeface="Calibri" pitchFamily="34" charset="-120"/>
              </a:rPr>
              <a:t>Manual activity detection, not voice-activity detection. The client owns the boundary, so a noisy hall can't fire a false end-of-turn, the model structurally cannot hear itself, and silence is never transmitted — live audio is the dominant cost.</a:t>
            </a:r>
            <a:endParaRPr lang="en-US" sz="1100" dirty="0"/>
          </a:p>
        </p:txBody>
      </p:sp>
      <p:sp>
        <p:nvSpPr>
          <p:cNvPr id="9" name="Text 7"/>
          <p:cNvSpPr/>
          <p:nvPr/>
        </p:nvSpPr>
        <p:spPr>
          <a:xfrm>
            <a:off x="859536" y="3099816"/>
            <a:ext cx="4788256" cy="310896"/>
          </a:xfrm>
          <a:prstGeom prst="rect">
            <a:avLst/>
          </a:prstGeom>
          <a:noFill/>
          <a:ln/>
        </p:spPr>
        <p:txBody>
          <a:bodyPr wrap="square" lIns="0" tIns="0" rIns="0" bIns="0" rtlCol="0" anchor="ctr"/>
          <a:lstStyle/>
          <a:p>
            <a:pPr indent="0" marL="0">
              <a:buNone/>
            </a:pPr>
            <a:r>
              <a:rPr lang="en-US" sz="1900" b="1" dirty="0">
                <a:solidFill>
                  <a:srgbClr val="FF6A3D"/>
                </a:solidFill>
                <a:latin typeface="Arial" pitchFamily="34" charset="0"/>
                <a:ea typeface="Arial" pitchFamily="34" charset="-122"/>
                <a:cs typeface="Arial" pitchFamily="34" charset="-120"/>
              </a:rPr>
              <a:t>966 ms</a:t>
            </a:r>
            <a:pPr indent="0" marL="0">
              <a:buNone/>
            </a:pPr>
            <a:r>
              <a:rPr lang="en-US" sz="950" dirty="0">
                <a:solidFill>
                  <a:srgbClr val="6E7285"/>
                </a:solidFill>
                <a:latin typeface="Consolas" pitchFamily="34" charset="0"/>
                <a:ea typeface="Consolas" pitchFamily="34" charset="-122"/>
                <a:cs typeface="Consolas" pitchFamily="34" charset="-120"/>
              </a:rPr>
              <a:t>    turn boundary · target 1200 ms</a:t>
            </a:r>
            <a:endParaRPr lang="en-US" sz="1900" dirty="0"/>
          </a:p>
        </p:txBody>
      </p:sp>
      <p:sp>
        <p:nvSpPr>
          <p:cNvPr id="10" name="Shape 8"/>
          <p:cNvSpPr/>
          <p:nvPr/>
        </p:nvSpPr>
        <p:spPr>
          <a:xfrm>
            <a:off x="6233008" y="1417320"/>
            <a:ext cx="5410048" cy="2084832"/>
          </a:xfrm>
          <a:prstGeom prst="roundRect">
            <a:avLst>
              <a:gd name="adj" fmla="val 1754"/>
            </a:avLst>
          </a:prstGeom>
          <a:solidFill>
            <a:srgbClr val="FAF9F8"/>
          </a:solidFill>
          <a:ln w="12700">
            <a:solidFill>
              <a:srgbClr val="E6E3DF"/>
            </a:solidFill>
            <a:prstDash val="solid"/>
          </a:ln>
          <a:effectLst>
            <a:outerShdw sx="100000" sy="100000" kx="0" ky="0" algn="bl" rotWithShape="0" blurRad="127000" dist="25400" dir="5400000">
              <a:srgbClr val="9C9890">
                <a:alpha val="16000"/>
              </a:srgbClr>
            </a:outerShdw>
          </a:effectLst>
        </p:spPr>
      </p:sp>
      <p:sp>
        <p:nvSpPr>
          <p:cNvPr id="11" name="Shape 9"/>
          <p:cNvSpPr/>
          <p:nvPr/>
        </p:nvSpPr>
        <p:spPr>
          <a:xfrm>
            <a:off x="6543904" y="1691640"/>
            <a:ext cx="384048" cy="384048"/>
          </a:xfrm>
          <a:prstGeom prst="ellipse">
            <a:avLst/>
          </a:prstGeom>
          <a:solidFill>
            <a:srgbClr val="12141C"/>
          </a:solidFill>
          <a:ln/>
        </p:spPr>
      </p:sp>
      <p:sp>
        <p:nvSpPr>
          <p:cNvPr id="12" name="Text 10"/>
          <p:cNvSpPr/>
          <p:nvPr/>
        </p:nvSpPr>
        <p:spPr>
          <a:xfrm>
            <a:off x="6543904" y="1691640"/>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onsolas" pitchFamily="34" charset="0"/>
                <a:ea typeface="Consolas" pitchFamily="34" charset="-122"/>
                <a:cs typeface="Consolas" pitchFamily="34" charset="-120"/>
              </a:rPr>
              <a:t>02</a:t>
            </a:r>
            <a:endParaRPr lang="en-US" sz="1150" dirty="0"/>
          </a:p>
        </p:txBody>
      </p:sp>
      <p:sp>
        <p:nvSpPr>
          <p:cNvPr id="13" name="Text 11"/>
          <p:cNvSpPr/>
          <p:nvPr/>
        </p:nvSpPr>
        <p:spPr>
          <a:xfrm>
            <a:off x="7037680" y="1673352"/>
            <a:ext cx="4294480" cy="420624"/>
          </a:xfrm>
          <a:prstGeom prst="rect">
            <a:avLst/>
          </a:prstGeom>
          <a:noFill/>
          <a:ln/>
        </p:spPr>
        <p:txBody>
          <a:bodyPr wrap="square" lIns="0" tIns="0" rIns="0" bIns="0" rtlCol="0" anchor="ctr"/>
          <a:lstStyle/>
          <a:p>
            <a:pPr indent="0" marL="0">
              <a:lnSpc>
                <a:spcPct val="100000"/>
              </a:lnSpc>
              <a:buNone/>
            </a:pPr>
            <a:r>
              <a:rPr lang="en-US" sz="1500" b="1" dirty="0">
                <a:solidFill>
                  <a:srgbClr val="12141C"/>
                </a:solidFill>
                <a:latin typeface="Arial" pitchFamily="34" charset="0"/>
                <a:ea typeface="Arial" pitchFamily="34" charset="-122"/>
                <a:cs typeface="Arial" pitchFamily="34" charset="-120"/>
              </a:rPr>
              <a:t>The grade arrives after it's needed</a:t>
            </a:r>
            <a:endParaRPr lang="en-US" sz="1500" dirty="0"/>
          </a:p>
        </p:txBody>
      </p:sp>
      <p:sp>
        <p:nvSpPr>
          <p:cNvPr id="14" name="Text 12"/>
          <p:cNvSpPr/>
          <p:nvPr/>
        </p:nvSpPr>
        <p:spPr>
          <a:xfrm>
            <a:off x="6543904" y="2148840"/>
            <a:ext cx="4788256" cy="914400"/>
          </a:xfrm>
          <a:prstGeom prst="rect">
            <a:avLst/>
          </a:prstGeom>
          <a:noFill/>
          <a:ln/>
        </p:spPr>
        <p:txBody>
          <a:bodyPr wrap="square" lIns="0" tIns="0" rIns="0" bIns="0" rtlCol="0" anchor="t"/>
          <a:lstStyle/>
          <a:p>
            <a:pPr indent="0" marL="0">
              <a:lnSpc>
                <a:spcPct val="114000"/>
              </a:lnSpc>
              <a:buNone/>
            </a:pPr>
            <a:r>
              <a:rPr lang="en-US" sz="1100" dirty="0">
                <a:solidFill>
                  <a:srgbClr val="3A3D4D"/>
                </a:solidFill>
                <a:latin typeface="Calibri" pitchFamily="34" charset="0"/>
                <a:ea typeface="Calibri" pitchFamily="34" charset="-122"/>
                <a:cs typeface="Calibri" pitchFamily="34" charset="-120"/>
              </a:rPr>
              <a:t>A deadline races the grader against a deterministic fallback, so the interviewer never sits silent. We sized it at 3.5 s — and the fallback won every race, silently defeating the whole design. Measured latency forced 9 s.</a:t>
            </a:r>
            <a:endParaRPr lang="en-US" sz="1100" dirty="0"/>
          </a:p>
        </p:txBody>
      </p:sp>
      <p:sp>
        <p:nvSpPr>
          <p:cNvPr id="15" name="Text 13"/>
          <p:cNvSpPr/>
          <p:nvPr/>
        </p:nvSpPr>
        <p:spPr>
          <a:xfrm>
            <a:off x="6543904" y="3099816"/>
            <a:ext cx="4788256" cy="310896"/>
          </a:xfrm>
          <a:prstGeom prst="rect">
            <a:avLst/>
          </a:prstGeom>
          <a:noFill/>
          <a:ln/>
        </p:spPr>
        <p:txBody>
          <a:bodyPr wrap="square" lIns="0" tIns="0" rIns="0" bIns="0" rtlCol="0" anchor="ctr"/>
          <a:lstStyle/>
          <a:p>
            <a:pPr indent="0" marL="0">
              <a:buNone/>
            </a:pPr>
            <a:r>
              <a:rPr lang="en-US" sz="1900" b="1" dirty="0">
                <a:solidFill>
                  <a:srgbClr val="FF6A3D"/>
                </a:solidFill>
                <a:latin typeface="Arial" pitchFamily="34" charset="0"/>
                <a:ea typeface="Arial" pitchFamily="34" charset="-122"/>
                <a:cs typeface="Arial" pitchFamily="34" charset="-120"/>
              </a:rPr>
              <a:t>9 s</a:t>
            </a:r>
            <a:pPr indent="0" marL="0">
              <a:buNone/>
            </a:pPr>
            <a:r>
              <a:rPr lang="en-US" sz="950" dirty="0">
                <a:solidFill>
                  <a:srgbClr val="6E7285"/>
                </a:solidFill>
                <a:latin typeface="Consolas" pitchFamily="34" charset="0"/>
                <a:ea typeface="Consolas" pitchFamily="34" charset="-122"/>
                <a:cs typeface="Consolas" pitchFamily="34" charset="-120"/>
              </a:rPr>
              <a:t>    injection deadline · was 3.5 s</a:t>
            </a:r>
            <a:endParaRPr lang="en-US" sz="1900" dirty="0"/>
          </a:p>
        </p:txBody>
      </p:sp>
      <p:sp>
        <p:nvSpPr>
          <p:cNvPr id="16" name="Shape 14"/>
          <p:cNvSpPr/>
          <p:nvPr/>
        </p:nvSpPr>
        <p:spPr>
          <a:xfrm>
            <a:off x="548640" y="3739896"/>
            <a:ext cx="5410048" cy="2084832"/>
          </a:xfrm>
          <a:prstGeom prst="roundRect">
            <a:avLst>
              <a:gd name="adj" fmla="val 1754"/>
            </a:avLst>
          </a:prstGeom>
          <a:solidFill>
            <a:srgbClr val="FAF9F8"/>
          </a:solidFill>
          <a:ln w="12700">
            <a:solidFill>
              <a:srgbClr val="E6E3DF"/>
            </a:solidFill>
            <a:prstDash val="solid"/>
          </a:ln>
          <a:effectLst>
            <a:outerShdw sx="100000" sy="100000" kx="0" ky="0" algn="bl" rotWithShape="0" blurRad="127000" dist="25400" dir="5400000">
              <a:srgbClr val="9C9890">
                <a:alpha val="16000"/>
              </a:srgbClr>
            </a:outerShdw>
          </a:effectLst>
        </p:spPr>
      </p:sp>
      <p:sp>
        <p:nvSpPr>
          <p:cNvPr id="17" name="Shape 15"/>
          <p:cNvSpPr/>
          <p:nvPr/>
        </p:nvSpPr>
        <p:spPr>
          <a:xfrm>
            <a:off x="859536" y="4014216"/>
            <a:ext cx="384048" cy="384048"/>
          </a:xfrm>
          <a:prstGeom prst="ellipse">
            <a:avLst/>
          </a:prstGeom>
          <a:solidFill>
            <a:srgbClr val="12141C"/>
          </a:solidFill>
          <a:ln/>
        </p:spPr>
      </p:sp>
      <p:sp>
        <p:nvSpPr>
          <p:cNvPr id="18" name="Text 16"/>
          <p:cNvSpPr/>
          <p:nvPr/>
        </p:nvSpPr>
        <p:spPr>
          <a:xfrm>
            <a:off x="859536" y="4014216"/>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onsolas" pitchFamily="34" charset="0"/>
                <a:ea typeface="Consolas" pitchFamily="34" charset="-122"/>
                <a:cs typeface="Consolas" pitchFamily="34" charset="-120"/>
              </a:rPr>
              <a:t>03</a:t>
            </a:r>
            <a:endParaRPr lang="en-US" sz="1150" dirty="0"/>
          </a:p>
        </p:txBody>
      </p:sp>
      <p:sp>
        <p:nvSpPr>
          <p:cNvPr id="19" name="Text 17"/>
          <p:cNvSpPr/>
          <p:nvPr/>
        </p:nvSpPr>
        <p:spPr>
          <a:xfrm>
            <a:off x="1353312" y="3995928"/>
            <a:ext cx="4294480" cy="420624"/>
          </a:xfrm>
          <a:prstGeom prst="rect">
            <a:avLst/>
          </a:prstGeom>
          <a:noFill/>
          <a:ln/>
        </p:spPr>
        <p:txBody>
          <a:bodyPr wrap="square" lIns="0" tIns="0" rIns="0" bIns="0" rtlCol="0" anchor="ctr"/>
          <a:lstStyle/>
          <a:p>
            <a:pPr indent="0" marL="0">
              <a:lnSpc>
                <a:spcPct val="100000"/>
              </a:lnSpc>
              <a:buNone/>
            </a:pPr>
            <a:r>
              <a:rPr lang="en-US" sz="1500" b="1" dirty="0">
                <a:solidFill>
                  <a:srgbClr val="12141C"/>
                </a:solidFill>
                <a:latin typeface="Arial" pitchFamily="34" charset="0"/>
                <a:ea typeface="Arial" pitchFamily="34" charset="-122"/>
                <a:cs typeface="Arial" pitchFamily="34" charset="-120"/>
              </a:rPr>
              <a:t>A false red destroys trust instantly</a:t>
            </a:r>
            <a:endParaRPr lang="en-US" sz="1500" dirty="0"/>
          </a:p>
        </p:txBody>
      </p:sp>
      <p:sp>
        <p:nvSpPr>
          <p:cNvPr id="20" name="Text 18"/>
          <p:cNvSpPr/>
          <p:nvPr/>
        </p:nvSpPr>
        <p:spPr>
          <a:xfrm>
            <a:off x="859536" y="4471416"/>
            <a:ext cx="4788256" cy="914400"/>
          </a:xfrm>
          <a:prstGeom prst="rect">
            <a:avLst/>
          </a:prstGeom>
          <a:noFill/>
          <a:ln/>
        </p:spPr>
        <p:txBody>
          <a:bodyPr wrap="square" lIns="0" tIns="0" rIns="0" bIns="0" rtlCol="0" anchor="t"/>
          <a:lstStyle/>
          <a:p>
            <a:pPr indent="0" marL="0">
              <a:lnSpc>
                <a:spcPct val="114000"/>
              </a:lnSpc>
              <a:buNone/>
            </a:pPr>
            <a:r>
              <a:rPr lang="en-US" sz="1100" dirty="0">
                <a:solidFill>
                  <a:srgbClr val="3A3D4D"/>
                </a:solidFill>
                <a:latin typeface="Calibri" pitchFamily="34" charset="0"/>
                <a:ea typeface="Calibri" pitchFamily="34" charset="-122"/>
                <a:cs typeface="Calibri" pitchFamily="34" charset="-120"/>
              </a:rPr>
              <a:t>A low-confidence “incorrect” is rewritten server-side to “unsupported”, because a prompt instruction is not a defence. The grader still separates cleanly: excellent 9.60, vague 3.55, fabricated 1.60.</a:t>
            </a:r>
            <a:endParaRPr lang="en-US" sz="1100" dirty="0"/>
          </a:p>
        </p:txBody>
      </p:sp>
      <p:sp>
        <p:nvSpPr>
          <p:cNvPr id="21" name="Text 19"/>
          <p:cNvSpPr/>
          <p:nvPr/>
        </p:nvSpPr>
        <p:spPr>
          <a:xfrm>
            <a:off x="859536" y="5422392"/>
            <a:ext cx="4788256" cy="310896"/>
          </a:xfrm>
          <a:prstGeom prst="rect">
            <a:avLst/>
          </a:prstGeom>
          <a:noFill/>
          <a:ln/>
        </p:spPr>
        <p:txBody>
          <a:bodyPr wrap="square" lIns="0" tIns="0" rIns="0" bIns="0" rtlCol="0" anchor="ctr"/>
          <a:lstStyle/>
          <a:p>
            <a:pPr indent="0" marL="0">
              <a:buNone/>
            </a:pPr>
            <a:r>
              <a:rPr lang="en-US" sz="1900" b="1" dirty="0">
                <a:solidFill>
                  <a:srgbClr val="FF6A3D"/>
                </a:solidFill>
                <a:latin typeface="Arial" pitchFamily="34" charset="0"/>
                <a:ea typeface="Arial" pitchFamily="34" charset="-122"/>
                <a:cs typeface="Arial" pitchFamily="34" charset="-120"/>
              </a:rPr>
              <a:t>0</a:t>
            </a:r>
            <a:pPr indent="0" marL="0">
              <a:buNone/>
            </a:pPr>
            <a:r>
              <a:rPr lang="en-US" sz="950" dirty="0">
                <a:solidFill>
                  <a:srgbClr val="6E7285"/>
                </a:solidFill>
                <a:latin typeface="Consolas" pitchFamily="34" charset="0"/>
                <a:ea typeface="Consolas" pitchFamily="34" charset="-122"/>
                <a:cs typeface="Consolas" pitchFamily="34" charset="-120"/>
              </a:rPr>
              <a:t>    false reds, across every test</a:t>
            </a:r>
            <a:endParaRPr lang="en-US" sz="1900" dirty="0"/>
          </a:p>
        </p:txBody>
      </p:sp>
      <p:sp>
        <p:nvSpPr>
          <p:cNvPr id="22" name="Shape 20"/>
          <p:cNvSpPr/>
          <p:nvPr/>
        </p:nvSpPr>
        <p:spPr>
          <a:xfrm>
            <a:off x="6233008" y="3739896"/>
            <a:ext cx="5410048" cy="2084832"/>
          </a:xfrm>
          <a:prstGeom prst="roundRect">
            <a:avLst>
              <a:gd name="adj" fmla="val 1754"/>
            </a:avLst>
          </a:prstGeom>
          <a:solidFill>
            <a:srgbClr val="FAF9F8"/>
          </a:solidFill>
          <a:ln w="12700">
            <a:solidFill>
              <a:srgbClr val="E6E3DF"/>
            </a:solidFill>
            <a:prstDash val="solid"/>
          </a:ln>
          <a:effectLst>
            <a:outerShdw sx="100000" sy="100000" kx="0" ky="0" algn="bl" rotWithShape="0" blurRad="127000" dist="25400" dir="5400000">
              <a:srgbClr val="9C9890">
                <a:alpha val="16000"/>
              </a:srgbClr>
            </a:outerShdw>
          </a:effectLst>
        </p:spPr>
      </p:sp>
      <p:sp>
        <p:nvSpPr>
          <p:cNvPr id="23" name="Shape 21"/>
          <p:cNvSpPr/>
          <p:nvPr/>
        </p:nvSpPr>
        <p:spPr>
          <a:xfrm>
            <a:off x="6543904" y="4014216"/>
            <a:ext cx="384048" cy="384048"/>
          </a:xfrm>
          <a:prstGeom prst="ellipse">
            <a:avLst/>
          </a:prstGeom>
          <a:solidFill>
            <a:srgbClr val="12141C"/>
          </a:solidFill>
          <a:ln/>
        </p:spPr>
      </p:sp>
      <p:sp>
        <p:nvSpPr>
          <p:cNvPr id="24" name="Text 22"/>
          <p:cNvSpPr/>
          <p:nvPr/>
        </p:nvSpPr>
        <p:spPr>
          <a:xfrm>
            <a:off x="6543904" y="4014216"/>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onsolas" pitchFamily="34" charset="0"/>
                <a:ea typeface="Consolas" pitchFamily="34" charset="-122"/>
                <a:cs typeface="Consolas" pitchFamily="34" charset="-120"/>
              </a:rPr>
              <a:t>04</a:t>
            </a:r>
            <a:endParaRPr lang="en-US" sz="1150" dirty="0"/>
          </a:p>
        </p:txBody>
      </p:sp>
      <p:sp>
        <p:nvSpPr>
          <p:cNvPr id="25" name="Text 23"/>
          <p:cNvSpPr/>
          <p:nvPr/>
        </p:nvSpPr>
        <p:spPr>
          <a:xfrm>
            <a:off x="7037680" y="3995928"/>
            <a:ext cx="4294480" cy="420624"/>
          </a:xfrm>
          <a:prstGeom prst="rect">
            <a:avLst/>
          </a:prstGeom>
          <a:noFill/>
          <a:ln/>
        </p:spPr>
        <p:txBody>
          <a:bodyPr wrap="square" lIns="0" tIns="0" rIns="0" bIns="0" rtlCol="0" anchor="ctr"/>
          <a:lstStyle/>
          <a:p>
            <a:pPr indent="0" marL="0">
              <a:lnSpc>
                <a:spcPct val="100000"/>
              </a:lnSpc>
              <a:buNone/>
            </a:pPr>
            <a:r>
              <a:rPr lang="en-US" sz="1500" b="1" dirty="0">
                <a:solidFill>
                  <a:srgbClr val="12141C"/>
                </a:solidFill>
                <a:latin typeface="Arial" pitchFamily="34" charset="0"/>
                <a:ea typeface="Arial" pitchFamily="34" charset="-122"/>
                <a:cs typeface="Arial" pitchFamily="34" charset="-120"/>
              </a:rPr>
              <a:t>Highlights must not land on the wrong words</a:t>
            </a:r>
            <a:endParaRPr lang="en-US" sz="1500" dirty="0"/>
          </a:p>
        </p:txBody>
      </p:sp>
      <p:sp>
        <p:nvSpPr>
          <p:cNvPr id="26" name="Text 24"/>
          <p:cNvSpPr/>
          <p:nvPr/>
        </p:nvSpPr>
        <p:spPr>
          <a:xfrm>
            <a:off x="6543904" y="4471416"/>
            <a:ext cx="4788256" cy="914400"/>
          </a:xfrm>
          <a:prstGeom prst="rect">
            <a:avLst/>
          </a:prstGeom>
          <a:noFill/>
          <a:ln/>
        </p:spPr>
        <p:txBody>
          <a:bodyPr wrap="square" lIns="0" tIns="0" rIns="0" bIns="0" rtlCol="0" anchor="t"/>
          <a:lstStyle/>
          <a:p>
            <a:pPr indent="0" marL="0">
              <a:lnSpc>
                <a:spcPct val="114000"/>
              </a:lnSpc>
              <a:buNone/>
            </a:pPr>
            <a:r>
              <a:rPr lang="en-US" sz="1100" dirty="0">
                <a:solidFill>
                  <a:srgbClr val="3A3D4D"/>
                </a:solidFill>
                <a:latin typeface="Calibri" pitchFamily="34" charset="0"/>
                <a:ea typeface="Calibri" pitchFamily="34" charset="-122"/>
                <a:cs typeface="Calibri" pitchFamily="34" charset="-120"/>
              </a:rPr>
              <a:t>The evaluator returns verbatim excerpts; a four-tier resolver locates them in Go and drops what it cannot place. A missing highlight is invisible — a misplaced one is a bug the judge sees.</a:t>
            </a:r>
            <a:endParaRPr lang="en-US" sz="1100" dirty="0"/>
          </a:p>
        </p:txBody>
      </p:sp>
      <p:sp>
        <p:nvSpPr>
          <p:cNvPr id="27" name="Text 25"/>
          <p:cNvSpPr/>
          <p:nvPr/>
        </p:nvSpPr>
        <p:spPr>
          <a:xfrm>
            <a:off x="6543904" y="5422392"/>
            <a:ext cx="4788256" cy="310896"/>
          </a:xfrm>
          <a:prstGeom prst="rect">
            <a:avLst/>
          </a:prstGeom>
          <a:noFill/>
          <a:ln/>
        </p:spPr>
        <p:txBody>
          <a:bodyPr wrap="square" lIns="0" tIns="0" rIns="0" bIns="0" rtlCol="0" anchor="ctr"/>
          <a:lstStyle/>
          <a:p>
            <a:pPr indent="0" marL="0">
              <a:buNone/>
            </a:pPr>
            <a:r>
              <a:rPr lang="en-US" sz="1900" b="1" dirty="0">
                <a:solidFill>
                  <a:srgbClr val="FF6A3D"/>
                </a:solidFill>
                <a:latin typeface="Arial" pitchFamily="34" charset="0"/>
                <a:ea typeface="Arial" pitchFamily="34" charset="-122"/>
                <a:cs typeface="Arial" pitchFamily="34" charset="-120"/>
              </a:rPr>
              <a:t>0%</a:t>
            </a:r>
            <a:pPr indent="0" marL="0">
              <a:buNone/>
            </a:pPr>
            <a:r>
              <a:rPr lang="en-US" sz="950" dirty="0">
                <a:solidFill>
                  <a:srgbClr val="6E7285"/>
                </a:solidFill>
                <a:latin typeface="Consolas" pitchFamily="34" charset="0"/>
                <a:ea typeface="Consolas" pitchFamily="34" charset="-122"/>
                <a:cs typeface="Consolas" pitchFamily="34" charset="-120"/>
              </a:rPr>
              <a:t>    span anchor drop rate</a:t>
            </a:r>
            <a:endParaRPr lang="en-US" sz="1900" dirty="0"/>
          </a:p>
        </p:txBody>
      </p:sp>
      <p:sp>
        <p:nvSpPr>
          <p:cNvPr id="28" name="Text 26"/>
          <p:cNvSpPr/>
          <p:nvPr/>
        </p:nvSpPr>
        <p:spPr>
          <a:xfrm>
            <a:off x="548640" y="6016752"/>
            <a:ext cx="11094415" cy="329184"/>
          </a:xfrm>
          <a:prstGeom prst="rect">
            <a:avLst/>
          </a:prstGeom>
          <a:noFill/>
          <a:ln/>
        </p:spPr>
        <p:txBody>
          <a:bodyPr wrap="square" lIns="0" tIns="0" rIns="0" bIns="0" rtlCol="0" anchor="ctr"/>
          <a:lstStyle/>
          <a:p>
            <a:pPr indent="0" marL="0">
              <a:buNone/>
            </a:pPr>
            <a:r>
              <a:rPr lang="en-US" sz="1200" i="1" dirty="0">
                <a:solidFill>
                  <a:srgbClr val="6E7285"/>
                </a:solidFill>
                <a:latin typeface="Calibri" pitchFamily="34" charset="0"/>
                <a:ea typeface="Calibri" pitchFamily="34" charset="-122"/>
                <a:cs typeface="Calibri" pitchFamily="34" charset="-120"/>
              </a:rPr>
              <a:t>Each of these was found by measuring, not by reading documentation — and three of them contradicted what we had planned.</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37744"/>
          </a:xfrm>
          <a:prstGeom prst="rect">
            <a:avLst/>
          </a:prstGeom>
          <a:noFill/>
          <a:ln/>
        </p:spPr>
        <p:txBody>
          <a:bodyPr wrap="square" lIns="0" tIns="0" rIns="0" bIns="0" rtlCol="0" anchor="ctr"/>
          <a:lstStyle/>
          <a:p>
            <a:pPr indent="0" marL="0">
              <a:buNone/>
            </a:pPr>
            <a:r>
              <a:rPr lang="en-US" sz="1050" b="1" spc="160" kern="0" dirty="0">
                <a:solidFill>
                  <a:srgbClr val="FF6A3D"/>
                </a:solidFill>
                <a:latin typeface="Consolas" pitchFamily="34" charset="0"/>
                <a:ea typeface="Consolas" pitchFamily="34" charset="-122"/>
                <a:cs typeface="Consolas" pitchFamily="34" charset="-120"/>
              </a:rPr>
              <a:t>SWOT</a:t>
            </a:r>
            <a:endParaRPr lang="en-US" sz="1050" dirty="0"/>
          </a:p>
        </p:txBody>
      </p:sp>
      <p:sp>
        <p:nvSpPr>
          <p:cNvPr id="3" name="Text 1"/>
          <p:cNvSpPr/>
          <p:nvPr/>
        </p:nvSpPr>
        <p:spPr>
          <a:xfrm>
            <a:off x="548640" y="621792"/>
            <a:ext cx="11094415" cy="603504"/>
          </a:xfrm>
          <a:prstGeom prst="rect">
            <a:avLst/>
          </a:prstGeom>
          <a:noFill/>
          <a:ln/>
        </p:spPr>
        <p:txBody>
          <a:bodyPr wrap="square" lIns="0" tIns="0" rIns="0" bIns="0" rtlCol="0" anchor="ctr"/>
          <a:lstStyle/>
          <a:p>
            <a:pPr indent="0" marL="0">
              <a:buNone/>
            </a:pPr>
            <a:r>
              <a:rPr lang="en-US" sz="3300" b="1" spc="-60" kern="0" dirty="0">
                <a:solidFill>
                  <a:srgbClr val="12141C"/>
                </a:solidFill>
                <a:latin typeface="Arial" pitchFamily="34" charset="0"/>
                <a:ea typeface="Arial" pitchFamily="34" charset="-122"/>
                <a:cs typeface="Arial" pitchFamily="34" charset="-120"/>
              </a:rPr>
              <a:t>Where we're strong, and where we're not.</a:t>
            </a:r>
            <a:endParaRPr lang="en-US" sz="3300" dirty="0"/>
          </a:p>
        </p:txBody>
      </p:sp>
      <p:sp>
        <p:nvSpPr>
          <p:cNvPr id="4" name="Shape 2"/>
          <p:cNvSpPr/>
          <p:nvPr/>
        </p:nvSpPr>
        <p:spPr>
          <a:xfrm>
            <a:off x="548640" y="1417320"/>
            <a:ext cx="5410048" cy="2084832"/>
          </a:xfrm>
          <a:prstGeom prst="roundRect">
            <a:avLst>
              <a:gd name="adj" fmla="val 1754"/>
            </a:avLst>
          </a:prstGeom>
          <a:solidFill>
            <a:srgbClr val="FAF9F8"/>
          </a:solidFill>
          <a:ln w="12700">
            <a:solidFill>
              <a:srgbClr val="E6E3DF"/>
            </a:solidFill>
            <a:prstDash val="solid"/>
          </a:ln>
          <a:effectLst>
            <a:outerShdw sx="100000" sy="100000" kx="0" ky="0" algn="bl" rotWithShape="0" blurRad="127000" dist="25400" dir="5400000">
              <a:srgbClr val="9C9890">
                <a:alpha val="16000"/>
              </a:srgbClr>
            </a:outerShdw>
          </a:effectLst>
        </p:spPr>
      </p:sp>
      <p:sp>
        <p:nvSpPr>
          <p:cNvPr id="5" name="Shape 3"/>
          <p:cNvSpPr/>
          <p:nvPr/>
        </p:nvSpPr>
        <p:spPr>
          <a:xfrm>
            <a:off x="859536" y="1673352"/>
            <a:ext cx="402336" cy="402336"/>
          </a:xfrm>
          <a:prstGeom prst="ellipse">
            <a:avLst/>
          </a:prstGeom>
          <a:solidFill>
            <a:srgbClr val="1B7A56"/>
          </a:solidFill>
          <a:ln/>
        </p:spPr>
      </p:sp>
      <p:sp>
        <p:nvSpPr>
          <p:cNvPr id="6" name="Text 4"/>
          <p:cNvSpPr/>
          <p:nvPr/>
        </p:nvSpPr>
        <p:spPr>
          <a:xfrm>
            <a:off x="859536" y="167335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onsolas" pitchFamily="34" charset="0"/>
                <a:ea typeface="Consolas" pitchFamily="34" charset="-122"/>
                <a:cs typeface="Consolas" pitchFamily="34" charset="-120"/>
              </a:rPr>
              <a:t>S</a:t>
            </a:r>
            <a:endParaRPr lang="en-US" sz="1500" dirty="0"/>
          </a:p>
        </p:txBody>
      </p:sp>
      <p:sp>
        <p:nvSpPr>
          <p:cNvPr id="7" name="Text 5"/>
          <p:cNvSpPr/>
          <p:nvPr/>
        </p:nvSpPr>
        <p:spPr>
          <a:xfrm>
            <a:off x="1371600" y="1673352"/>
            <a:ext cx="4276192" cy="402336"/>
          </a:xfrm>
          <a:prstGeom prst="rect">
            <a:avLst/>
          </a:prstGeom>
          <a:noFill/>
          <a:ln/>
        </p:spPr>
        <p:txBody>
          <a:bodyPr wrap="square" lIns="0" tIns="0" rIns="0" bIns="0" rtlCol="0" anchor="ctr"/>
          <a:lstStyle/>
          <a:p>
            <a:pPr indent="0" marL="0">
              <a:buNone/>
            </a:pPr>
            <a:r>
              <a:rPr lang="en-US" sz="1700" b="1" dirty="0">
                <a:solidFill>
                  <a:srgbClr val="12141C"/>
                </a:solidFill>
                <a:latin typeface="Arial" pitchFamily="34" charset="0"/>
                <a:ea typeface="Arial" pitchFamily="34" charset="-122"/>
                <a:cs typeface="Arial" pitchFamily="34" charset="-120"/>
              </a:rPr>
              <a:t>Strengths</a:t>
            </a:r>
            <a:endParaRPr lang="en-US" sz="1700" dirty="0"/>
          </a:p>
        </p:txBody>
      </p:sp>
      <p:sp>
        <p:nvSpPr>
          <p:cNvPr id="8" name="Text 6"/>
          <p:cNvSpPr/>
          <p:nvPr/>
        </p:nvSpPr>
        <p:spPr>
          <a:xfrm>
            <a:off x="877824" y="2167128"/>
            <a:ext cx="4751680" cy="1243584"/>
          </a:xfrm>
          <a:prstGeom prst="rect">
            <a:avLst/>
          </a:prstGeom>
          <a:noFill/>
          <a:ln/>
        </p:spPr>
        <p:txBody>
          <a:bodyPr wrap="square" lIns="0" tIns="0" rIns="0" bIns="0" rtlCol="0" anchor="t"/>
          <a:lstStyle/>
          <a:p>
            <a:pPr marL="342900" indent="-342900">
              <a:lnSpc>
                <a:spcPct val="110000"/>
              </a:lnSpc>
              <a:spcAft>
                <a:spcPts val="400"/>
              </a:spcAft>
              <a:buSzPct val="100000"/>
              <a:buChar char="•"/>
            </a:pPr>
            <a:r>
              <a:rPr lang="en-US" sz="1050" dirty="0">
                <a:solidFill>
                  <a:srgbClr val="3A3D4D"/>
                </a:solidFill>
                <a:latin typeface="Calibri" pitchFamily="34" charset="0"/>
                <a:ea typeface="Calibri" pitchFamily="34" charset="-122"/>
                <a:cs typeface="Calibri" pitchFamily="34" charset="-120"/>
              </a:rPr>
              <a:t>Deployed and answering, not a mock — 8/8 on the problem statement</a:t>
            </a:r>
            <a:endParaRPr lang="en-US" sz="1050" dirty="0"/>
          </a:p>
          <a:p>
            <a:pPr marL="342900" indent="-342900">
              <a:lnSpc>
                <a:spcPct val="110000"/>
              </a:lnSpc>
              <a:spcAft>
                <a:spcPts val="400"/>
              </a:spcAft>
              <a:buSzPct val="100000"/>
              <a:buChar char="•"/>
            </a:pPr>
            <a:r>
              <a:rPr lang="en-US" sz="1050" dirty="0">
                <a:solidFill>
                  <a:srgbClr val="3A3D4D"/>
                </a:solidFill>
                <a:latin typeface="Calibri" pitchFamily="34" charset="0"/>
                <a:ea typeface="Calibri" pitchFamily="34" charset="-122"/>
                <a:cs typeface="Calibri" pitchFamily="34" charset="-120"/>
              </a:rPr>
              <a:t>Genuinely voice-native: bidirectional speech, not STT→LLM→TTS</a:t>
            </a:r>
            <a:endParaRPr lang="en-US" sz="1050" dirty="0"/>
          </a:p>
          <a:p>
            <a:pPr marL="342900" indent="-342900">
              <a:lnSpc>
                <a:spcPct val="110000"/>
              </a:lnSpc>
              <a:spcAft>
                <a:spcPts val="400"/>
              </a:spcAft>
              <a:buSzPct val="100000"/>
              <a:buChar char="•"/>
            </a:pPr>
            <a:r>
              <a:rPr lang="en-US" sz="1050" dirty="0">
                <a:solidFill>
                  <a:srgbClr val="3A3D4D"/>
                </a:solidFill>
                <a:latin typeface="Calibri" pitchFamily="34" charset="0"/>
                <a:ea typeface="Calibri" pitchFamily="34" charset="-122"/>
                <a:cs typeface="Calibri" pitchFamily="34" charset="-120"/>
              </a:rPr>
              <a:t>Zero false reds across every calibration test</a:t>
            </a:r>
            <a:endParaRPr lang="en-US" sz="1050" dirty="0"/>
          </a:p>
          <a:p>
            <a:pPr marL="342900" indent="-342900">
              <a:lnSpc>
                <a:spcPct val="110000"/>
              </a:lnSpc>
              <a:spcAft>
                <a:spcPts val="400"/>
              </a:spcAft>
              <a:buSzPct val="100000"/>
              <a:buChar char="•"/>
            </a:pPr>
            <a:r>
              <a:rPr lang="en-US" sz="1050" dirty="0">
                <a:solidFill>
                  <a:srgbClr val="3A3D4D"/>
                </a:solidFill>
                <a:latin typeface="Calibri" pitchFamily="34" charset="0"/>
                <a:ea typeface="Calibri" pitchFamily="34" charset="-122"/>
                <a:cs typeface="Calibri" pitchFamily="34" charset="-120"/>
              </a:rPr>
              <a:t>Ghost Session replays a full interview for 0 Vertex tokens — the demo can't be killed by venue wifi</a:t>
            </a:r>
            <a:endParaRPr lang="en-US" sz="1050" dirty="0"/>
          </a:p>
        </p:txBody>
      </p:sp>
      <p:sp>
        <p:nvSpPr>
          <p:cNvPr id="9" name="Shape 7"/>
          <p:cNvSpPr/>
          <p:nvPr/>
        </p:nvSpPr>
        <p:spPr>
          <a:xfrm>
            <a:off x="6233008" y="1417320"/>
            <a:ext cx="5410048" cy="2084832"/>
          </a:xfrm>
          <a:prstGeom prst="roundRect">
            <a:avLst>
              <a:gd name="adj" fmla="val 1754"/>
            </a:avLst>
          </a:prstGeom>
          <a:solidFill>
            <a:srgbClr val="FAF9F8"/>
          </a:solidFill>
          <a:ln w="12700">
            <a:solidFill>
              <a:srgbClr val="E6E3DF"/>
            </a:solidFill>
            <a:prstDash val="solid"/>
          </a:ln>
          <a:effectLst>
            <a:outerShdw sx="100000" sy="100000" kx="0" ky="0" algn="bl" rotWithShape="0" blurRad="127000" dist="25400" dir="5400000">
              <a:srgbClr val="9C9890">
                <a:alpha val="16000"/>
              </a:srgbClr>
            </a:outerShdw>
          </a:effectLst>
        </p:spPr>
      </p:sp>
      <p:sp>
        <p:nvSpPr>
          <p:cNvPr id="10" name="Shape 8"/>
          <p:cNvSpPr/>
          <p:nvPr/>
        </p:nvSpPr>
        <p:spPr>
          <a:xfrm>
            <a:off x="6543904" y="1673352"/>
            <a:ext cx="402336" cy="402336"/>
          </a:xfrm>
          <a:prstGeom prst="ellipse">
            <a:avLst/>
          </a:prstGeom>
          <a:solidFill>
            <a:srgbClr val="A63A35"/>
          </a:solidFill>
          <a:ln/>
        </p:spPr>
      </p:sp>
      <p:sp>
        <p:nvSpPr>
          <p:cNvPr id="11" name="Text 9"/>
          <p:cNvSpPr/>
          <p:nvPr/>
        </p:nvSpPr>
        <p:spPr>
          <a:xfrm>
            <a:off x="6543904" y="167335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onsolas" pitchFamily="34" charset="0"/>
                <a:ea typeface="Consolas" pitchFamily="34" charset="-122"/>
                <a:cs typeface="Consolas" pitchFamily="34" charset="-120"/>
              </a:rPr>
              <a:t>W</a:t>
            </a:r>
            <a:endParaRPr lang="en-US" sz="1500" dirty="0"/>
          </a:p>
        </p:txBody>
      </p:sp>
      <p:sp>
        <p:nvSpPr>
          <p:cNvPr id="12" name="Text 10"/>
          <p:cNvSpPr/>
          <p:nvPr/>
        </p:nvSpPr>
        <p:spPr>
          <a:xfrm>
            <a:off x="7055968" y="1673352"/>
            <a:ext cx="4276192" cy="402336"/>
          </a:xfrm>
          <a:prstGeom prst="rect">
            <a:avLst/>
          </a:prstGeom>
          <a:noFill/>
          <a:ln/>
        </p:spPr>
        <p:txBody>
          <a:bodyPr wrap="square" lIns="0" tIns="0" rIns="0" bIns="0" rtlCol="0" anchor="ctr"/>
          <a:lstStyle/>
          <a:p>
            <a:pPr indent="0" marL="0">
              <a:buNone/>
            </a:pPr>
            <a:r>
              <a:rPr lang="en-US" sz="1700" b="1" dirty="0">
                <a:solidFill>
                  <a:srgbClr val="12141C"/>
                </a:solidFill>
                <a:latin typeface="Arial" pitchFamily="34" charset="0"/>
                <a:ea typeface="Arial" pitchFamily="34" charset="-122"/>
                <a:cs typeface="Arial" pitchFamily="34" charset="-120"/>
              </a:rPr>
              <a:t>Weaknesses</a:t>
            </a:r>
            <a:endParaRPr lang="en-US" sz="1700" dirty="0"/>
          </a:p>
        </p:txBody>
      </p:sp>
      <p:sp>
        <p:nvSpPr>
          <p:cNvPr id="13" name="Text 11"/>
          <p:cNvSpPr/>
          <p:nvPr/>
        </p:nvSpPr>
        <p:spPr>
          <a:xfrm>
            <a:off x="6562192" y="2167128"/>
            <a:ext cx="4751680" cy="1243584"/>
          </a:xfrm>
          <a:prstGeom prst="rect">
            <a:avLst/>
          </a:prstGeom>
          <a:noFill/>
          <a:ln/>
        </p:spPr>
        <p:txBody>
          <a:bodyPr wrap="square" lIns="0" tIns="0" rIns="0" bIns="0" rtlCol="0" anchor="t"/>
          <a:lstStyle/>
          <a:p>
            <a:pPr marL="342900" indent="-342900">
              <a:lnSpc>
                <a:spcPct val="110000"/>
              </a:lnSpc>
              <a:spcAft>
                <a:spcPts val="400"/>
              </a:spcAft>
              <a:buSzPct val="100000"/>
              <a:buChar char="•"/>
            </a:pPr>
            <a:r>
              <a:rPr lang="en-US" sz="1050" dirty="0">
                <a:solidFill>
                  <a:srgbClr val="3A3D4D"/>
                </a:solidFill>
                <a:latin typeface="Calibri" pitchFamily="34" charset="0"/>
                <a:ea typeface="Calibri" pitchFamily="34" charset="-122"/>
                <a:cs typeface="Calibri" pitchFamily="34" charset="-120"/>
              </a:rPr>
              <a:t>WebSocket reconnect is unbuilt — a dropped socket ends the session</a:t>
            </a:r>
            <a:endParaRPr lang="en-US" sz="1050" dirty="0"/>
          </a:p>
          <a:p>
            <a:pPr marL="342900" indent="-342900">
              <a:lnSpc>
                <a:spcPct val="110000"/>
              </a:lnSpc>
              <a:spcAft>
                <a:spcPts val="400"/>
              </a:spcAft>
              <a:buSzPct val="100000"/>
              <a:buChar char="•"/>
            </a:pPr>
            <a:r>
              <a:rPr lang="en-US" sz="1050" dirty="0">
                <a:solidFill>
                  <a:srgbClr val="3A3D4D"/>
                </a:solidFill>
                <a:latin typeface="Calibri" pitchFamily="34" charset="0"/>
                <a:ea typeface="Calibri" pitchFamily="34" charset="-122"/>
                <a:cs typeface="Calibri" pitchFamily="34" charset="-120"/>
              </a:rPr>
              <a:t>Evaluation runs 5–8 s against a 4 s target; the heatmap reveals a beat late</a:t>
            </a:r>
            <a:endParaRPr lang="en-US" sz="1050" dirty="0"/>
          </a:p>
          <a:p>
            <a:pPr marL="342900" indent="-342900">
              <a:lnSpc>
                <a:spcPct val="110000"/>
              </a:lnSpc>
              <a:spcAft>
                <a:spcPts val="400"/>
              </a:spcAft>
              <a:buSzPct val="100000"/>
              <a:buChar char="•"/>
            </a:pPr>
            <a:r>
              <a:rPr lang="en-US" sz="1050" dirty="0">
                <a:solidFill>
                  <a:srgbClr val="3A3D4D"/>
                </a:solidFill>
                <a:latin typeface="Calibri" pitchFamily="34" charset="0"/>
                <a:ea typeface="Calibri" pitchFamily="34" charset="-122"/>
                <a:cs typeface="Calibri" pitchFamily="34" charset="-120"/>
              </a:rPr>
              <a:t>Vertex concurrency unproven — the load test used replay sessions</a:t>
            </a:r>
            <a:endParaRPr lang="en-US" sz="1050" dirty="0"/>
          </a:p>
          <a:p>
            <a:pPr marL="342900" indent="-342900">
              <a:lnSpc>
                <a:spcPct val="110000"/>
              </a:lnSpc>
              <a:spcAft>
                <a:spcPts val="400"/>
              </a:spcAft>
              <a:buSzPct val="100000"/>
              <a:buChar char="•"/>
            </a:pPr>
            <a:r>
              <a:rPr lang="en-US" sz="1050" dirty="0">
                <a:solidFill>
                  <a:srgbClr val="3A3D4D"/>
                </a:solidFill>
                <a:latin typeface="Calibri" pitchFamily="34" charset="0"/>
                <a:ea typeface="Calibri" pitchFamily="34" charset="-122"/>
                <a:cs typeface="Calibri" pitchFamily="34" charset="-120"/>
              </a:rPr>
              <a:t>The radar chart needs three graded turns before it means anything</a:t>
            </a:r>
            <a:endParaRPr lang="en-US" sz="1050" dirty="0"/>
          </a:p>
        </p:txBody>
      </p:sp>
      <p:sp>
        <p:nvSpPr>
          <p:cNvPr id="14" name="Shape 12"/>
          <p:cNvSpPr/>
          <p:nvPr/>
        </p:nvSpPr>
        <p:spPr>
          <a:xfrm>
            <a:off x="548640" y="3739896"/>
            <a:ext cx="5410048" cy="2084832"/>
          </a:xfrm>
          <a:prstGeom prst="roundRect">
            <a:avLst>
              <a:gd name="adj" fmla="val 1754"/>
            </a:avLst>
          </a:prstGeom>
          <a:solidFill>
            <a:srgbClr val="FAF9F8"/>
          </a:solidFill>
          <a:ln w="12700">
            <a:solidFill>
              <a:srgbClr val="E6E3DF"/>
            </a:solidFill>
            <a:prstDash val="solid"/>
          </a:ln>
          <a:effectLst>
            <a:outerShdw sx="100000" sy="100000" kx="0" ky="0" algn="bl" rotWithShape="0" blurRad="127000" dist="25400" dir="5400000">
              <a:srgbClr val="9C9890">
                <a:alpha val="16000"/>
              </a:srgbClr>
            </a:outerShdw>
          </a:effectLst>
        </p:spPr>
      </p:sp>
      <p:sp>
        <p:nvSpPr>
          <p:cNvPr id="15" name="Shape 13"/>
          <p:cNvSpPr/>
          <p:nvPr/>
        </p:nvSpPr>
        <p:spPr>
          <a:xfrm>
            <a:off x="859536" y="3995928"/>
            <a:ext cx="402336" cy="402336"/>
          </a:xfrm>
          <a:prstGeom prst="ellipse">
            <a:avLst/>
          </a:prstGeom>
          <a:solidFill>
            <a:srgbClr val="24618C"/>
          </a:solidFill>
          <a:ln/>
        </p:spPr>
      </p:sp>
      <p:sp>
        <p:nvSpPr>
          <p:cNvPr id="16" name="Text 14"/>
          <p:cNvSpPr/>
          <p:nvPr/>
        </p:nvSpPr>
        <p:spPr>
          <a:xfrm>
            <a:off x="859536" y="399592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onsolas" pitchFamily="34" charset="0"/>
                <a:ea typeface="Consolas" pitchFamily="34" charset="-122"/>
                <a:cs typeface="Consolas" pitchFamily="34" charset="-120"/>
              </a:rPr>
              <a:t>O</a:t>
            </a:r>
            <a:endParaRPr lang="en-US" sz="1500" dirty="0"/>
          </a:p>
        </p:txBody>
      </p:sp>
      <p:sp>
        <p:nvSpPr>
          <p:cNvPr id="17" name="Text 15"/>
          <p:cNvSpPr/>
          <p:nvPr/>
        </p:nvSpPr>
        <p:spPr>
          <a:xfrm>
            <a:off x="1371600" y="3995928"/>
            <a:ext cx="4276192" cy="402336"/>
          </a:xfrm>
          <a:prstGeom prst="rect">
            <a:avLst/>
          </a:prstGeom>
          <a:noFill/>
          <a:ln/>
        </p:spPr>
        <p:txBody>
          <a:bodyPr wrap="square" lIns="0" tIns="0" rIns="0" bIns="0" rtlCol="0" anchor="ctr"/>
          <a:lstStyle/>
          <a:p>
            <a:pPr indent="0" marL="0">
              <a:buNone/>
            </a:pPr>
            <a:r>
              <a:rPr lang="en-US" sz="1700" b="1" dirty="0">
                <a:solidFill>
                  <a:srgbClr val="12141C"/>
                </a:solidFill>
                <a:latin typeface="Arial" pitchFamily="34" charset="0"/>
                <a:ea typeface="Arial" pitchFamily="34" charset="-122"/>
                <a:cs typeface="Arial" pitchFamily="34" charset="-120"/>
              </a:rPr>
              <a:t>Opportunities</a:t>
            </a:r>
            <a:endParaRPr lang="en-US" sz="1700" dirty="0"/>
          </a:p>
        </p:txBody>
      </p:sp>
      <p:sp>
        <p:nvSpPr>
          <p:cNvPr id="18" name="Text 16"/>
          <p:cNvSpPr/>
          <p:nvPr/>
        </p:nvSpPr>
        <p:spPr>
          <a:xfrm>
            <a:off x="877824" y="4489704"/>
            <a:ext cx="4751680" cy="1243584"/>
          </a:xfrm>
          <a:prstGeom prst="rect">
            <a:avLst/>
          </a:prstGeom>
          <a:noFill/>
          <a:ln/>
        </p:spPr>
        <p:txBody>
          <a:bodyPr wrap="square" lIns="0" tIns="0" rIns="0" bIns="0" rtlCol="0" anchor="t"/>
          <a:lstStyle/>
          <a:p>
            <a:pPr marL="342900" indent="-342900">
              <a:lnSpc>
                <a:spcPct val="110000"/>
              </a:lnSpc>
              <a:spcAft>
                <a:spcPts val="400"/>
              </a:spcAft>
              <a:buSzPct val="100000"/>
              <a:buChar char="•"/>
            </a:pPr>
            <a:r>
              <a:rPr lang="en-US" sz="1050" dirty="0">
                <a:solidFill>
                  <a:srgbClr val="3A3D4D"/>
                </a:solidFill>
                <a:latin typeface="Calibri" pitchFamily="34" charset="0"/>
                <a:ea typeface="Calibri" pitchFamily="34" charset="-122"/>
                <a:cs typeface="Calibri" pitchFamily="34" charset="-120"/>
              </a:rPr>
              <a:t>The Live model ships 24 languages and 30 HD voices — regional-language prep is wide open</a:t>
            </a:r>
            <a:endParaRPr lang="en-US" sz="1050" dirty="0"/>
          </a:p>
          <a:p>
            <a:pPr marL="342900" indent="-342900">
              <a:lnSpc>
                <a:spcPct val="110000"/>
              </a:lnSpc>
              <a:spcAft>
                <a:spcPts val="400"/>
              </a:spcAft>
              <a:buSzPct val="100000"/>
              <a:buChar char="•"/>
            </a:pPr>
            <a:r>
              <a:rPr lang="en-US" sz="1050" dirty="0">
                <a:solidFill>
                  <a:srgbClr val="3A3D4D"/>
                </a:solidFill>
                <a:latin typeface="Calibri" pitchFamily="34" charset="0"/>
                <a:ea typeface="Calibri" pitchFamily="34" charset="-122"/>
                <a:cs typeface="Calibri" pitchFamily="34" charset="-120"/>
              </a:rPr>
              <a:t>Campus placement cells and bootcamps are a natural per-seat B2B wedge</a:t>
            </a:r>
            <a:endParaRPr lang="en-US" sz="1050" dirty="0"/>
          </a:p>
          <a:p>
            <a:pPr marL="342900" indent="-342900">
              <a:lnSpc>
                <a:spcPct val="110000"/>
              </a:lnSpc>
              <a:spcAft>
                <a:spcPts val="400"/>
              </a:spcAft>
              <a:buSzPct val="100000"/>
              <a:buChar char="•"/>
            </a:pPr>
            <a:r>
              <a:rPr lang="en-US" sz="1050" dirty="0">
                <a:solidFill>
                  <a:srgbClr val="3A3D4D"/>
                </a:solidFill>
                <a:latin typeface="Calibri" pitchFamily="34" charset="0"/>
                <a:ea typeface="Calibri" pitchFamily="34" charset="-122"/>
                <a:cs typeface="Calibri" pitchFamily="34" charset="-120"/>
              </a:rPr>
              <a:t>Study Mode already generalises past interviews to any topic</a:t>
            </a:r>
            <a:endParaRPr lang="en-US" sz="1050" dirty="0"/>
          </a:p>
          <a:p>
            <a:pPr marL="342900" indent="-342900">
              <a:lnSpc>
                <a:spcPct val="110000"/>
              </a:lnSpc>
              <a:spcAft>
                <a:spcPts val="400"/>
              </a:spcAft>
              <a:buSzPct val="100000"/>
              <a:buChar char="•"/>
            </a:pPr>
            <a:r>
              <a:rPr lang="en-US" sz="1050" dirty="0">
                <a:solidFill>
                  <a:srgbClr val="3A3D4D"/>
                </a:solidFill>
                <a:latin typeface="Calibri" pitchFamily="34" charset="0"/>
                <a:ea typeface="Calibri" pitchFamily="34" charset="-122"/>
                <a:cs typeface="Calibri" pitchFamily="34" charset="-120"/>
              </a:rPr>
              <a:t>Study Mode's real prerequisite DAG can upgrade roadmap ordering</a:t>
            </a:r>
            <a:endParaRPr lang="en-US" sz="1050" dirty="0"/>
          </a:p>
        </p:txBody>
      </p:sp>
      <p:sp>
        <p:nvSpPr>
          <p:cNvPr id="19" name="Shape 17"/>
          <p:cNvSpPr/>
          <p:nvPr/>
        </p:nvSpPr>
        <p:spPr>
          <a:xfrm>
            <a:off x="6233008" y="3739896"/>
            <a:ext cx="5410048" cy="2084832"/>
          </a:xfrm>
          <a:prstGeom prst="roundRect">
            <a:avLst>
              <a:gd name="adj" fmla="val 1754"/>
            </a:avLst>
          </a:prstGeom>
          <a:solidFill>
            <a:srgbClr val="FAF9F8"/>
          </a:solidFill>
          <a:ln w="12700">
            <a:solidFill>
              <a:srgbClr val="E6E3DF"/>
            </a:solidFill>
            <a:prstDash val="solid"/>
          </a:ln>
          <a:effectLst>
            <a:outerShdw sx="100000" sy="100000" kx="0" ky="0" algn="bl" rotWithShape="0" blurRad="127000" dist="25400" dir="5400000">
              <a:srgbClr val="9C9890">
                <a:alpha val="16000"/>
              </a:srgbClr>
            </a:outerShdw>
          </a:effectLst>
        </p:spPr>
      </p:sp>
      <p:sp>
        <p:nvSpPr>
          <p:cNvPr id="20" name="Shape 18"/>
          <p:cNvSpPr/>
          <p:nvPr/>
        </p:nvSpPr>
        <p:spPr>
          <a:xfrm>
            <a:off x="6543904" y="3995928"/>
            <a:ext cx="402336" cy="402336"/>
          </a:xfrm>
          <a:prstGeom prst="ellipse">
            <a:avLst/>
          </a:prstGeom>
          <a:solidFill>
            <a:srgbClr val="8A5D08"/>
          </a:solidFill>
          <a:ln/>
        </p:spPr>
      </p:sp>
      <p:sp>
        <p:nvSpPr>
          <p:cNvPr id="21" name="Text 19"/>
          <p:cNvSpPr/>
          <p:nvPr/>
        </p:nvSpPr>
        <p:spPr>
          <a:xfrm>
            <a:off x="6543904" y="399592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onsolas" pitchFamily="34" charset="0"/>
                <a:ea typeface="Consolas" pitchFamily="34" charset="-122"/>
                <a:cs typeface="Consolas" pitchFamily="34" charset="-120"/>
              </a:rPr>
              <a:t>T</a:t>
            </a:r>
            <a:endParaRPr lang="en-US" sz="1500" dirty="0"/>
          </a:p>
        </p:txBody>
      </p:sp>
      <p:sp>
        <p:nvSpPr>
          <p:cNvPr id="22" name="Text 20"/>
          <p:cNvSpPr/>
          <p:nvPr/>
        </p:nvSpPr>
        <p:spPr>
          <a:xfrm>
            <a:off x="7055968" y="3995928"/>
            <a:ext cx="4276192" cy="402336"/>
          </a:xfrm>
          <a:prstGeom prst="rect">
            <a:avLst/>
          </a:prstGeom>
          <a:noFill/>
          <a:ln/>
        </p:spPr>
        <p:txBody>
          <a:bodyPr wrap="square" lIns="0" tIns="0" rIns="0" bIns="0" rtlCol="0" anchor="ctr"/>
          <a:lstStyle/>
          <a:p>
            <a:pPr indent="0" marL="0">
              <a:buNone/>
            </a:pPr>
            <a:r>
              <a:rPr lang="en-US" sz="1700" b="1" dirty="0">
                <a:solidFill>
                  <a:srgbClr val="12141C"/>
                </a:solidFill>
                <a:latin typeface="Arial" pitchFamily="34" charset="0"/>
                <a:ea typeface="Arial" pitchFamily="34" charset="-122"/>
                <a:cs typeface="Arial" pitchFamily="34" charset="-120"/>
              </a:rPr>
              <a:t>Threats</a:t>
            </a:r>
            <a:endParaRPr lang="en-US" sz="1700" dirty="0"/>
          </a:p>
        </p:txBody>
      </p:sp>
      <p:sp>
        <p:nvSpPr>
          <p:cNvPr id="23" name="Text 21"/>
          <p:cNvSpPr/>
          <p:nvPr/>
        </p:nvSpPr>
        <p:spPr>
          <a:xfrm>
            <a:off x="6562192" y="4489704"/>
            <a:ext cx="4751680" cy="1243584"/>
          </a:xfrm>
          <a:prstGeom prst="rect">
            <a:avLst/>
          </a:prstGeom>
          <a:noFill/>
          <a:ln/>
        </p:spPr>
        <p:txBody>
          <a:bodyPr wrap="square" lIns="0" tIns="0" rIns="0" bIns="0" rtlCol="0" anchor="t"/>
          <a:lstStyle/>
          <a:p>
            <a:pPr marL="342900" indent="-342900">
              <a:lnSpc>
                <a:spcPct val="110000"/>
              </a:lnSpc>
              <a:spcAft>
                <a:spcPts val="400"/>
              </a:spcAft>
              <a:buSzPct val="100000"/>
              <a:buChar char="•"/>
            </a:pPr>
            <a:r>
              <a:rPr lang="en-US" sz="1050" dirty="0">
                <a:solidFill>
                  <a:srgbClr val="3A3D4D"/>
                </a:solidFill>
                <a:latin typeface="Calibri" pitchFamily="34" charset="0"/>
                <a:ea typeface="Calibri" pitchFamily="34" charset="-122"/>
                <a:cs typeface="Calibri" pitchFamily="34" charset="-120"/>
              </a:rPr>
              <a:t>Live audio dominates cost, so unit economics track model pricing</a:t>
            </a:r>
            <a:endParaRPr lang="en-US" sz="1050" dirty="0"/>
          </a:p>
          <a:p>
            <a:pPr marL="342900" indent="-342900">
              <a:lnSpc>
                <a:spcPct val="110000"/>
              </a:lnSpc>
              <a:spcAft>
                <a:spcPts val="400"/>
              </a:spcAft>
              <a:buSzPct val="100000"/>
              <a:buChar char="•"/>
            </a:pPr>
            <a:r>
              <a:rPr lang="en-US" sz="1050" dirty="0">
                <a:solidFill>
                  <a:srgbClr val="3A3D4D"/>
                </a:solidFill>
                <a:latin typeface="Calibri" pitchFamily="34" charset="0"/>
                <a:ea typeface="Calibri" pitchFamily="34" charset="-122"/>
                <a:cs typeface="Calibri" pitchFamily="34" charset="-120"/>
              </a:rPr>
              <a:t>Incumbents could add voice to an existing question bank</a:t>
            </a:r>
            <a:endParaRPr lang="en-US" sz="1050" dirty="0"/>
          </a:p>
          <a:p>
            <a:pPr marL="342900" indent="-342900">
              <a:lnSpc>
                <a:spcPct val="110000"/>
              </a:lnSpc>
              <a:spcAft>
                <a:spcPts val="400"/>
              </a:spcAft>
              <a:buSzPct val="100000"/>
              <a:buChar char="•"/>
            </a:pPr>
            <a:r>
              <a:rPr lang="en-US" sz="1050" dirty="0">
                <a:solidFill>
                  <a:srgbClr val="3A3D4D"/>
                </a:solidFill>
                <a:latin typeface="Calibri" pitchFamily="34" charset="0"/>
                <a:ea typeface="Calibri" pitchFamily="34" charset="-122"/>
                <a:cs typeface="Calibri" pitchFamily="34" charset="-120"/>
              </a:rPr>
              <a:t>The Live API surface is Preview and already forced two-region pinning</a:t>
            </a:r>
            <a:endParaRPr lang="en-US" sz="1050" dirty="0"/>
          </a:p>
          <a:p>
            <a:pPr marL="342900" indent="-342900">
              <a:lnSpc>
                <a:spcPct val="110000"/>
              </a:lnSpc>
              <a:spcAft>
                <a:spcPts val="400"/>
              </a:spcAft>
              <a:buSzPct val="100000"/>
              <a:buChar char="•"/>
            </a:pPr>
            <a:r>
              <a:rPr lang="en-US" sz="1050" dirty="0">
                <a:solidFill>
                  <a:srgbClr val="3A3D4D"/>
                </a:solidFill>
                <a:latin typeface="Calibri" pitchFamily="34" charset="0"/>
                <a:ea typeface="Calibri" pitchFamily="34" charset="-122"/>
                <a:cs typeface="Calibri" pitchFamily="34" charset="-120"/>
              </a:rPr>
              <a:t>Calibration drift — one unfair red costs a user's trust permanently</a:t>
            </a:r>
            <a:endParaRPr lang="en-US" sz="1050" dirty="0"/>
          </a:p>
        </p:txBody>
      </p:sp>
      <p:sp>
        <p:nvSpPr>
          <p:cNvPr id="24" name="Text 22"/>
          <p:cNvSpPr/>
          <p:nvPr/>
        </p:nvSpPr>
        <p:spPr>
          <a:xfrm>
            <a:off x="548640" y="6016752"/>
            <a:ext cx="11094415" cy="329184"/>
          </a:xfrm>
          <a:prstGeom prst="rect">
            <a:avLst/>
          </a:prstGeom>
          <a:noFill/>
          <a:ln/>
        </p:spPr>
        <p:txBody>
          <a:bodyPr wrap="square" lIns="0" tIns="0" rIns="0" bIns="0" rtlCol="0" anchor="ctr"/>
          <a:lstStyle/>
          <a:p>
            <a:pPr indent="0" marL="0">
              <a:buNone/>
            </a:pPr>
            <a:r>
              <a:rPr lang="en-US" sz="1200" i="1" dirty="0">
                <a:solidFill>
                  <a:srgbClr val="6E7285"/>
                </a:solidFill>
                <a:latin typeface="Calibri" pitchFamily="34" charset="0"/>
                <a:ea typeface="Calibri" pitchFamily="34" charset="-122"/>
                <a:cs typeface="Calibri" pitchFamily="34" charset="-120"/>
              </a:rPr>
              <a:t>The weaknesses are quoted from our own build checkpoints. We'd rather name them than be asked about them.</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237744"/>
          </a:xfrm>
          <a:prstGeom prst="rect">
            <a:avLst/>
          </a:prstGeom>
          <a:noFill/>
          <a:ln/>
        </p:spPr>
        <p:txBody>
          <a:bodyPr wrap="square" lIns="0" tIns="0" rIns="0" bIns="0" rtlCol="0" anchor="ctr"/>
          <a:lstStyle/>
          <a:p>
            <a:pPr indent="0" marL="0">
              <a:buNone/>
            </a:pPr>
            <a:r>
              <a:rPr lang="en-US" sz="1050" b="1" spc="160" kern="0" dirty="0">
                <a:solidFill>
                  <a:srgbClr val="FF6A3D"/>
                </a:solidFill>
                <a:latin typeface="Consolas" pitchFamily="34" charset="0"/>
                <a:ea typeface="Consolas" pitchFamily="34" charset="-122"/>
                <a:cs typeface="Consolas" pitchFamily="34" charset="-120"/>
              </a:rPr>
              <a:t>VALIDATION</a:t>
            </a:r>
            <a:endParaRPr lang="en-US" sz="1050" dirty="0"/>
          </a:p>
        </p:txBody>
      </p:sp>
      <p:sp>
        <p:nvSpPr>
          <p:cNvPr id="3" name="Text 1"/>
          <p:cNvSpPr/>
          <p:nvPr/>
        </p:nvSpPr>
        <p:spPr>
          <a:xfrm>
            <a:off x="548640" y="621792"/>
            <a:ext cx="11094415" cy="603504"/>
          </a:xfrm>
          <a:prstGeom prst="rect">
            <a:avLst/>
          </a:prstGeom>
          <a:noFill/>
          <a:ln/>
        </p:spPr>
        <p:txBody>
          <a:bodyPr wrap="square" lIns="0" tIns="0" rIns="0" bIns="0" rtlCol="0" anchor="ctr"/>
          <a:lstStyle/>
          <a:p>
            <a:pPr indent="0" marL="0">
              <a:buNone/>
            </a:pPr>
            <a:r>
              <a:rPr lang="en-US" sz="3300" b="1" spc="-60" kern="0" dirty="0">
                <a:solidFill>
                  <a:srgbClr val="12141C"/>
                </a:solidFill>
                <a:latin typeface="Arial" pitchFamily="34" charset="0"/>
                <a:ea typeface="Arial" pitchFamily="34" charset="-122"/>
                <a:cs typeface="Arial" pitchFamily="34" charset="-120"/>
              </a:rPr>
              <a:t>Measured, not asserted.</a:t>
            </a:r>
            <a:endParaRPr lang="en-US" sz="3300" dirty="0"/>
          </a:p>
        </p:txBody>
      </p:sp>
      <p:sp>
        <p:nvSpPr>
          <p:cNvPr id="4" name="Text 2"/>
          <p:cNvSpPr/>
          <p:nvPr/>
        </p:nvSpPr>
        <p:spPr>
          <a:xfrm>
            <a:off x="548640" y="1371600"/>
            <a:ext cx="1849069" cy="475488"/>
          </a:xfrm>
          <a:prstGeom prst="rect">
            <a:avLst/>
          </a:prstGeom>
          <a:noFill/>
          <a:ln/>
        </p:spPr>
        <p:txBody>
          <a:bodyPr wrap="square" lIns="0" tIns="0" rIns="0" bIns="0" rtlCol="0" anchor="ctr"/>
          <a:lstStyle/>
          <a:p>
            <a:pPr algn="ctr" indent="0" marL="0">
              <a:buNone/>
            </a:pPr>
            <a:r>
              <a:rPr lang="en-US" sz="2900" b="1" spc="-50" kern="0" dirty="0">
                <a:solidFill>
                  <a:srgbClr val="FF6A3D"/>
                </a:solidFill>
                <a:latin typeface="Arial" pitchFamily="34" charset="0"/>
                <a:ea typeface="Arial" pitchFamily="34" charset="-122"/>
                <a:cs typeface="Arial" pitchFamily="34" charset="-120"/>
              </a:rPr>
              <a:t>10/10</a:t>
            </a:r>
            <a:endParaRPr lang="en-US" sz="2900" dirty="0"/>
          </a:p>
        </p:txBody>
      </p:sp>
      <p:sp>
        <p:nvSpPr>
          <p:cNvPr id="5" name="Text 3"/>
          <p:cNvSpPr/>
          <p:nvPr/>
        </p:nvSpPr>
        <p:spPr>
          <a:xfrm>
            <a:off x="548640" y="1828800"/>
            <a:ext cx="1849069" cy="384048"/>
          </a:xfrm>
          <a:prstGeom prst="rect">
            <a:avLst/>
          </a:prstGeom>
          <a:noFill/>
          <a:ln/>
        </p:spPr>
        <p:txBody>
          <a:bodyPr wrap="square" lIns="0" tIns="0" rIns="0" bIns="0" rtlCol="0" anchor="t"/>
          <a:lstStyle/>
          <a:p>
            <a:pPr algn="ctr" indent="0" marL="0">
              <a:buNone/>
            </a:pPr>
            <a:r>
              <a:rPr lang="en-US" sz="850" spc="40" kern="0" dirty="0">
                <a:solidFill>
                  <a:srgbClr val="6E7285"/>
                </a:solidFill>
                <a:latin typeface="Consolas" pitchFamily="34" charset="0"/>
                <a:ea typeface="Consolas" pitchFamily="34" charset="-122"/>
                <a:cs typeface="Consolas" pitchFamily="34" charset="-120"/>
              </a:rPr>
              <a:t>CONCURRENT SESSIONS</a:t>
            </a:r>
            <a:endParaRPr lang="en-US" sz="850" dirty="0"/>
          </a:p>
        </p:txBody>
      </p:sp>
      <p:sp>
        <p:nvSpPr>
          <p:cNvPr id="6" name="Text 4"/>
          <p:cNvSpPr/>
          <p:nvPr/>
        </p:nvSpPr>
        <p:spPr>
          <a:xfrm>
            <a:off x="2397709" y="1371600"/>
            <a:ext cx="1849069" cy="475488"/>
          </a:xfrm>
          <a:prstGeom prst="rect">
            <a:avLst/>
          </a:prstGeom>
          <a:noFill/>
          <a:ln/>
        </p:spPr>
        <p:txBody>
          <a:bodyPr wrap="square" lIns="0" tIns="0" rIns="0" bIns="0" rtlCol="0" anchor="ctr"/>
          <a:lstStyle/>
          <a:p>
            <a:pPr algn="ctr" indent="0" marL="0">
              <a:buNone/>
            </a:pPr>
            <a:r>
              <a:rPr lang="en-US" sz="2900" b="1" spc="-50" kern="0" dirty="0">
                <a:solidFill>
                  <a:srgbClr val="FF6A3D"/>
                </a:solidFill>
                <a:latin typeface="Arial" pitchFamily="34" charset="0"/>
                <a:ea typeface="Arial" pitchFamily="34" charset="-122"/>
                <a:cs typeface="Arial" pitchFamily="34" charset="-120"/>
              </a:rPr>
              <a:t>17/17</a:t>
            </a:r>
            <a:endParaRPr lang="en-US" sz="2900" dirty="0"/>
          </a:p>
        </p:txBody>
      </p:sp>
      <p:sp>
        <p:nvSpPr>
          <p:cNvPr id="7" name="Text 5"/>
          <p:cNvSpPr/>
          <p:nvPr/>
        </p:nvSpPr>
        <p:spPr>
          <a:xfrm>
            <a:off x="2397709" y="1828800"/>
            <a:ext cx="1849069" cy="384048"/>
          </a:xfrm>
          <a:prstGeom prst="rect">
            <a:avLst/>
          </a:prstGeom>
          <a:noFill/>
          <a:ln/>
        </p:spPr>
        <p:txBody>
          <a:bodyPr wrap="square" lIns="0" tIns="0" rIns="0" bIns="0" rtlCol="0" anchor="t"/>
          <a:lstStyle/>
          <a:p>
            <a:pPr algn="ctr" indent="0" marL="0">
              <a:buNone/>
            </a:pPr>
            <a:r>
              <a:rPr lang="en-US" sz="850" spc="40" kern="0" dirty="0">
                <a:solidFill>
                  <a:srgbClr val="6E7285"/>
                </a:solidFill>
                <a:latin typeface="Consolas" pitchFamily="34" charset="0"/>
                <a:ea typeface="Consolas" pitchFamily="34" charset="-122"/>
                <a:cs typeface="Consolas" pitchFamily="34" charset="-120"/>
              </a:rPr>
              <a:t>CHAOS CHECKS</a:t>
            </a:r>
            <a:endParaRPr lang="en-US" sz="850" dirty="0"/>
          </a:p>
        </p:txBody>
      </p:sp>
      <p:sp>
        <p:nvSpPr>
          <p:cNvPr id="8" name="Text 6"/>
          <p:cNvSpPr/>
          <p:nvPr/>
        </p:nvSpPr>
        <p:spPr>
          <a:xfrm>
            <a:off x="4246778" y="1371600"/>
            <a:ext cx="1849069" cy="475488"/>
          </a:xfrm>
          <a:prstGeom prst="rect">
            <a:avLst/>
          </a:prstGeom>
          <a:noFill/>
          <a:ln/>
        </p:spPr>
        <p:txBody>
          <a:bodyPr wrap="square" lIns="0" tIns="0" rIns="0" bIns="0" rtlCol="0" anchor="ctr"/>
          <a:lstStyle/>
          <a:p>
            <a:pPr algn="ctr" indent="0" marL="0">
              <a:buNone/>
            </a:pPr>
            <a:r>
              <a:rPr lang="en-US" sz="2900" b="1" spc="-50" kern="0" dirty="0">
                <a:solidFill>
                  <a:srgbClr val="FF6A3D"/>
                </a:solidFill>
                <a:latin typeface="Arial" pitchFamily="34" charset="0"/>
                <a:ea typeface="Arial" pitchFamily="34" charset="-122"/>
                <a:cs typeface="Arial" pitchFamily="34" charset="-120"/>
              </a:rPr>
              <a:t>125</a:t>
            </a:r>
            <a:endParaRPr lang="en-US" sz="2900" dirty="0"/>
          </a:p>
        </p:txBody>
      </p:sp>
      <p:sp>
        <p:nvSpPr>
          <p:cNvPr id="9" name="Text 7"/>
          <p:cNvSpPr/>
          <p:nvPr/>
        </p:nvSpPr>
        <p:spPr>
          <a:xfrm>
            <a:off x="4246778" y="1828800"/>
            <a:ext cx="1849069" cy="384048"/>
          </a:xfrm>
          <a:prstGeom prst="rect">
            <a:avLst/>
          </a:prstGeom>
          <a:noFill/>
          <a:ln/>
        </p:spPr>
        <p:txBody>
          <a:bodyPr wrap="square" lIns="0" tIns="0" rIns="0" bIns="0" rtlCol="0" anchor="t"/>
          <a:lstStyle/>
          <a:p>
            <a:pPr algn="ctr" indent="0" marL="0">
              <a:buNone/>
            </a:pPr>
            <a:r>
              <a:rPr lang="en-US" sz="850" spc="40" kern="0" dirty="0">
                <a:solidFill>
                  <a:srgbClr val="6E7285"/>
                </a:solidFill>
                <a:latin typeface="Consolas" pitchFamily="34" charset="0"/>
                <a:ea typeface="Consolas" pitchFamily="34" charset="-122"/>
                <a:cs typeface="Consolas" pitchFamily="34" charset="-120"/>
              </a:rPr>
              <a:t>TESTS</a:t>
            </a:r>
            <a:endParaRPr lang="en-US" sz="850" dirty="0"/>
          </a:p>
        </p:txBody>
      </p:sp>
      <p:sp>
        <p:nvSpPr>
          <p:cNvPr id="10" name="Text 8"/>
          <p:cNvSpPr/>
          <p:nvPr/>
        </p:nvSpPr>
        <p:spPr>
          <a:xfrm>
            <a:off x="6095848" y="1371600"/>
            <a:ext cx="1849069" cy="475488"/>
          </a:xfrm>
          <a:prstGeom prst="rect">
            <a:avLst/>
          </a:prstGeom>
          <a:noFill/>
          <a:ln/>
        </p:spPr>
        <p:txBody>
          <a:bodyPr wrap="square" lIns="0" tIns="0" rIns="0" bIns="0" rtlCol="0" anchor="ctr"/>
          <a:lstStyle/>
          <a:p>
            <a:pPr algn="ctr" indent="0" marL="0">
              <a:buNone/>
            </a:pPr>
            <a:r>
              <a:rPr lang="en-US" sz="2900" b="1" spc="-50" kern="0" dirty="0">
                <a:solidFill>
                  <a:srgbClr val="FF6A3D"/>
                </a:solidFill>
                <a:latin typeface="Arial" pitchFamily="34" charset="0"/>
                <a:ea typeface="Arial" pitchFamily="34" charset="-122"/>
                <a:cs typeface="Arial" pitchFamily="34" charset="-120"/>
              </a:rPr>
              <a:t>0</a:t>
            </a:r>
            <a:endParaRPr lang="en-US" sz="2900" dirty="0"/>
          </a:p>
        </p:txBody>
      </p:sp>
      <p:sp>
        <p:nvSpPr>
          <p:cNvPr id="11" name="Text 9"/>
          <p:cNvSpPr/>
          <p:nvPr/>
        </p:nvSpPr>
        <p:spPr>
          <a:xfrm>
            <a:off x="6095848" y="1828800"/>
            <a:ext cx="1849069" cy="384048"/>
          </a:xfrm>
          <a:prstGeom prst="rect">
            <a:avLst/>
          </a:prstGeom>
          <a:noFill/>
          <a:ln/>
        </p:spPr>
        <p:txBody>
          <a:bodyPr wrap="square" lIns="0" tIns="0" rIns="0" bIns="0" rtlCol="0" anchor="t"/>
          <a:lstStyle/>
          <a:p>
            <a:pPr algn="ctr" indent="0" marL="0">
              <a:buNone/>
            </a:pPr>
            <a:r>
              <a:rPr lang="en-US" sz="850" spc="40" kern="0" dirty="0">
                <a:solidFill>
                  <a:srgbClr val="6E7285"/>
                </a:solidFill>
                <a:latin typeface="Consolas" pitchFamily="34" charset="0"/>
                <a:ea typeface="Consolas" pitchFamily="34" charset="-122"/>
                <a:cs typeface="Consolas" pitchFamily="34" charset="-120"/>
              </a:rPr>
              <a:t>FALSE REDS</a:t>
            </a:r>
            <a:endParaRPr lang="en-US" sz="850" dirty="0"/>
          </a:p>
        </p:txBody>
      </p:sp>
      <p:sp>
        <p:nvSpPr>
          <p:cNvPr id="12" name="Text 10"/>
          <p:cNvSpPr/>
          <p:nvPr/>
        </p:nvSpPr>
        <p:spPr>
          <a:xfrm>
            <a:off x="7944917" y="1371600"/>
            <a:ext cx="1849069" cy="475488"/>
          </a:xfrm>
          <a:prstGeom prst="rect">
            <a:avLst/>
          </a:prstGeom>
          <a:noFill/>
          <a:ln/>
        </p:spPr>
        <p:txBody>
          <a:bodyPr wrap="square" lIns="0" tIns="0" rIns="0" bIns="0" rtlCol="0" anchor="ctr"/>
          <a:lstStyle/>
          <a:p>
            <a:pPr algn="ctr" indent="0" marL="0">
              <a:buNone/>
            </a:pPr>
            <a:r>
              <a:rPr lang="en-US" sz="2900" b="1" spc="-50" kern="0" dirty="0">
                <a:solidFill>
                  <a:srgbClr val="FF6A3D"/>
                </a:solidFill>
                <a:latin typeface="Arial" pitchFamily="34" charset="0"/>
                <a:ea typeface="Arial" pitchFamily="34" charset="-122"/>
                <a:cs typeface="Arial" pitchFamily="34" charset="-120"/>
              </a:rPr>
              <a:t>0%</a:t>
            </a:r>
            <a:endParaRPr lang="en-US" sz="2900" dirty="0"/>
          </a:p>
        </p:txBody>
      </p:sp>
      <p:sp>
        <p:nvSpPr>
          <p:cNvPr id="13" name="Text 11"/>
          <p:cNvSpPr/>
          <p:nvPr/>
        </p:nvSpPr>
        <p:spPr>
          <a:xfrm>
            <a:off x="7944917" y="1828800"/>
            <a:ext cx="1849069" cy="384048"/>
          </a:xfrm>
          <a:prstGeom prst="rect">
            <a:avLst/>
          </a:prstGeom>
          <a:noFill/>
          <a:ln/>
        </p:spPr>
        <p:txBody>
          <a:bodyPr wrap="square" lIns="0" tIns="0" rIns="0" bIns="0" rtlCol="0" anchor="t"/>
          <a:lstStyle/>
          <a:p>
            <a:pPr algn="ctr" indent="0" marL="0">
              <a:buNone/>
            </a:pPr>
            <a:r>
              <a:rPr lang="en-US" sz="850" spc="40" kern="0" dirty="0">
                <a:solidFill>
                  <a:srgbClr val="6E7285"/>
                </a:solidFill>
                <a:latin typeface="Consolas" pitchFamily="34" charset="0"/>
                <a:ea typeface="Consolas" pitchFamily="34" charset="-122"/>
                <a:cs typeface="Consolas" pitchFamily="34" charset="-120"/>
              </a:rPr>
              <a:t>ANCHOR DROP</a:t>
            </a:r>
            <a:endParaRPr lang="en-US" sz="850" dirty="0"/>
          </a:p>
        </p:txBody>
      </p:sp>
      <p:sp>
        <p:nvSpPr>
          <p:cNvPr id="14" name="Text 12"/>
          <p:cNvSpPr/>
          <p:nvPr/>
        </p:nvSpPr>
        <p:spPr>
          <a:xfrm>
            <a:off x="9793986" y="1371600"/>
            <a:ext cx="1849069" cy="475488"/>
          </a:xfrm>
          <a:prstGeom prst="rect">
            <a:avLst/>
          </a:prstGeom>
          <a:noFill/>
          <a:ln/>
        </p:spPr>
        <p:txBody>
          <a:bodyPr wrap="square" lIns="0" tIns="0" rIns="0" bIns="0" rtlCol="0" anchor="ctr"/>
          <a:lstStyle/>
          <a:p>
            <a:pPr algn="ctr" indent="0" marL="0">
              <a:buNone/>
            </a:pPr>
            <a:r>
              <a:rPr lang="en-US" sz="2900" b="1" spc="-50" kern="0" dirty="0">
                <a:solidFill>
                  <a:srgbClr val="FF6A3D"/>
                </a:solidFill>
                <a:latin typeface="Arial" pitchFamily="34" charset="0"/>
                <a:ea typeface="Arial" pitchFamily="34" charset="-122"/>
                <a:cs typeface="Arial" pitchFamily="34" charset="-120"/>
              </a:rPr>
              <a:t>8/8</a:t>
            </a:r>
            <a:endParaRPr lang="en-US" sz="2900" dirty="0"/>
          </a:p>
        </p:txBody>
      </p:sp>
      <p:sp>
        <p:nvSpPr>
          <p:cNvPr id="15" name="Text 13"/>
          <p:cNvSpPr/>
          <p:nvPr/>
        </p:nvSpPr>
        <p:spPr>
          <a:xfrm>
            <a:off x="9793986" y="1828800"/>
            <a:ext cx="1849069" cy="384048"/>
          </a:xfrm>
          <a:prstGeom prst="rect">
            <a:avLst/>
          </a:prstGeom>
          <a:noFill/>
          <a:ln/>
        </p:spPr>
        <p:txBody>
          <a:bodyPr wrap="square" lIns="0" tIns="0" rIns="0" bIns="0" rtlCol="0" anchor="t"/>
          <a:lstStyle/>
          <a:p>
            <a:pPr algn="ctr" indent="0" marL="0">
              <a:buNone/>
            </a:pPr>
            <a:r>
              <a:rPr lang="en-US" sz="850" spc="40" kern="0" dirty="0">
                <a:solidFill>
                  <a:srgbClr val="6E7285"/>
                </a:solidFill>
                <a:latin typeface="Consolas" pitchFamily="34" charset="0"/>
                <a:ea typeface="Consolas" pitchFamily="34" charset="-122"/>
                <a:cs typeface="Consolas" pitchFamily="34" charset="-120"/>
              </a:rPr>
              <a:t>PROBLEM STATEMENT</a:t>
            </a:r>
            <a:endParaRPr lang="en-US" sz="850" dirty="0"/>
          </a:p>
        </p:txBody>
      </p:sp>
      <p:graphicFrame>
        <p:nvGraphicFramePr>
          <p:cNvPr id="16" name="Chart 0" descr=""/>
          <p:cNvGraphicFramePr/>
          <p:nvPr/>
        </p:nvGraphicFramePr>
        <p:xfrm>
          <a:off x="548640" y="2377440"/>
          <a:ext cx="5532120" cy="2395728"/>
        </p:xfrm>
        <a:graphic xmlns:a="http://schemas.openxmlformats.org/drawingml/2006/main">
          <a:graphicData uri="http://schemas.openxmlformats.org/drawingml/2006/chart">
            <c:chart xmlns:c="http://schemas.openxmlformats.org/drawingml/2006/chart" r:id="rId1"/>
          </a:graphicData>
        </a:graphic>
      </p:graphicFrame>
      <p:sp>
        <p:nvSpPr>
          <p:cNvPr id="17" name="Text 14"/>
          <p:cNvSpPr/>
          <p:nvPr/>
        </p:nvSpPr>
        <p:spPr>
          <a:xfrm>
            <a:off x="548640" y="4809744"/>
            <a:ext cx="5532120" cy="457200"/>
          </a:xfrm>
          <a:prstGeom prst="rect">
            <a:avLst/>
          </a:prstGeom>
          <a:noFill/>
          <a:ln/>
        </p:spPr>
        <p:txBody>
          <a:bodyPr wrap="square" lIns="0" tIns="0" rIns="0" bIns="0" rtlCol="0" anchor="t"/>
          <a:lstStyle/>
          <a:p>
            <a:pPr indent="0" marL="0">
              <a:lnSpc>
                <a:spcPct val="112000"/>
              </a:lnSpc>
              <a:buNone/>
            </a:pPr>
            <a:r>
              <a:rPr lang="en-US" sz="1000" i="1" dirty="0">
                <a:solidFill>
                  <a:srgbClr val="6E7285"/>
                </a:solidFill>
                <a:latin typeface="Calibri" pitchFamily="34" charset="0"/>
                <a:ea typeface="Calibri" pitchFamily="34" charset="-122"/>
                <a:cs typeface="Calibri" pitchFamily="34" charset="-120"/>
              </a:rPr>
              <a:t>We measured instead of assuming — and the data reversed our own recommendation. 3.5-flash was the safe pick on paper; it was unusable in practice.</a:t>
            </a:r>
            <a:endParaRPr lang="en-US" sz="1000" dirty="0"/>
          </a:p>
        </p:txBody>
      </p:sp>
      <p:sp>
        <p:nvSpPr>
          <p:cNvPr id="18" name="Text 15"/>
          <p:cNvSpPr/>
          <p:nvPr/>
        </p:nvSpPr>
        <p:spPr>
          <a:xfrm>
            <a:off x="6400800" y="2377440"/>
            <a:ext cx="5242255" cy="237744"/>
          </a:xfrm>
          <a:prstGeom prst="rect">
            <a:avLst/>
          </a:prstGeom>
          <a:noFill/>
          <a:ln/>
        </p:spPr>
        <p:txBody>
          <a:bodyPr wrap="square" lIns="0" tIns="0" rIns="0" bIns="0" rtlCol="0" anchor="ctr"/>
          <a:lstStyle/>
          <a:p>
            <a:pPr indent="0" marL="0">
              <a:buNone/>
            </a:pPr>
            <a:r>
              <a:rPr lang="en-US" sz="900" b="1" spc="140" kern="0" dirty="0">
                <a:solidFill>
                  <a:srgbClr val="FF6A3D"/>
                </a:solidFill>
                <a:latin typeface="Consolas" pitchFamily="34" charset="0"/>
                <a:ea typeface="Consolas" pitchFamily="34" charset="-122"/>
                <a:cs typeface="Consolas" pitchFamily="34" charset="-120"/>
              </a:rPr>
              <a:t>EVERY CLAIM, AND WHAT IT MEASURED</a:t>
            </a:r>
            <a:endParaRPr lang="en-US" sz="900" dirty="0"/>
          </a:p>
        </p:txBody>
      </p:sp>
      <p:sp>
        <p:nvSpPr>
          <p:cNvPr id="19" name="Text 16"/>
          <p:cNvSpPr/>
          <p:nvPr/>
        </p:nvSpPr>
        <p:spPr>
          <a:xfrm>
            <a:off x="6400800" y="2688336"/>
            <a:ext cx="3870655" cy="274320"/>
          </a:xfrm>
          <a:prstGeom prst="rect">
            <a:avLst/>
          </a:prstGeom>
          <a:noFill/>
          <a:ln/>
        </p:spPr>
        <p:txBody>
          <a:bodyPr wrap="square" lIns="0" tIns="0" rIns="0" bIns="0" rtlCol="0" anchor="ctr"/>
          <a:lstStyle/>
          <a:p>
            <a:pPr indent="0" marL="0">
              <a:buNone/>
            </a:pPr>
            <a:r>
              <a:rPr lang="en-US" sz="1050" dirty="0">
                <a:solidFill>
                  <a:srgbClr val="3A3D4D"/>
                </a:solidFill>
                <a:latin typeface="Calibri" pitchFamily="34" charset="0"/>
                <a:ea typeface="Calibri" pitchFamily="34" charset="-122"/>
                <a:cs typeface="Calibri" pitchFamily="34" charset="-120"/>
              </a:rPr>
              <a:t>Turn-boundary latency, deployed</a:t>
            </a:r>
            <a:endParaRPr lang="en-US" sz="1050" dirty="0"/>
          </a:p>
        </p:txBody>
      </p:sp>
      <p:sp>
        <p:nvSpPr>
          <p:cNvPr id="20" name="Text 17"/>
          <p:cNvSpPr/>
          <p:nvPr/>
        </p:nvSpPr>
        <p:spPr>
          <a:xfrm>
            <a:off x="10271455" y="2688336"/>
            <a:ext cx="1371600" cy="274320"/>
          </a:xfrm>
          <a:prstGeom prst="rect">
            <a:avLst/>
          </a:prstGeom>
          <a:noFill/>
          <a:ln/>
        </p:spPr>
        <p:txBody>
          <a:bodyPr wrap="square" lIns="0" tIns="0" rIns="0" bIns="0" rtlCol="0" anchor="ctr"/>
          <a:lstStyle/>
          <a:p>
            <a:pPr algn="r" indent="0" marL="0">
              <a:buNone/>
            </a:pPr>
            <a:r>
              <a:rPr lang="en-US" sz="1050" b="1" dirty="0">
                <a:solidFill>
                  <a:srgbClr val="B45309"/>
                </a:solidFill>
                <a:latin typeface="Consolas" pitchFamily="34" charset="0"/>
                <a:ea typeface="Consolas" pitchFamily="34" charset="-122"/>
                <a:cs typeface="Consolas" pitchFamily="34" charset="-120"/>
              </a:rPr>
              <a:t>966 ms</a:t>
            </a:r>
            <a:endParaRPr lang="en-US" sz="1050" dirty="0"/>
          </a:p>
        </p:txBody>
      </p:sp>
      <p:sp>
        <p:nvSpPr>
          <p:cNvPr id="21" name="Text 18"/>
          <p:cNvSpPr/>
          <p:nvPr/>
        </p:nvSpPr>
        <p:spPr>
          <a:xfrm>
            <a:off x="6400800" y="2999232"/>
            <a:ext cx="3870655" cy="274320"/>
          </a:xfrm>
          <a:prstGeom prst="rect">
            <a:avLst/>
          </a:prstGeom>
          <a:noFill/>
          <a:ln/>
        </p:spPr>
        <p:txBody>
          <a:bodyPr wrap="square" lIns="0" tIns="0" rIns="0" bIns="0" rtlCol="0" anchor="ctr"/>
          <a:lstStyle/>
          <a:p>
            <a:pPr indent="0" marL="0">
              <a:buNone/>
            </a:pPr>
            <a:r>
              <a:rPr lang="en-US" sz="1050" dirty="0">
                <a:solidFill>
                  <a:srgbClr val="3A3D4D"/>
                </a:solidFill>
                <a:latin typeface="Calibri" pitchFamily="34" charset="0"/>
                <a:ea typeface="Calibri" pitchFamily="34" charset="-122"/>
                <a:cs typeface="Calibri" pitchFamily="34" charset="-120"/>
              </a:rPr>
              <a:t>Evaluation, median</a:t>
            </a:r>
            <a:endParaRPr lang="en-US" sz="1050" dirty="0"/>
          </a:p>
        </p:txBody>
      </p:sp>
      <p:sp>
        <p:nvSpPr>
          <p:cNvPr id="22" name="Text 19"/>
          <p:cNvSpPr/>
          <p:nvPr/>
        </p:nvSpPr>
        <p:spPr>
          <a:xfrm>
            <a:off x="10271455" y="2999232"/>
            <a:ext cx="1371600" cy="274320"/>
          </a:xfrm>
          <a:prstGeom prst="rect">
            <a:avLst/>
          </a:prstGeom>
          <a:noFill/>
          <a:ln/>
        </p:spPr>
        <p:txBody>
          <a:bodyPr wrap="square" lIns="0" tIns="0" rIns="0" bIns="0" rtlCol="0" anchor="ctr"/>
          <a:lstStyle/>
          <a:p>
            <a:pPr algn="r" indent="0" marL="0">
              <a:buNone/>
            </a:pPr>
            <a:r>
              <a:rPr lang="en-US" sz="1050" b="1" dirty="0">
                <a:solidFill>
                  <a:srgbClr val="B45309"/>
                </a:solidFill>
                <a:latin typeface="Consolas" pitchFamily="34" charset="0"/>
                <a:ea typeface="Consolas" pitchFamily="34" charset="-122"/>
                <a:cs typeface="Consolas" pitchFamily="34" charset="-120"/>
              </a:rPr>
              <a:t>5.4 s</a:t>
            </a:r>
            <a:endParaRPr lang="en-US" sz="1050" dirty="0"/>
          </a:p>
        </p:txBody>
      </p:sp>
      <p:sp>
        <p:nvSpPr>
          <p:cNvPr id="23" name="Text 20"/>
          <p:cNvSpPr/>
          <p:nvPr/>
        </p:nvSpPr>
        <p:spPr>
          <a:xfrm>
            <a:off x="6400800" y="3310128"/>
            <a:ext cx="3870655" cy="274320"/>
          </a:xfrm>
          <a:prstGeom prst="rect">
            <a:avLst/>
          </a:prstGeom>
          <a:noFill/>
          <a:ln/>
        </p:spPr>
        <p:txBody>
          <a:bodyPr wrap="square" lIns="0" tIns="0" rIns="0" bIns="0" rtlCol="0" anchor="ctr"/>
          <a:lstStyle/>
          <a:p>
            <a:pPr indent="0" marL="0">
              <a:buNone/>
            </a:pPr>
            <a:r>
              <a:rPr lang="en-US" sz="1050" dirty="0">
                <a:solidFill>
                  <a:srgbClr val="3A3D4D"/>
                </a:solidFill>
                <a:latin typeface="Calibri" pitchFamily="34" charset="0"/>
                <a:ea typeface="Calibri" pitchFamily="34" charset="-122"/>
                <a:cs typeface="Calibri" pitchFamily="34" charset="-120"/>
              </a:rPr>
              <a:t>Roadmap links resolving</a:t>
            </a:r>
            <a:endParaRPr lang="en-US" sz="1050" dirty="0"/>
          </a:p>
        </p:txBody>
      </p:sp>
      <p:sp>
        <p:nvSpPr>
          <p:cNvPr id="24" name="Text 21"/>
          <p:cNvSpPr/>
          <p:nvPr/>
        </p:nvSpPr>
        <p:spPr>
          <a:xfrm>
            <a:off x="10271455" y="3310128"/>
            <a:ext cx="1371600" cy="274320"/>
          </a:xfrm>
          <a:prstGeom prst="rect">
            <a:avLst/>
          </a:prstGeom>
          <a:noFill/>
          <a:ln/>
        </p:spPr>
        <p:txBody>
          <a:bodyPr wrap="square" lIns="0" tIns="0" rIns="0" bIns="0" rtlCol="0" anchor="ctr"/>
          <a:lstStyle/>
          <a:p>
            <a:pPr algn="r" indent="0" marL="0">
              <a:buNone/>
            </a:pPr>
            <a:r>
              <a:rPr lang="en-US" sz="1050" b="1" dirty="0">
                <a:solidFill>
                  <a:srgbClr val="B45309"/>
                </a:solidFill>
                <a:latin typeface="Consolas" pitchFamily="34" charset="0"/>
                <a:ea typeface="Consolas" pitchFamily="34" charset="-122"/>
                <a:cs typeface="Consolas" pitchFamily="34" charset="-120"/>
              </a:rPr>
              <a:t>7/7 HTTP 200</a:t>
            </a:r>
            <a:endParaRPr lang="en-US" sz="1050" dirty="0"/>
          </a:p>
        </p:txBody>
      </p:sp>
      <p:sp>
        <p:nvSpPr>
          <p:cNvPr id="25" name="Text 22"/>
          <p:cNvSpPr/>
          <p:nvPr/>
        </p:nvSpPr>
        <p:spPr>
          <a:xfrm>
            <a:off x="6400800" y="3621024"/>
            <a:ext cx="3870655" cy="274320"/>
          </a:xfrm>
          <a:prstGeom prst="rect">
            <a:avLst/>
          </a:prstGeom>
          <a:noFill/>
          <a:ln/>
        </p:spPr>
        <p:txBody>
          <a:bodyPr wrap="square" lIns="0" tIns="0" rIns="0" bIns="0" rtlCol="0" anchor="ctr"/>
          <a:lstStyle/>
          <a:p>
            <a:pPr indent="0" marL="0">
              <a:buNone/>
            </a:pPr>
            <a:r>
              <a:rPr lang="en-US" sz="1050" dirty="0">
                <a:solidFill>
                  <a:srgbClr val="3A3D4D"/>
                </a:solidFill>
                <a:latin typeface="Calibri" pitchFamily="34" charset="0"/>
                <a:ea typeface="Calibri" pitchFamily="34" charset="-122"/>
                <a:cs typeface="Calibri" pitchFamily="34" charset="-120"/>
              </a:rPr>
              <a:t>Load: 10 sessions, gaps / errors / drops</a:t>
            </a:r>
            <a:endParaRPr lang="en-US" sz="1050" dirty="0"/>
          </a:p>
        </p:txBody>
      </p:sp>
      <p:sp>
        <p:nvSpPr>
          <p:cNvPr id="26" name="Text 23"/>
          <p:cNvSpPr/>
          <p:nvPr/>
        </p:nvSpPr>
        <p:spPr>
          <a:xfrm>
            <a:off x="10271455" y="3621024"/>
            <a:ext cx="1371600" cy="274320"/>
          </a:xfrm>
          <a:prstGeom prst="rect">
            <a:avLst/>
          </a:prstGeom>
          <a:noFill/>
          <a:ln/>
        </p:spPr>
        <p:txBody>
          <a:bodyPr wrap="square" lIns="0" tIns="0" rIns="0" bIns="0" rtlCol="0" anchor="ctr"/>
          <a:lstStyle/>
          <a:p>
            <a:pPr algn="r" indent="0" marL="0">
              <a:buNone/>
            </a:pPr>
            <a:r>
              <a:rPr lang="en-US" sz="1050" b="1" dirty="0">
                <a:solidFill>
                  <a:srgbClr val="B45309"/>
                </a:solidFill>
                <a:latin typeface="Consolas" pitchFamily="34" charset="0"/>
                <a:ea typeface="Consolas" pitchFamily="34" charset="-122"/>
                <a:cs typeface="Consolas" pitchFamily="34" charset="-120"/>
              </a:rPr>
              <a:t>0 / 0 / 0</a:t>
            </a:r>
            <a:endParaRPr lang="en-US" sz="1050" dirty="0"/>
          </a:p>
        </p:txBody>
      </p:sp>
      <p:sp>
        <p:nvSpPr>
          <p:cNvPr id="27" name="Text 24"/>
          <p:cNvSpPr/>
          <p:nvPr/>
        </p:nvSpPr>
        <p:spPr>
          <a:xfrm>
            <a:off x="6400800" y="3931920"/>
            <a:ext cx="3870655" cy="274320"/>
          </a:xfrm>
          <a:prstGeom prst="rect">
            <a:avLst/>
          </a:prstGeom>
          <a:noFill/>
          <a:ln/>
        </p:spPr>
        <p:txBody>
          <a:bodyPr wrap="square" lIns="0" tIns="0" rIns="0" bIns="0" rtlCol="0" anchor="ctr"/>
          <a:lstStyle/>
          <a:p>
            <a:pPr indent="0" marL="0">
              <a:buNone/>
            </a:pPr>
            <a:r>
              <a:rPr lang="en-US" sz="1050" dirty="0">
                <a:solidFill>
                  <a:srgbClr val="3A3D4D"/>
                </a:solidFill>
                <a:latin typeface="Calibri" pitchFamily="34" charset="0"/>
                <a:ea typeface="Calibri" pitchFamily="34" charset="-122"/>
                <a:cs typeface="Calibri" pitchFamily="34" charset="-120"/>
              </a:rPr>
              <a:t>Coach state leaked aloud, 5 phases</a:t>
            </a:r>
            <a:endParaRPr lang="en-US" sz="1050" dirty="0"/>
          </a:p>
        </p:txBody>
      </p:sp>
      <p:sp>
        <p:nvSpPr>
          <p:cNvPr id="28" name="Text 25"/>
          <p:cNvSpPr/>
          <p:nvPr/>
        </p:nvSpPr>
        <p:spPr>
          <a:xfrm>
            <a:off x="10271455" y="3931920"/>
            <a:ext cx="1371600" cy="274320"/>
          </a:xfrm>
          <a:prstGeom prst="rect">
            <a:avLst/>
          </a:prstGeom>
          <a:noFill/>
          <a:ln/>
        </p:spPr>
        <p:txBody>
          <a:bodyPr wrap="square" lIns="0" tIns="0" rIns="0" bIns="0" rtlCol="0" anchor="ctr"/>
          <a:lstStyle/>
          <a:p>
            <a:pPr algn="r" indent="0" marL="0">
              <a:buNone/>
            </a:pPr>
            <a:r>
              <a:rPr lang="en-US" sz="1050" b="1" dirty="0">
                <a:solidFill>
                  <a:srgbClr val="B45309"/>
                </a:solidFill>
                <a:latin typeface="Consolas" pitchFamily="34" charset="0"/>
                <a:ea typeface="Consolas" pitchFamily="34" charset="-122"/>
                <a:cs typeface="Consolas" pitchFamily="34" charset="-120"/>
              </a:rPr>
              <a:t>0</a:t>
            </a:r>
            <a:endParaRPr lang="en-US" sz="1050" dirty="0"/>
          </a:p>
        </p:txBody>
      </p:sp>
      <p:sp>
        <p:nvSpPr>
          <p:cNvPr id="29" name="Text 26"/>
          <p:cNvSpPr/>
          <p:nvPr/>
        </p:nvSpPr>
        <p:spPr>
          <a:xfrm>
            <a:off x="6400800" y="4242816"/>
            <a:ext cx="3870655" cy="274320"/>
          </a:xfrm>
          <a:prstGeom prst="rect">
            <a:avLst/>
          </a:prstGeom>
          <a:noFill/>
          <a:ln/>
        </p:spPr>
        <p:txBody>
          <a:bodyPr wrap="square" lIns="0" tIns="0" rIns="0" bIns="0" rtlCol="0" anchor="ctr"/>
          <a:lstStyle/>
          <a:p>
            <a:pPr indent="0" marL="0">
              <a:buNone/>
            </a:pPr>
            <a:r>
              <a:rPr lang="en-US" sz="1050" dirty="0">
                <a:solidFill>
                  <a:srgbClr val="3A3D4D"/>
                </a:solidFill>
                <a:latin typeface="Calibri" pitchFamily="34" charset="0"/>
                <a:ea typeface="Calibri" pitchFamily="34" charset="-122"/>
                <a:cs typeface="Calibri" pitchFamily="34" charset="-120"/>
              </a:rPr>
              <a:t>Ghost Session — 27 s interview</a:t>
            </a:r>
            <a:endParaRPr lang="en-US" sz="1050" dirty="0"/>
          </a:p>
        </p:txBody>
      </p:sp>
      <p:sp>
        <p:nvSpPr>
          <p:cNvPr id="30" name="Text 27"/>
          <p:cNvSpPr/>
          <p:nvPr/>
        </p:nvSpPr>
        <p:spPr>
          <a:xfrm>
            <a:off x="10271455" y="4242816"/>
            <a:ext cx="1371600" cy="274320"/>
          </a:xfrm>
          <a:prstGeom prst="rect">
            <a:avLst/>
          </a:prstGeom>
          <a:noFill/>
          <a:ln/>
        </p:spPr>
        <p:txBody>
          <a:bodyPr wrap="square" lIns="0" tIns="0" rIns="0" bIns="0" rtlCol="0" anchor="ctr"/>
          <a:lstStyle/>
          <a:p>
            <a:pPr algn="r" indent="0" marL="0">
              <a:buNone/>
            </a:pPr>
            <a:r>
              <a:rPr lang="en-US" sz="1050" b="1" dirty="0">
                <a:solidFill>
                  <a:srgbClr val="B45309"/>
                </a:solidFill>
                <a:latin typeface="Consolas" pitchFamily="34" charset="0"/>
                <a:ea typeface="Consolas" pitchFamily="34" charset="-122"/>
                <a:cs typeface="Consolas" pitchFamily="34" charset="-120"/>
              </a:rPr>
              <a:t>0 tokens</a:t>
            </a:r>
            <a:endParaRPr lang="en-US" sz="1050" dirty="0"/>
          </a:p>
        </p:txBody>
      </p:sp>
      <p:sp>
        <p:nvSpPr>
          <p:cNvPr id="31" name="Text 28"/>
          <p:cNvSpPr/>
          <p:nvPr/>
        </p:nvSpPr>
        <p:spPr>
          <a:xfrm>
            <a:off x="6400800" y="4553712"/>
            <a:ext cx="3870655" cy="274320"/>
          </a:xfrm>
          <a:prstGeom prst="rect">
            <a:avLst/>
          </a:prstGeom>
          <a:noFill/>
          <a:ln/>
        </p:spPr>
        <p:txBody>
          <a:bodyPr wrap="square" lIns="0" tIns="0" rIns="0" bIns="0" rtlCol="0" anchor="ctr"/>
          <a:lstStyle/>
          <a:p>
            <a:pPr indent="0" marL="0">
              <a:buNone/>
            </a:pPr>
            <a:r>
              <a:rPr lang="en-US" sz="1050" dirty="0">
                <a:solidFill>
                  <a:srgbClr val="3A3D4D"/>
                </a:solidFill>
                <a:latin typeface="Calibri" pitchFamily="34" charset="0"/>
                <a:ea typeface="Calibri" pitchFamily="34" charset="-122"/>
                <a:cs typeface="Calibri" pitchFamily="34" charset="-120"/>
              </a:rPr>
              <a:t>Go source, excluding tests</a:t>
            </a:r>
            <a:endParaRPr lang="en-US" sz="1050" dirty="0"/>
          </a:p>
        </p:txBody>
      </p:sp>
      <p:sp>
        <p:nvSpPr>
          <p:cNvPr id="32" name="Text 29"/>
          <p:cNvSpPr/>
          <p:nvPr/>
        </p:nvSpPr>
        <p:spPr>
          <a:xfrm>
            <a:off x="10271455" y="4553712"/>
            <a:ext cx="1371600" cy="274320"/>
          </a:xfrm>
          <a:prstGeom prst="rect">
            <a:avLst/>
          </a:prstGeom>
          <a:noFill/>
          <a:ln/>
        </p:spPr>
        <p:txBody>
          <a:bodyPr wrap="square" lIns="0" tIns="0" rIns="0" bIns="0" rtlCol="0" anchor="ctr"/>
          <a:lstStyle/>
          <a:p>
            <a:pPr algn="r" indent="0" marL="0">
              <a:buNone/>
            </a:pPr>
            <a:r>
              <a:rPr lang="en-US" sz="1050" b="1" dirty="0">
                <a:solidFill>
                  <a:srgbClr val="B45309"/>
                </a:solidFill>
                <a:latin typeface="Consolas" pitchFamily="34" charset="0"/>
                <a:ea typeface="Consolas" pitchFamily="34" charset="-122"/>
                <a:cs typeface="Consolas" pitchFamily="34" charset="-120"/>
              </a:rPr>
              <a:t>11,912 lines</a:t>
            </a:r>
            <a:endParaRPr lang="en-US" sz="1050" dirty="0"/>
          </a:p>
        </p:txBody>
      </p:sp>
      <p:sp>
        <p:nvSpPr>
          <p:cNvPr id="33" name="Text 30"/>
          <p:cNvSpPr/>
          <p:nvPr/>
        </p:nvSpPr>
        <p:spPr>
          <a:xfrm>
            <a:off x="548640" y="5358384"/>
            <a:ext cx="11094415" cy="256032"/>
          </a:xfrm>
          <a:prstGeom prst="rect">
            <a:avLst/>
          </a:prstGeom>
          <a:noFill/>
          <a:ln/>
        </p:spPr>
        <p:txBody>
          <a:bodyPr wrap="square" lIns="0" tIns="0" rIns="0" bIns="0" rtlCol="0" anchor="ctr"/>
          <a:lstStyle/>
          <a:p>
            <a:pPr indent="0" marL="0">
              <a:buNone/>
            </a:pPr>
            <a:r>
              <a:rPr lang="en-US" sz="850" b="1" spc="120" kern="0" dirty="0">
                <a:solidFill>
                  <a:srgbClr val="FF6A3D"/>
                </a:solidFill>
                <a:latin typeface="Consolas" pitchFamily="34" charset="0"/>
                <a:ea typeface="Consolas" pitchFamily="34" charset="-122"/>
                <a:cs typeface="Consolas" pitchFamily="34" charset="-120"/>
              </a:rPr>
              <a:t>PER-SESSION LEDGER   </a:t>
            </a:r>
            <a:pPr indent="0" marL="0">
              <a:buNone/>
            </a:pPr>
            <a:r>
              <a:rPr lang="en-US" sz="950" dirty="0">
                <a:solidFill>
                  <a:srgbClr val="3A3D4D"/>
                </a:solidFill>
                <a:latin typeface="Consolas" pitchFamily="34" charset="0"/>
                <a:ea typeface="Consolas" pitchFamily="34" charset="-122"/>
                <a:cs typeface="Consolas" pitchFamily="34" charset="-120"/>
              </a:rPr>
              <a:t>total=378 · audio_in=127 · audio_out=163</a:t>
            </a:r>
            <a:pPr indent="0" marL="0">
              <a:buNone/>
            </a:pPr>
            <a:r>
              <a:rPr lang="en-US" sz="950" dirty="0">
                <a:solidFill>
                  <a:srgbClr val="6E7285"/>
                </a:solidFill>
                <a:latin typeface="Consolas" pitchFamily="34" charset="0"/>
                <a:ea typeface="Consolas" pitchFamily="34" charset="-122"/>
                <a:cs typeface="Consolas" pitchFamily="34" charset="-120"/>
              </a:rPr>
              <a:t>   —  metered per session, so unit economics are a number we can quote, not a guess.</a:t>
            </a:r>
            <a:endParaRPr lang="en-US" sz="850" dirty="0"/>
          </a:p>
        </p:txBody>
      </p:sp>
      <p:sp>
        <p:nvSpPr>
          <p:cNvPr id="34" name="Shape 31"/>
          <p:cNvSpPr/>
          <p:nvPr/>
        </p:nvSpPr>
        <p:spPr>
          <a:xfrm>
            <a:off x="548640" y="5687568"/>
            <a:ext cx="2627300" cy="384048"/>
          </a:xfrm>
          <a:prstGeom prst="roundRect">
            <a:avLst>
              <a:gd name="adj" fmla="val 50000"/>
            </a:avLst>
          </a:prstGeom>
          <a:solidFill>
            <a:srgbClr val="FAF9F8"/>
          </a:solidFill>
          <a:ln w="12700">
            <a:solidFill>
              <a:srgbClr val="D8D4CE"/>
            </a:solidFill>
            <a:prstDash val="solid"/>
          </a:ln>
        </p:spPr>
      </p:sp>
      <p:sp>
        <p:nvSpPr>
          <p:cNvPr id="35" name="Text 32"/>
          <p:cNvSpPr/>
          <p:nvPr/>
        </p:nvSpPr>
        <p:spPr>
          <a:xfrm>
            <a:off x="640080" y="5687568"/>
            <a:ext cx="2444420" cy="384048"/>
          </a:xfrm>
          <a:prstGeom prst="rect">
            <a:avLst/>
          </a:prstGeom>
          <a:noFill/>
          <a:ln/>
        </p:spPr>
        <p:txBody>
          <a:bodyPr wrap="square" lIns="0" tIns="0" rIns="0" bIns="0" rtlCol="0" anchor="ctr"/>
          <a:lstStyle/>
          <a:p>
            <a:pPr algn="ctr" indent="0" marL="0">
              <a:buNone/>
            </a:pPr>
            <a:r>
              <a:rPr lang="en-US" sz="950" dirty="0">
                <a:solidFill>
                  <a:srgbClr val="3A3D4D"/>
                </a:solidFill>
                <a:latin typeface="Calibri" pitchFamily="34" charset="0"/>
                <a:ea typeface="Calibri" pitchFamily="34" charset="-122"/>
                <a:cs typeface="Calibri" pitchFamily="34" charset="-120"/>
              </a:rPr>
              <a:t>Reconnect via session resumption</a:t>
            </a:r>
            <a:endParaRPr lang="en-US" sz="950" dirty="0"/>
          </a:p>
        </p:txBody>
      </p:sp>
      <p:sp>
        <p:nvSpPr>
          <p:cNvPr id="36" name="Shape 33"/>
          <p:cNvSpPr/>
          <p:nvPr/>
        </p:nvSpPr>
        <p:spPr>
          <a:xfrm>
            <a:off x="3322244" y="5687568"/>
            <a:ext cx="2627300" cy="384048"/>
          </a:xfrm>
          <a:prstGeom prst="roundRect">
            <a:avLst>
              <a:gd name="adj" fmla="val 50000"/>
            </a:avLst>
          </a:prstGeom>
          <a:solidFill>
            <a:srgbClr val="FAF9F8"/>
          </a:solidFill>
          <a:ln w="12700">
            <a:solidFill>
              <a:srgbClr val="D8D4CE"/>
            </a:solidFill>
            <a:prstDash val="solid"/>
          </a:ln>
        </p:spPr>
      </p:sp>
      <p:sp>
        <p:nvSpPr>
          <p:cNvPr id="37" name="Text 34"/>
          <p:cNvSpPr/>
          <p:nvPr/>
        </p:nvSpPr>
        <p:spPr>
          <a:xfrm>
            <a:off x="3413684" y="5687568"/>
            <a:ext cx="2444420" cy="384048"/>
          </a:xfrm>
          <a:prstGeom prst="rect">
            <a:avLst/>
          </a:prstGeom>
          <a:noFill/>
          <a:ln/>
        </p:spPr>
        <p:txBody>
          <a:bodyPr wrap="square" lIns="0" tIns="0" rIns="0" bIns="0" rtlCol="0" anchor="ctr"/>
          <a:lstStyle/>
          <a:p>
            <a:pPr algn="ctr" indent="0" marL="0">
              <a:buNone/>
            </a:pPr>
            <a:r>
              <a:rPr lang="en-US" sz="950" dirty="0">
                <a:solidFill>
                  <a:srgbClr val="3A3D4D"/>
                </a:solidFill>
                <a:latin typeface="Calibri" pitchFamily="34" charset="0"/>
                <a:ea typeface="Calibri" pitchFamily="34" charset="-122"/>
                <a:cs typeface="Calibri" pitchFamily="34" charset="-120"/>
              </a:rPr>
              <a:t>Vertex-level concurrency testing</a:t>
            </a:r>
            <a:endParaRPr lang="en-US" sz="950" dirty="0"/>
          </a:p>
        </p:txBody>
      </p:sp>
      <p:sp>
        <p:nvSpPr>
          <p:cNvPr id="38" name="Shape 35"/>
          <p:cNvSpPr/>
          <p:nvPr/>
        </p:nvSpPr>
        <p:spPr>
          <a:xfrm>
            <a:off x="6095848" y="5687568"/>
            <a:ext cx="2627300" cy="384048"/>
          </a:xfrm>
          <a:prstGeom prst="roundRect">
            <a:avLst>
              <a:gd name="adj" fmla="val 50000"/>
            </a:avLst>
          </a:prstGeom>
          <a:solidFill>
            <a:srgbClr val="FAF9F8"/>
          </a:solidFill>
          <a:ln w="12700">
            <a:solidFill>
              <a:srgbClr val="D8D4CE"/>
            </a:solidFill>
            <a:prstDash val="solid"/>
          </a:ln>
        </p:spPr>
      </p:sp>
      <p:sp>
        <p:nvSpPr>
          <p:cNvPr id="39" name="Text 36"/>
          <p:cNvSpPr/>
          <p:nvPr/>
        </p:nvSpPr>
        <p:spPr>
          <a:xfrm>
            <a:off x="6187288" y="5687568"/>
            <a:ext cx="2444420" cy="384048"/>
          </a:xfrm>
          <a:prstGeom prst="rect">
            <a:avLst/>
          </a:prstGeom>
          <a:noFill/>
          <a:ln/>
        </p:spPr>
        <p:txBody>
          <a:bodyPr wrap="square" lIns="0" tIns="0" rIns="0" bIns="0" rtlCol="0" anchor="ctr"/>
          <a:lstStyle/>
          <a:p>
            <a:pPr algn="ctr" indent="0" marL="0">
              <a:buNone/>
            </a:pPr>
            <a:r>
              <a:rPr lang="en-US" sz="950" dirty="0">
                <a:solidFill>
                  <a:srgbClr val="3A3D4D"/>
                </a:solidFill>
                <a:latin typeface="Calibri" pitchFamily="34" charset="0"/>
                <a:ea typeface="Calibri" pitchFamily="34" charset="-122"/>
                <a:cs typeface="Calibri" pitchFamily="34" charset="-120"/>
              </a:rPr>
              <a:t>Study DAG → roadmap ordering</a:t>
            </a:r>
            <a:endParaRPr lang="en-US" sz="950" dirty="0"/>
          </a:p>
        </p:txBody>
      </p:sp>
      <p:sp>
        <p:nvSpPr>
          <p:cNvPr id="40" name="Shape 37"/>
          <p:cNvSpPr/>
          <p:nvPr/>
        </p:nvSpPr>
        <p:spPr>
          <a:xfrm>
            <a:off x="8869451" y="5687568"/>
            <a:ext cx="2627300" cy="384048"/>
          </a:xfrm>
          <a:prstGeom prst="roundRect">
            <a:avLst>
              <a:gd name="adj" fmla="val 50000"/>
            </a:avLst>
          </a:prstGeom>
          <a:solidFill>
            <a:srgbClr val="FAF9F8"/>
          </a:solidFill>
          <a:ln w="12700">
            <a:solidFill>
              <a:srgbClr val="D8D4CE"/>
            </a:solidFill>
            <a:prstDash val="solid"/>
          </a:ln>
        </p:spPr>
      </p:sp>
      <p:sp>
        <p:nvSpPr>
          <p:cNvPr id="41" name="Text 38"/>
          <p:cNvSpPr/>
          <p:nvPr/>
        </p:nvSpPr>
        <p:spPr>
          <a:xfrm>
            <a:off x="8960891" y="5687568"/>
            <a:ext cx="2444420" cy="384048"/>
          </a:xfrm>
          <a:prstGeom prst="rect">
            <a:avLst/>
          </a:prstGeom>
          <a:noFill/>
          <a:ln/>
        </p:spPr>
        <p:txBody>
          <a:bodyPr wrap="square" lIns="0" tIns="0" rIns="0" bIns="0" rtlCol="0" anchor="ctr"/>
          <a:lstStyle/>
          <a:p>
            <a:pPr algn="ctr" indent="0" marL="0">
              <a:buNone/>
            </a:pPr>
            <a:r>
              <a:rPr lang="en-US" sz="950" dirty="0">
                <a:solidFill>
                  <a:srgbClr val="3A3D4D"/>
                </a:solidFill>
                <a:latin typeface="Calibri" pitchFamily="34" charset="0"/>
                <a:ea typeface="Calibri" pitchFamily="34" charset="-122"/>
                <a:cs typeface="Calibri" pitchFamily="34" charset="-120"/>
              </a:rPr>
              <a:t>Regional languages</a:t>
            </a:r>
            <a:endParaRPr lang="en-US" sz="950" dirty="0"/>
          </a:p>
        </p:txBody>
      </p:sp>
      <p:sp>
        <p:nvSpPr>
          <p:cNvPr id="42" name="Text 39"/>
          <p:cNvSpPr/>
          <p:nvPr/>
        </p:nvSpPr>
        <p:spPr>
          <a:xfrm>
            <a:off x="548640" y="6272784"/>
            <a:ext cx="6400800" cy="310896"/>
          </a:xfrm>
          <a:prstGeom prst="rect">
            <a:avLst/>
          </a:prstGeom>
          <a:noFill/>
          <a:ln/>
        </p:spPr>
        <p:txBody>
          <a:bodyPr wrap="square" lIns="0" tIns="0" rIns="0" bIns="0" rtlCol="0" anchor="ctr"/>
          <a:lstStyle/>
          <a:p>
            <a:pPr indent="0" marL="0">
              <a:buNone/>
            </a:pPr>
            <a:r>
              <a:rPr lang="en-US" sz="1100" b="1" dirty="0">
                <a:solidFill>
                  <a:srgbClr val="12141C"/>
                </a:solidFill>
                <a:latin typeface="Arial" pitchFamily="34" charset="0"/>
                <a:ea typeface="Arial" pitchFamily="34" charset="-122"/>
                <a:cs typeface="Arial" pitchFamily="34" charset="-120"/>
              </a:rPr>
              <a:t>PULL REQUEST</a:t>
            </a:r>
            <a:pPr indent="0" marL="0">
              <a:buNone/>
            </a:pPr>
            <a:r>
              <a:rPr lang="en-US" sz="1100" dirty="0">
                <a:solidFill>
                  <a:srgbClr val="6E7285"/>
                </a:solidFill>
                <a:latin typeface="Arial" pitchFamily="34" charset="0"/>
                <a:ea typeface="Arial" pitchFamily="34" charset="-122"/>
                <a:cs typeface="Arial" pitchFamily="34" charset="-120"/>
              </a:rPr>
              <a:t>   Santhosh P · Hrithik Sankar R</a:t>
            </a:r>
            <a:endParaRPr lang="en-US" sz="1100" dirty="0"/>
          </a:p>
        </p:txBody>
      </p:sp>
      <p:sp>
        <p:nvSpPr>
          <p:cNvPr id="43" name="Text 40"/>
          <p:cNvSpPr/>
          <p:nvPr/>
        </p:nvSpPr>
        <p:spPr>
          <a:xfrm>
            <a:off x="6949440" y="6272784"/>
            <a:ext cx="4693615" cy="310896"/>
          </a:xfrm>
          <a:prstGeom prst="rect">
            <a:avLst/>
          </a:prstGeom>
          <a:noFill/>
          <a:ln/>
        </p:spPr>
        <p:txBody>
          <a:bodyPr wrap="square" lIns="0" tIns="0" rIns="0" bIns="0" rtlCol="0" anchor="ctr"/>
          <a:lstStyle/>
          <a:p>
            <a:pPr algn="r" indent="0" marL="0">
              <a:buNone/>
            </a:pPr>
            <a:r>
              <a:rPr lang="en-US" sz="950" dirty="0">
                <a:solidFill>
                  <a:srgbClr val="1B7A56"/>
                </a:solidFill>
                <a:latin typeface="Consolas" pitchFamily="34" charset="0"/>
                <a:ea typeface="Consolas" pitchFamily="34" charset="-122"/>
                <a:cs typeface="Consolas" pitchFamily="34" charset="-120"/>
              </a:rPr>
              <a:t>crucible-backend-103350253775.us-central1.run.app</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PULL REQUEST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Crucible — InnovaHack</dc:title>
  <dc:subject>PptxGenJS Presentation</dc:subject>
  <dc:creator>PULL REQUEST</dc:creator>
  <cp:lastModifiedBy>PULL REQUEST</cp:lastModifiedBy>
  <cp:revision>1</cp:revision>
  <dcterms:created xsi:type="dcterms:W3CDTF">2026-07-25T21:34:33Z</dcterms:created>
  <dcterms:modified xsi:type="dcterms:W3CDTF">2026-07-25T21:34:33Z</dcterms:modified>
</cp:coreProperties>
</file>